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4.xml" ContentType="application/vnd.openxmlformats-officedocument.theme+xml"/>
  <Override PartName="/ppt/slideLayouts/slideLayout13.xml" ContentType="application/vnd.openxmlformats-officedocument.presentationml.slideLayout+xml"/>
  <Override PartName="/ppt/theme/theme5.xml" ContentType="application/vnd.openxmlformats-officedocument.theme+xml"/>
  <Override PartName="/ppt/slideLayouts/slideLayout14.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3" r:id="rId1"/>
    <p:sldMasterId id="2147483668" r:id="rId2"/>
    <p:sldMasterId id="2147483674" r:id="rId3"/>
    <p:sldMasterId id="2147483648" r:id="rId4"/>
    <p:sldMasterId id="2147483684" r:id="rId5"/>
    <p:sldMasterId id="2147483697" r:id="rId6"/>
  </p:sldMasterIdLst>
  <p:notesMasterIdLst>
    <p:notesMasterId r:id="rId31"/>
  </p:notesMasterIdLst>
  <p:handoutMasterIdLst>
    <p:handoutMasterId r:id="rId32"/>
  </p:handoutMasterIdLst>
  <p:sldIdLst>
    <p:sldId id="256" r:id="rId7"/>
    <p:sldId id="258" r:id="rId8"/>
    <p:sldId id="274" r:id="rId9"/>
    <p:sldId id="260" r:id="rId10"/>
    <p:sldId id="261" r:id="rId11"/>
    <p:sldId id="275" r:id="rId12"/>
    <p:sldId id="262" r:id="rId13"/>
    <p:sldId id="278" r:id="rId14"/>
    <p:sldId id="281" r:id="rId15"/>
    <p:sldId id="282" r:id="rId16"/>
    <p:sldId id="279" r:id="rId17"/>
    <p:sldId id="280" r:id="rId18"/>
    <p:sldId id="264" r:id="rId19"/>
    <p:sldId id="276" r:id="rId20"/>
    <p:sldId id="277" r:id="rId21"/>
    <p:sldId id="265" r:id="rId22"/>
    <p:sldId id="266" r:id="rId23"/>
    <p:sldId id="267" r:id="rId24"/>
    <p:sldId id="268" r:id="rId25"/>
    <p:sldId id="269" r:id="rId26"/>
    <p:sldId id="270" r:id="rId27"/>
    <p:sldId id="271" r:id="rId28"/>
    <p:sldId id="272" r:id="rId29"/>
    <p:sldId id="273" r:id="rId30"/>
  </p:sldIdLst>
  <p:sldSz cx="9144000" cy="5143500" type="screen16x9"/>
  <p:notesSz cx="9925050" cy="6665913"/>
  <p:defaultTex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620">
          <p15:clr>
            <a:srgbClr val="A4A3A4"/>
          </p15:clr>
        </p15:guide>
      </p15:sldGuideLst>
    </p:ext>
    <p:ext uri="{2D200454-40CA-4A62-9FC3-DE9A4176ACB9}">
      <p15:notesGuideLst xmlns:p15="http://schemas.microsoft.com/office/powerpoint/2012/main">
        <p15:guide id="1" orient="horz" pos="2100">
          <p15:clr>
            <a:srgbClr val="A4A3A4"/>
          </p15:clr>
        </p15:guide>
        <p15:guide id="2" pos="312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9999"/>
    <a:srgbClr val="98C6EA"/>
    <a:srgbClr val="0052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84E427A-3D55-4303-BF80-6455036E1DE7}" styleName="Designformatvorlage 1 - Akz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E269D01E-BC32-4049-B463-5C60D7B0CCD2}" styleName="Designformatvorlage 2 - Akz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D083AE6-46FA-4A59-8FB0-9F97EB10719F}" styleName="Helle Formatvorlage 3 - Akz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Helle Formatvorlage 2 - Akz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8EC20E35-A176-4012-BC5E-935CFFF8708E}" styleName="Mittlere Formatvorlag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C4B1156A-380E-4F78-BDF5-A606A8083BF9}" styleName="Mittlere Formatvorlage 4 - Akz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74C1A8A3-306A-4EB7-A6B1-4F7E0EB9C5D6}" styleName="Mittlere Formatvorlage 3 - Akz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D7AC3CCA-C797-4891-BE02-D94E43425B78}" styleName="Mittlere Formatvorlag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Helle Formatvorlag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98" autoAdjust="0"/>
    <p:restoredTop sz="88272" autoAdjust="0"/>
  </p:normalViewPr>
  <p:slideViewPr>
    <p:cSldViewPr snapToGrid="0">
      <p:cViewPr varScale="1">
        <p:scale>
          <a:sx n="147" d="100"/>
          <a:sy n="147" d="100"/>
        </p:scale>
        <p:origin x="192" y="576"/>
      </p:cViewPr>
      <p:guideLst>
        <p:guide orient="horz" pos="2160"/>
        <p:guide pos="2880"/>
        <p:guide orient="horz" pos="162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0"/>
    </p:cViewPr>
  </p:sorterViewPr>
  <p:notesViewPr>
    <p:cSldViewPr snapToGrid="0">
      <p:cViewPr varScale="1">
        <p:scale>
          <a:sx n="131" d="100"/>
          <a:sy n="131" d="100"/>
        </p:scale>
        <p:origin x="-810" y="-96"/>
      </p:cViewPr>
      <p:guideLst>
        <p:guide orient="horz" pos="2100"/>
        <p:guide pos="3126"/>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slideMaster" Target="slideMasters/slideMaster3.xml"/><Relationship Id="rId21" Type="http://schemas.openxmlformats.org/officeDocument/2006/relationships/slide" Target="slides/slide15.xml"/><Relationship Id="rId34" Type="http://schemas.openxmlformats.org/officeDocument/2006/relationships/viewProps" Target="view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handoutMaster" Target="handoutMasters/handoutMaster1.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theme" Target="theme/theme1.xml"/><Relationship Id="rId8"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0"/>
            <a:ext cx="4300855" cy="333296"/>
          </a:xfrm>
          <a:prstGeom prst="rect">
            <a:avLst/>
          </a:prstGeom>
        </p:spPr>
        <p:txBody>
          <a:bodyPr vert="horz" lIns="90708" tIns="45354" rIns="90708" bIns="45354" rtlCol="0"/>
          <a:lstStyle>
            <a:lvl1pPr algn="l" fontAlgn="auto">
              <a:spcBef>
                <a:spcPts val="0"/>
              </a:spcBef>
              <a:spcAft>
                <a:spcPts val="0"/>
              </a:spcAft>
              <a:defRPr sz="1200">
                <a:latin typeface="Arial" pitchFamily="34" charset="0"/>
                <a:cs typeface="Arial" pitchFamily="34" charset="0"/>
              </a:defRPr>
            </a:lvl1pPr>
          </a:lstStyle>
          <a:p>
            <a:pPr>
              <a:defRPr/>
            </a:pPr>
            <a:endParaRPr lang="en-GB" dirty="0"/>
          </a:p>
        </p:txBody>
      </p:sp>
      <p:sp>
        <p:nvSpPr>
          <p:cNvPr id="3" name="Datumsplatzhalter 2"/>
          <p:cNvSpPr>
            <a:spLocks noGrp="1"/>
          </p:cNvSpPr>
          <p:nvPr>
            <p:ph type="dt" sz="quarter" idx="1"/>
          </p:nvPr>
        </p:nvSpPr>
        <p:spPr>
          <a:xfrm>
            <a:off x="5621901" y="0"/>
            <a:ext cx="4300855" cy="333296"/>
          </a:xfrm>
          <a:prstGeom prst="rect">
            <a:avLst/>
          </a:prstGeom>
        </p:spPr>
        <p:txBody>
          <a:bodyPr vert="horz" lIns="90708" tIns="45354" rIns="90708" bIns="45354" rtlCol="0"/>
          <a:lstStyle>
            <a:lvl1pPr algn="r" fontAlgn="auto">
              <a:spcBef>
                <a:spcPts val="0"/>
              </a:spcBef>
              <a:spcAft>
                <a:spcPts val="0"/>
              </a:spcAft>
              <a:defRPr sz="1200">
                <a:latin typeface="Arial" pitchFamily="34" charset="0"/>
                <a:cs typeface="Arial" pitchFamily="34" charset="0"/>
              </a:defRPr>
            </a:lvl1pPr>
          </a:lstStyle>
          <a:p>
            <a:pPr>
              <a:defRPr/>
            </a:pPr>
            <a:fld id="{20751376-2EB8-4403-B858-305A8AAA6B01}" type="datetimeFigureOut">
              <a:rPr lang="en-GB"/>
              <a:pPr>
                <a:defRPr/>
              </a:pPr>
              <a:t>01/07/2026</a:t>
            </a:fld>
            <a:endParaRPr lang="en-GB" dirty="0"/>
          </a:p>
        </p:txBody>
      </p:sp>
      <p:sp>
        <p:nvSpPr>
          <p:cNvPr id="4" name="Fußzeilenplatzhalter 3"/>
          <p:cNvSpPr>
            <a:spLocks noGrp="1"/>
          </p:cNvSpPr>
          <p:nvPr>
            <p:ph type="ftr" sz="quarter" idx="2"/>
          </p:nvPr>
        </p:nvSpPr>
        <p:spPr>
          <a:xfrm>
            <a:off x="2" y="6331460"/>
            <a:ext cx="4300855" cy="333296"/>
          </a:xfrm>
          <a:prstGeom prst="rect">
            <a:avLst/>
          </a:prstGeom>
        </p:spPr>
        <p:txBody>
          <a:bodyPr vert="horz" lIns="90708" tIns="45354" rIns="90708" bIns="45354" rtlCol="0" anchor="b"/>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5" name="Foliennummernplatzhalter 4"/>
          <p:cNvSpPr>
            <a:spLocks noGrp="1"/>
          </p:cNvSpPr>
          <p:nvPr>
            <p:ph type="sldNum" sz="quarter" idx="3"/>
          </p:nvPr>
        </p:nvSpPr>
        <p:spPr>
          <a:xfrm>
            <a:off x="5621901" y="6331460"/>
            <a:ext cx="4300855" cy="333296"/>
          </a:xfrm>
          <a:prstGeom prst="rect">
            <a:avLst/>
          </a:prstGeom>
        </p:spPr>
        <p:txBody>
          <a:bodyPr vert="horz" lIns="90708" tIns="45354" rIns="90708" bIns="45354" rtlCol="0" anchor="b"/>
          <a:lstStyle>
            <a:lvl1pPr algn="r" fontAlgn="auto">
              <a:spcBef>
                <a:spcPts val="0"/>
              </a:spcBef>
              <a:spcAft>
                <a:spcPts val="0"/>
              </a:spcAft>
              <a:defRPr sz="1200">
                <a:latin typeface="Arial" pitchFamily="34" charset="0"/>
                <a:cs typeface="Arial" pitchFamily="34" charset="0"/>
              </a:defRPr>
            </a:lvl1pPr>
          </a:lstStyle>
          <a:p>
            <a:pPr>
              <a:defRPr/>
            </a:pPr>
            <a:fld id="{62C15F7A-46C6-4AD2-BFEC-842DCCCC19C4}" type="slidenum">
              <a:rPr lang="en-GB"/>
              <a:pPr>
                <a:defRPr/>
              </a:pPr>
              <a:t>‹#›</a:t>
            </a:fld>
            <a:endParaRPr lang="en-GB"/>
          </a:p>
        </p:txBody>
      </p:sp>
    </p:spTree>
    <p:extLst>
      <p:ext uri="{BB962C8B-B14F-4D97-AF65-F5344CB8AC3E}">
        <p14:creationId xmlns:p14="http://schemas.microsoft.com/office/powerpoint/2010/main" val="28290957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0"/>
            <a:ext cx="4300855" cy="333296"/>
          </a:xfrm>
          <a:prstGeom prst="rect">
            <a:avLst/>
          </a:prstGeom>
        </p:spPr>
        <p:txBody>
          <a:bodyPr vert="horz" lIns="90708" tIns="45354" rIns="90708" bIns="45354" rtlCol="0"/>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3" name="Datumsplatzhalter 2"/>
          <p:cNvSpPr>
            <a:spLocks noGrp="1"/>
          </p:cNvSpPr>
          <p:nvPr>
            <p:ph type="dt" idx="1"/>
          </p:nvPr>
        </p:nvSpPr>
        <p:spPr>
          <a:xfrm>
            <a:off x="5621901" y="0"/>
            <a:ext cx="4300855" cy="333296"/>
          </a:xfrm>
          <a:prstGeom prst="rect">
            <a:avLst/>
          </a:prstGeom>
        </p:spPr>
        <p:txBody>
          <a:bodyPr vert="horz" lIns="90708" tIns="45354" rIns="90708" bIns="45354" rtlCol="0"/>
          <a:lstStyle>
            <a:lvl1pPr algn="r" fontAlgn="auto">
              <a:spcBef>
                <a:spcPts val="0"/>
              </a:spcBef>
              <a:spcAft>
                <a:spcPts val="0"/>
              </a:spcAft>
              <a:defRPr sz="1200">
                <a:latin typeface="+mn-lt"/>
                <a:cs typeface="+mn-cs"/>
              </a:defRPr>
            </a:lvl1pPr>
          </a:lstStyle>
          <a:p>
            <a:pPr>
              <a:defRPr/>
            </a:pPr>
            <a:fld id="{89C46BC9-2C9E-4670-A85A-6A588BA2D405}" type="datetimeFigureOut">
              <a:rPr lang="en-GB"/>
              <a:pPr>
                <a:defRPr/>
              </a:pPr>
              <a:t>01/07/2026</a:t>
            </a:fld>
            <a:endParaRPr lang="en-GB"/>
          </a:p>
        </p:txBody>
      </p:sp>
      <p:sp>
        <p:nvSpPr>
          <p:cNvPr id="4" name="Folienbildplatzhalter 3"/>
          <p:cNvSpPr>
            <a:spLocks noGrp="1" noRot="1" noChangeAspect="1"/>
          </p:cNvSpPr>
          <p:nvPr>
            <p:ph type="sldImg" idx="2"/>
          </p:nvPr>
        </p:nvSpPr>
        <p:spPr>
          <a:xfrm>
            <a:off x="2740025" y="500063"/>
            <a:ext cx="4445000" cy="2500312"/>
          </a:xfrm>
          <a:prstGeom prst="rect">
            <a:avLst/>
          </a:prstGeom>
          <a:noFill/>
          <a:ln w="12700">
            <a:solidFill>
              <a:prstClr val="black"/>
            </a:solidFill>
          </a:ln>
        </p:spPr>
        <p:txBody>
          <a:bodyPr vert="horz" lIns="90708" tIns="45354" rIns="90708" bIns="45354" rtlCol="0" anchor="ctr"/>
          <a:lstStyle/>
          <a:p>
            <a:pPr lvl="0"/>
            <a:endParaRPr lang="en-GB" noProof="0"/>
          </a:p>
        </p:txBody>
      </p:sp>
      <p:sp>
        <p:nvSpPr>
          <p:cNvPr id="5" name="Notizenplatzhalter 4"/>
          <p:cNvSpPr>
            <a:spLocks noGrp="1"/>
          </p:cNvSpPr>
          <p:nvPr>
            <p:ph type="body" sz="quarter" idx="3"/>
          </p:nvPr>
        </p:nvSpPr>
        <p:spPr>
          <a:xfrm>
            <a:off x="992506" y="3166309"/>
            <a:ext cx="7940040" cy="2999661"/>
          </a:xfrm>
          <a:prstGeom prst="rect">
            <a:avLst/>
          </a:prstGeom>
        </p:spPr>
        <p:txBody>
          <a:bodyPr vert="horz" wrap="square" lIns="90708" tIns="45354" rIns="90708" bIns="45354" numCol="1" anchor="t" anchorCtr="0" compatLnSpc="1">
            <a:prstTxWarp prst="textNoShape">
              <a:avLst/>
            </a:prstTxWarp>
            <a:normAutofit/>
          </a:body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endParaRPr lang="en-GB" dirty="0"/>
          </a:p>
        </p:txBody>
      </p:sp>
      <p:sp>
        <p:nvSpPr>
          <p:cNvPr id="6" name="Fußzeilenplatzhalter 5"/>
          <p:cNvSpPr>
            <a:spLocks noGrp="1"/>
          </p:cNvSpPr>
          <p:nvPr>
            <p:ph type="ftr" sz="quarter" idx="4"/>
          </p:nvPr>
        </p:nvSpPr>
        <p:spPr>
          <a:xfrm>
            <a:off x="2" y="6331460"/>
            <a:ext cx="4300855" cy="333296"/>
          </a:xfrm>
          <a:prstGeom prst="rect">
            <a:avLst/>
          </a:prstGeom>
        </p:spPr>
        <p:txBody>
          <a:bodyPr vert="horz" lIns="90708" tIns="45354" rIns="90708" bIns="45354" rtlCol="0" anchor="b"/>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7" name="Foliennummernplatzhalter 6"/>
          <p:cNvSpPr>
            <a:spLocks noGrp="1"/>
          </p:cNvSpPr>
          <p:nvPr>
            <p:ph type="sldNum" sz="quarter" idx="5"/>
          </p:nvPr>
        </p:nvSpPr>
        <p:spPr>
          <a:xfrm>
            <a:off x="5621901" y="6331460"/>
            <a:ext cx="4300855" cy="333296"/>
          </a:xfrm>
          <a:prstGeom prst="rect">
            <a:avLst/>
          </a:prstGeom>
        </p:spPr>
        <p:txBody>
          <a:bodyPr vert="horz" lIns="90708" tIns="45354" rIns="90708" bIns="45354" rtlCol="0" anchor="b"/>
          <a:lstStyle>
            <a:lvl1pPr algn="r" fontAlgn="auto">
              <a:spcBef>
                <a:spcPts val="0"/>
              </a:spcBef>
              <a:spcAft>
                <a:spcPts val="0"/>
              </a:spcAft>
              <a:defRPr sz="1200">
                <a:latin typeface="+mn-lt"/>
                <a:cs typeface="+mn-cs"/>
              </a:defRPr>
            </a:lvl1pPr>
          </a:lstStyle>
          <a:p>
            <a:pPr>
              <a:defRPr/>
            </a:pPr>
            <a:fld id="{00AFC6D0-44D5-4EB7-828F-6F464F83D79A}" type="slidenum">
              <a:rPr lang="en-GB"/>
              <a:pPr>
                <a:defRPr/>
              </a:pPr>
              <a:t>‹#›</a:t>
            </a:fld>
            <a:endParaRPr lang="en-GB"/>
          </a:p>
        </p:txBody>
      </p:sp>
    </p:spTree>
    <p:extLst>
      <p:ext uri="{BB962C8B-B14F-4D97-AF65-F5344CB8AC3E}">
        <p14:creationId xmlns:p14="http://schemas.microsoft.com/office/powerpoint/2010/main" val="229799730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itchFamily="34" charset="0"/>
        <a:ea typeface="+mn-ea"/>
        <a:cs typeface="Arial" pitchFamily="34" charset="0"/>
      </a:defRPr>
    </a:lvl1pPr>
    <a:lvl2pPr marL="182563" indent="-182563" algn="l" rtl="0" fontAlgn="base">
      <a:spcBef>
        <a:spcPct val="30000"/>
      </a:spcBef>
      <a:spcAft>
        <a:spcPct val="0"/>
      </a:spcAft>
      <a:buFont typeface="Arial" charset="0"/>
      <a:buChar char="•"/>
      <a:defRPr sz="1200" kern="1200">
        <a:solidFill>
          <a:schemeClr val="tx1"/>
        </a:solidFill>
        <a:latin typeface="+mn-lt"/>
        <a:ea typeface="+mn-ea"/>
        <a:cs typeface="Arial" charset="0"/>
      </a:defRPr>
    </a:lvl2pPr>
    <a:lvl3pPr marL="355600" indent="-173038" algn="l" rtl="0" fontAlgn="base">
      <a:spcBef>
        <a:spcPct val="30000"/>
      </a:spcBef>
      <a:spcAft>
        <a:spcPct val="0"/>
      </a:spcAft>
      <a:buFont typeface="Symbol" pitchFamily="18" charset="2"/>
      <a:buChar char="-"/>
      <a:defRPr sz="1200" kern="1200">
        <a:solidFill>
          <a:schemeClr val="tx1"/>
        </a:solidFill>
        <a:latin typeface="+mn-lt"/>
        <a:ea typeface="+mn-ea"/>
        <a:cs typeface="Arial" charset="0"/>
      </a:defRPr>
    </a:lvl3pPr>
    <a:lvl4pPr marL="538163" indent="-182563" algn="l" rtl="0" fontAlgn="base">
      <a:spcBef>
        <a:spcPct val="30000"/>
      </a:spcBef>
      <a:spcAft>
        <a:spcPct val="0"/>
      </a:spcAft>
      <a:buFont typeface="Courier New" pitchFamily="49" charset="0"/>
      <a:buChar char="o"/>
      <a:defRPr sz="1200" kern="1200">
        <a:solidFill>
          <a:schemeClr val="tx1"/>
        </a:solidFill>
        <a:latin typeface="+mn-lt"/>
        <a:ea typeface="+mn-ea"/>
        <a:cs typeface="Arial" charset="0"/>
      </a:defRPr>
    </a:lvl4pPr>
    <a:lvl5pPr marL="720725" indent="-182563" algn="l" rtl="0" fontAlgn="base">
      <a:spcBef>
        <a:spcPct val="30000"/>
      </a:spcBef>
      <a:spcAft>
        <a:spcPct val="0"/>
      </a:spcAft>
      <a:buFont typeface="Wingdings" pitchFamily="2" charset="2"/>
      <a:buChar char="§"/>
      <a:defRPr sz="12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afternoon. We are group C1F1G_. Our case is ArchiTrain and our focus area is F1 - Ticketing &amp; Train Journey Management. We start with the use case and the abstract enterprise model, then go deep into F1 across all three layers, and close with reflection.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ArchiTrain is a modern transit enterprise that integrated 14 formerly siloed systems into one architecture. Passengers tap on and off with a Go Card, mobile wallet or contactless bank card, and the gate opens in under 400 milliseconds. The case has three focus areas - F1 ticketing, F2 train localization, F3 disruption - and our team owns F1. Sources: a sequence diagram, three interviews and an incident report.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First, the abstract model.</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abstract model covers the whole enterprise - three domains across three layers. At the abstract level we keep one generalized process per domain, components without internal structure, devices summarized as nodes, and communication shown only as networks. Everything is centered on the Passenger and the three business services.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detailed model for our focus area, F1.</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668D6-6481-F797-2352-E6F5BE89E6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F10755-061C-F881-F233-8C784410D24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F0057B1-9988-BF0A-9254-CF79FF15371E}"/>
              </a:ext>
            </a:extLst>
          </p:cNvPr>
          <p:cNvSpPr>
            <a:spLocks noGrp="1"/>
          </p:cNvSpPr>
          <p:nvPr>
            <p:ph type="body" sz="quarter" idx="3"/>
          </p:nvPr>
        </p:nvSpPr>
        <p:spPr/>
        <p:txBody>
          <a:bodyPr/>
          <a:lstStyle/>
          <a:p>
            <a:r>
              <a:t>Here is the full technology layer, grouped into four perspectives. We examine them one by one: tap and gate, communication, backend storage, and self-service with settlement.</a:t>
            </a:r>
          </a:p>
        </p:txBody>
      </p:sp>
      <p:sp>
        <p:nvSpPr>
          <p:cNvPr id="4" name="Slide Number Placeholder 3">
            <a:extLst>
              <a:ext uri="{FF2B5EF4-FFF2-40B4-BE49-F238E27FC236}">
                <a16:creationId xmlns:a16="http://schemas.microsoft.com/office/drawing/2014/main" id="{A3246B4B-022D-E537-B930-F400F92EAC06}"/>
              </a:ext>
            </a:extLst>
          </p:cNvPr>
          <p:cNvSpPr>
            <a:spLocks noGrp="1"/>
          </p:cNvSpPr>
          <p:nvPr>
            <p:ph type="sldNum" sz="quarter" idx="5"/>
          </p:nvPr>
        </p:nvSpPr>
        <p:spPr/>
      </p:sp>
    </p:spTree>
    <p:extLst>
      <p:ext uri="{BB962C8B-B14F-4D97-AF65-F5344CB8AC3E}">
        <p14:creationId xmlns:p14="http://schemas.microsoft.com/office/powerpoint/2010/main" val="27262676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09744-B93D-6F7C-EF4D-B9B636F91E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8E9741-6EA7-E0F8-9EC0-2C8B0B750D3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9B8026C-374C-203C-24BD-889DC532E856}"/>
              </a:ext>
            </a:extLst>
          </p:cNvPr>
          <p:cNvSpPr>
            <a:spLocks noGrp="1"/>
          </p:cNvSpPr>
          <p:nvPr>
            <p:ph type="body" sz="quarter" idx="3"/>
          </p:nvPr>
        </p:nvSpPr>
        <p:spPr/>
        <p:txBody>
          <a:bodyPr/>
          <a:lstStyle/>
          <a:p>
            <a:r>
              <a:t>Here is the full technology layer, grouped into four perspectives. We examine them one by one: tap and gate, communication, backend storage, and self-service with settlement.</a:t>
            </a:r>
          </a:p>
        </p:txBody>
      </p:sp>
      <p:sp>
        <p:nvSpPr>
          <p:cNvPr id="4" name="Slide Number Placeholder 3">
            <a:extLst>
              <a:ext uri="{FF2B5EF4-FFF2-40B4-BE49-F238E27FC236}">
                <a16:creationId xmlns:a16="http://schemas.microsoft.com/office/drawing/2014/main" id="{75A48C55-3CC1-523D-9CF9-C4074A33DC94}"/>
              </a:ext>
            </a:extLst>
          </p:cNvPr>
          <p:cNvSpPr>
            <a:spLocks noGrp="1"/>
          </p:cNvSpPr>
          <p:nvPr>
            <p:ph type="sldNum" sz="quarter" idx="5"/>
          </p:nvPr>
        </p:nvSpPr>
        <p:spPr/>
      </p:sp>
    </p:spTree>
    <p:extLst>
      <p:ext uri="{BB962C8B-B14F-4D97-AF65-F5344CB8AC3E}">
        <p14:creationId xmlns:p14="http://schemas.microsoft.com/office/powerpoint/2010/main" val="5407913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A0ED7-63A8-CEFD-DB27-7E7CBD9EAB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FDBC26-F221-8F0F-1BA2-2E6CFCEA9D3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86046B7-531D-A6EC-C5E5-E41C5298DB0C}"/>
              </a:ext>
            </a:extLst>
          </p:cNvPr>
          <p:cNvSpPr>
            <a:spLocks noGrp="1"/>
          </p:cNvSpPr>
          <p:nvPr>
            <p:ph type="body" sz="quarter" idx="3"/>
          </p:nvPr>
        </p:nvSpPr>
        <p:spPr/>
        <p:txBody>
          <a:bodyPr/>
          <a:lstStyle/>
          <a:p>
            <a:r>
              <a:t>Here is the full technology layer, grouped into four perspectives. We examine them one by one: tap and gate, communication, backend storage, and self-service with settlement.</a:t>
            </a:r>
          </a:p>
        </p:txBody>
      </p:sp>
      <p:sp>
        <p:nvSpPr>
          <p:cNvPr id="4" name="Slide Number Placeholder 3">
            <a:extLst>
              <a:ext uri="{FF2B5EF4-FFF2-40B4-BE49-F238E27FC236}">
                <a16:creationId xmlns:a16="http://schemas.microsoft.com/office/drawing/2014/main" id="{FFEBF335-7C23-B7A2-984F-35238DACE5B5}"/>
              </a:ext>
            </a:extLst>
          </p:cNvPr>
          <p:cNvSpPr>
            <a:spLocks noGrp="1"/>
          </p:cNvSpPr>
          <p:nvPr>
            <p:ph type="sldNum" sz="quarter" idx="5"/>
          </p:nvPr>
        </p:nvSpPr>
        <p:spPr/>
      </p:sp>
    </p:spTree>
    <p:extLst>
      <p:ext uri="{BB962C8B-B14F-4D97-AF65-F5344CB8AC3E}">
        <p14:creationId xmlns:p14="http://schemas.microsoft.com/office/powerpoint/2010/main" val="19463260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668D6-6481-F797-2352-E6F5BE89E6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F10755-061C-F881-F233-8C784410D24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F0057B1-9988-BF0A-9254-CF79FF15371E}"/>
              </a:ext>
            </a:extLst>
          </p:cNvPr>
          <p:cNvSpPr>
            <a:spLocks noGrp="1"/>
          </p:cNvSpPr>
          <p:nvPr>
            <p:ph type="body" sz="quarter" idx="3"/>
          </p:nvPr>
        </p:nvSpPr>
        <p:spPr/>
        <p:txBody>
          <a:bodyPr/>
          <a:lstStyle/>
          <a:p>
            <a:r>
              <a:t>Here is the full technology layer, grouped into four perspectives. We examine them one by one: tap and gate, communication, backend storage, and self-service with settlement.</a:t>
            </a:r>
          </a:p>
        </p:txBody>
      </p:sp>
      <p:sp>
        <p:nvSpPr>
          <p:cNvPr id="4" name="Slide Number Placeholder 3">
            <a:extLst>
              <a:ext uri="{FF2B5EF4-FFF2-40B4-BE49-F238E27FC236}">
                <a16:creationId xmlns:a16="http://schemas.microsoft.com/office/drawing/2014/main" id="{A3246B4B-022D-E537-B930-F400F92EAC06}"/>
              </a:ext>
            </a:extLst>
          </p:cNvPr>
          <p:cNvSpPr>
            <a:spLocks noGrp="1"/>
          </p:cNvSpPr>
          <p:nvPr>
            <p:ph type="sldNum" sz="quarter" idx="5"/>
          </p:nvPr>
        </p:nvSpPr>
        <p:spPr/>
      </p:sp>
    </p:spTree>
    <p:extLst>
      <p:ext uri="{BB962C8B-B14F-4D97-AF65-F5344CB8AC3E}">
        <p14:creationId xmlns:p14="http://schemas.microsoft.com/office/powerpoint/2010/main" val="27262676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0E09E-109E-352B-F2D8-4571202506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51B8CE-F301-3198-72ED-14C0D54556F2}"/>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26ED006-A8E1-6194-2AAC-F838BAAD4F79}"/>
              </a:ext>
            </a:extLst>
          </p:cNvPr>
          <p:cNvSpPr>
            <a:spLocks noGrp="1"/>
          </p:cNvSpPr>
          <p:nvPr>
            <p:ph type="body" sz="quarter" idx="3"/>
          </p:nvPr>
        </p:nvSpPr>
        <p:spPr/>
        <p:txBody>
          <a:bodyPr/>
          <a:lstStyle/>
          <a:p>
            <a:r>
              <a:t>Here is the full technology layer, grouped into four perspectives. We examine them one by one: tap and gate, communication, backend storage, and self-service with settlement.</a:t>
            </a:r>
          </a:p>
        </p:txBody>
      </p:sp>
      <p:sp>
        <p:nvSpPr>
          <p:cNvPr id="4" name="Slide Number Placeholder 3">
            <a:extLst>
              <a:ext uri="{FF2B5EF4-FFF2-40B4-BE49-F238E27FC236}">
                <a16:creationId xmlns:a16="http://schemas.microsoft.com/office/drawing/2014/main" id="{4F310AAF-5B85-EDA6-33D5-4050DD156BB0}"/>
              </a:ext>
            </a:extLst>
          </p:cNvPr>
          <p:cNvSpPr>
            <a:spLocks noGrp="1"/>
          </p:cNvSpPr>
          <p:nvPr>
            <p:ph type="sldNum" sz="quarter" idx="5"/>
          </p:nvPr>
        </p:nvSpPr>
        <p:spPr/>
      </p:sp>
    </p:spTree>
    <p:extLst>
      <p:ext uri="{BB962C8B-B14F-4D97-AF65-F5344CB8AC3E}">
        <p14:creationId xmlns:p14="http://schemas.microsoft.com/office/powerpoint/2010/main" val="8034042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[Business layer - presented by teammate.] The business layer covers Conduct Journey, Calculate Fare and Manage Go Card.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layer - presented by teammate.] Access Control Management, JAMS, the Fare Management System and the Website.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full technology layer, grouped into four perspectives. We examine them one by one: tap and gate, communication, backend storage, and self-service with settlement.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passenger taps a Go Card or mobile wallet. The NFC Handshake, modelled as a Path, links the card with the reader. Embedded and platform NFC readers realize the NFC Proximity Communication Service. The Station Gate contains the Gate Firmware that performs NFC Handshake Processing, and the gate is assigned to Access Control Management, which opens the barrier in under 400 milliseconds.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Communication follows the course pattern P01. The card-to-reader link is a Path; the Gate-Backend Link is also a Path, realized by the Private Network, which is a Communication Network. That private network connects the station infrastructure, the backend and the application server.</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Journey &amp; Account Management Backend contains the DBMS and the Journey &amp; Account Database artifact. The backend realizes the Data Storage Service, which serves JAMS and the Fare Management System. The database artifact realizes the four application data objects: Tap Event, Go Card Account, Fare &amp; Zone, and Digital Ticket.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Application Server hosts the Website Deployment, which realizes the ArchiTrain Website. The app server reads Go Card balances over the private network. For payments, the external Bank Payment Service serves the Fare Management System for settlement.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Finally, reflection.</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Business value: a single card makes the fare chain transparent end to end; we identified a single point of risk - the backend carries journey, fare and account data together; the 24-hour timeout protects revenue. Limitations and missing information: inconsistent naming, and no deployment, network topology, security or reconciliation of a late tap-off. Our main modeling challenge was the level of abstraction and representing tap-on and tap-off as handled equally.</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conclude: the abstract model covers the whole enterprise; the F1 detailed model is developed across all three layers with communication explicitly modelled; and the vertical chain from node to component to service to business process to the passenger is fully derivable. Thank you - we are happy to take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833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lvl1pPr>
            <a:lvl2pPr>
              <a:defRPr lang="de-DE" noProof="0" dirty="0" smtClean="0"/>
            </a:lvl2pPr>
          </a:lstStyle>
          <a:p>
            <a:pPr lvl="0"/>
            <a:r>
              <a:rPr lang="de-DE" noProof="0" dirty="0"/>
              <a:t>Referent</a:t>
            </a:r>
            <a:br>
              <a:rPr lang="de-DE" noProof="0" dirty="0"/>
            </a:br>
            <a:r>
              <a:rPr lang="de-DE" noProof="0" dirty="0"/>
              <a:t>Ort, Datum (Schreibweise: 00. Januar 2015)</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2"/>
          </p:nvPr>
        </p:nvSpPr>
        <p:spPr/>
        <p:txBody>
          <a:bodyPr/>
          <a:lstStyle/>
          <a:p>
            <a:fld id="{CE58CB1E-F828-4F11-99E0-327109AF9DA4}" type="slidenum">
              <a:rPr lang="de-DE" smtClean="0"/>
              <a:pPr/>
              <a:t>‹#›</a:t>
            </a:fld>
            <a:endParaRPr lang="de-DE" dirty="0"/>
          </a:p>
        </p:txBody>
      </p:sp>
      <p:sp>
        <p:nvSpPr>
          <p:cNvPr id="7" name="Fußzeilenplatzhalter 6"/>
          <p:cNvSpPr>
            <a:spLocks noGrp="1"/>
          </p:cNvSpPr>
          <p:nvPr>
            <p:ph type="ftr" sz="quarter" idx="13"/>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bg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600" baseline="0" noProof="0" dirty="0" smtClean="0">
                <a:solidFill>
                  <a:schemeClr val="bg1"/>
                </a:solidFill>
              </a:defRPr>
            </a:lvl1pPr>
            <a:lvl2pPr>
              <a:defRPr lang="de-DE" noProof="0" dirty="0" smtClean="0"/>
            </a:lvl2pPr>
          </a:lstStyle>
          <a:p>
            <a:pPr lvl="0"/>
            <a:r>
              <a:rPr lang="de-DE" noProof="0" dirty="0"/>
              <a:t>Referent</a:t>
            </a:r>
            <a:br>
              <a:rPr lang="de-DE" noProof="0" dirty="0"/>
            </a:br>
            <a:r>
              <a:rPr lang="de-DE" noProof="0" dirty="0"/>
              <a:t>Ort, Datum (Schreibweise: 00. Januar 2015)</a:t>
            </a:r>
          </a:p>
        </p:txBody>
      </p:sp>
      <p:sp>
        <p:nvSpPr>
          <p:cNvPr id="5" name="Foliennummernplatzhalter 4"/>
          <p:cNvSpPr>
            <a:spLocks noGrp="1"/>
          </p:cNvSpPr>
          <p:nvPr>
            <p:ph type="sldNum" sz="quarter" idx="12"/>
          </p:nvPr>
        </p:nvSpPr>
        <p:spPr/>
        <p:txBody>
          <a:bodyPr/>
          <a:lstStyle>
            <a:lvl1pPr>
              <a:defRPr>
                <a:solidFill>
                  <a:schemeClr val="bg1"/>
                </a:solidFill>
              </a:defRPr>
            </a:lvl1pPr>
          </a:lstStyle>
          <a:p>
            <a:fld id="{CE58CB1E-F828-4F11-99E0-327109AF9DA4}" type="slidenum">
              <a:rPr lang="de-DE" smtClean="0"/>
              <a:pPr/>
              <a:t>‹#›</a:t>
            </a:fld>
            <a:endParaRPr lang="de-DE" dirty="0"/>
          </a:p>
        </p:txBody>
      </p:sp>
      <p:sp>
        <p:nvSpPr>
          <p:cNvPr id="7" name="Fußzeilenplatzhalter 6"/>
          <p:cNvSpPr>
            <a:spLocks noGrp="1"/>
          </p:cNvSpPr>
          <p:nvPr>
            <p:ph type="ftr" sz="quarter" idx="13"/>
          </p:nvPr>
        </p:nvSpPr>
        <p:spPr/>
        <p:txBody>
          <a:bodyPr/>
          <a:lstStyle>
            <a:lvl1pPr>
              <a:defRPr>
                <a:solidFill>
                  <a:schemeClr val="bg1"/>
                </a:solidFill>
              </a:defRPr>
            </a:lvl1p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solidFill>
                  <a:srgbClr val="000000"/>
                </a:solidFill>
              </a:defRPr>
            </a:lvl1pPr>
            <a:lvl2pPr>
              <a:defRPr lang="de-DE" noProof="0" dirty="0" smtClean="0"/>
            </a:lvl2pPr>
          </a:lstStyle>
          <a:p>
            <a:pPr lvl="0"/>
            <a:r>
              <a:rPr lang="de-DE" noProof="0" dirty="0"/>
              <a:t>Referent</a:t>
            </a:r>
            <a:br>
              <a:rPr lang="de-DE" noProof="0" dirty="0"/>
            </a:br>
            <a:r>
              <a:rPr lang="de-DE" noProof="0" dirty="0"/>
              <a:t>Ort, Datum (Schreibweise: 00. Januar 2015)</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1"/>
          </p:nvPr>
        </p:nvSpPr>
        <p:spPr/>
        <p:txBody>
          <a:bodyPr/>
          <a:lstStyle/>
          <a:p>
            <a:fld id="{CE58CB1E-F828-4F11-99E0-327109AF9DA4}" type="slidenum">
              <a:rPr lang="de-DE" smtClean="0"/>
              <a:pPr/>
              <a:t>‹#›</a:t>
            </a:fld>
            <a:endParaRPr lang="de-DE" dirty="0"/>
          </a:p>
        </p:txBody>
      </p:sp>
      <p:sp>
        <p:nvSpPr>
          <p:cNvPr id="8" name="Fußzeilenplatzhalter 7"/>
          <p:cNvSpPr>
            <a:spLocks noGrp="1"/>
          </p:cNvSpPr>
          <p:nvPr>
            <p:ph type="ftr" sz="quarter" idx="12"/>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lvl1pPr>
            <a:lvl2pPr>
              <a:defRPr lang="de-DE" noProof="0" dirty="0" smtClean="0"/>
            </a:lvl2pPr>
          </a:lstStyle>
          <a:p>
            <a:pPr lvl="0"/>
            <a:r>
              <a:rPr lang="de-DE" noProof="0" dirty="0"/>
              <a:t>Referent</a:t>
            </a:r>
            <a:br>
              <a:rPr lang="de-DE" noProof="0" dirty="0"/>
            </a:br>
            <a:r>
              <a:rPr lang="de-DE" noProof="0" dirty="0"/>
              <a:t>Ort, Datum (Schreibweise: 00. Januar 2015)</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8" name="Foliennummernplatzhalter 7"/>
          <p:cNvSpPr>
            <a:spLocks noGrp="1"/>
          </p:cNvSpPr>
          <p:nvPr>
            <p:ph type="sldNum" sz="quarter" idx="12"/>
          </p:nvPr>
        </p:nvSpPr>
        <p:spPr/>
        <p:txBody>
          <a:bodyPr/>
          <a:lstStyle/>
          <a:p>
            <a:fld id="{CE58CB1E-F828-4F11-99E0-327109AF9DA4}" type="slidenum">
              <a:rPr lang="de-DE" smtClean="0"/>
              <a:pPr/>
              <a:t>‹#›</a:t>
            </a:fld>
            <a:endParaRPr lang="de-DE" dirty="0"/>
          </a:p>
        </p:txBody>
      </p:sp>
      <p:sp>
        <p:nvSpPr>
          <p:cNvPr id="10" name="Fußzeilenplatzhalter 9"/>
          <p:cNvSpPr>
            <a:spLocks noGrp="1"/>
          </p:cNvSpPr>
          <p:nvPr>
            <p:ph type="ftr" sz="quarter" idx="13"/>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319090" y="1600200"/>
            <a:ext cx="8508999" cy="30956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10"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p:nvSpPr>
          <p:cNvPr id="5" name="Foliennummernplatzhalter 4"/>
          <p:cNvSpPr>
            <a:spLocks noGrp="1"/>
          </p:cNvSpPr>
          <p:nvPr>
            <p:ph type="sldNum" sz="quarter" idx="11"/>
          </p:nvPr>
        </p:nvSpPr>
        <p:spPr/>
        <p:txBody>
          <a:bodyPr lIns="0" rIns="0"/>
          <a:lstStyle/>
          <a:p>
            <a:fld id="{CE58CB1E-F828-4F11-99E0-327109AF9DA4}" type="slidenum">
              <a:rPr lang="de-DE" smtClean="0"/>
              <a:pPr/>
              <a:t>‹#›</a:t>
            </a:fld>
            <a:endParaRPr lang="de-DE" dirty="0"/>
          </a:p>
        </p:txBody>
      </p:sp>
      <p:sp>
        <p:nvSpPr>
          <p:cNvPr id="7" name="Fußzeilenplatzhalter 6"/>
          <p:cNvSpPr>
            <a:spLocks noGrp="1"/>
          </p:cNvSpPr>
          <p:nvPr>
            <p:ph type="ftr" sz="quarter" idx="12"/>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21839487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2143125"/>
            <a:ext cx="8508999" cy="254317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10" name="Titel 1"/>
          <p:cNvSpPr>
            <a:spLocks noGrp="1"/>
          </p:cNvSpPr>
          <p:nvPr>
            <p:ph type="title" hasCustomPrompt="1"/>
          </p:nvPr>
        </p:nvSpPr>
        <p:spPr>
          <a:xfrm>
            <a:off x="319090" y="972000"/>
            <a:ext cx="8508999" cy="410369"/>
          </a:xfrm>
          <a:prstGeom prst="rect">
            <a:avLst/>
          </a:prstGeom>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a:t>Dr. rer. nat. Erika Mustermann (TUM) | kann beliebig erweitert werden | Infos mit Strich trennen</a:t>
            </a:r>
            <a:endParaRPr lang="en-US" dirty="0"/>
          </a:p>
        </p:txBody>
      </p:sp>
      <p:sp useBgFill="1">
        <p:nvSpPr>
          <p:cNvPr id="6" name="Textplatzhalter 7"/>
          <p:cNvSpPr>
            <a:spLocks noGrp="1"/>
          </p:cNvSpPr>
          <p:nvPr>
            <p:ph type="body" sz="quarter" idx="13" hasCustomPrompt="1"/>
          </p:nvPr>
        </p:nvSpPr>
        <p:spPr>
          <a:xfrm>
            <a:off x="319090" y="1600200"/>
            <a:ext cx="8508999" cy="50530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Tree>
    <p:extLst>
      <p:ext uri="{BB962C8B-B14F-4D97-AF65-F5344CB8AC3E}">
        <p14:creationId xmlns:p14="http://schemas.microsoft.com/office/powerpoint/2010/main" val="21839487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11" name="Inhaltsplatzhalter 2"/>
          <p:cNvSpPr>
            <a:spLocks noGrp="1"/>
          </p:cNvSpPr>
          <p:nvPr>
            <p:ph idx="14" hasCustomPrompt="1"/>
          </p:nvPr>
        </p:nvSpPr>
        <p:spPr>
          <a:xfrm>
            <a:off x="319091" y="1602000"/>
            <a:ext cx="4180910" cy="309562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13" name="Inhaltsplatzhalter 2"/>
          <p:cNvSpPr>
            <a:spLocks noGrp="1"/>
          </p:cNvSpPr>
          <p:nvPr>
            <p:ph idx="15" hasCustomPrompt="1"/>
          </p:nvPr>
        </p:nvSpPr>
        <p:spPr>
          <a:xfrm>
            <a:off x="4647179" y="1602000"/>
            <a:ext cx="4180910" cy="309562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16"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baseline="0" noProof="0" dirty="0"/>
            </a:lvl1pPr>
          </a:lstStyle>
          <a:p>
            <a:pPr lvl="0"/>
            <a:r>
              <a:rPr lang="de-DE" noProof="0" dirty="0"/>
              <a:t>Titel durch Klicken bearbeiten</a:t>
            </a:r>
          </a:p>
        </p:txBody>
      </p:sp>
      <p:sp>
        <p:nvSpPr>
          <p:cNvPr id="6" name="Foliennummernplatzhalter 5"/>
          <p:cNvSpPr>
            <a:spLocks noGrp="1"/>
          </p:cNvSpPr>
          <p:nvPr>
            <p:ph type="sldNum" sz="quarter" idx="16"/>
          </p:nvPr>
        </p:nvSpPr>
        <p:spPr/>
        <p:txBody>
          <a:bodyPr/>
          <a:lstStyle/>
          <a:p>
            <a:fld id="{CE58CB1E-F828-4F11-99E0-327109AF9DA4}" type="slidenum">
              <a:rPr lang="de-DE" smtClean="0"/>
              <a:pPr/>
              <a:t>‹#›</a:t>
            </a:fld>
            <a:endParaRPr lang="de-DE" dirty="0"/>
          </a:p>
        </p:txBody>
      </p:sp>
      <p:sp>
        <p:nvSpPr>
          <p:cNvPr id="8" name="Fußzeilenplatzhalter 7"/>
          <p:cNvSpPr>
            <a:spLocks noGrp="1"/>
          </p:cNvSpPr>
          <p:nvPr>
            <p:ph type="ftr" sz="quarter" idx="17"/>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3462901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Zwei Inhalte + Text">
    <p:spTree>
      <p:nvGrpSpPr>
        <p:cNvPr id="1" name=""/>
        <p:cNvGrpSpPr/>
        <p:nvPr/>
      </p:nvGrpSpPr>
      <p:grpSpPr>
        <a:xfrm>
          <a:off x="0" y="0"/>
          <a:ext cx="0" cy="0"/>
          <a:chOff x="0" y="0"/>
          <a:chExt cx="0" cy="0"/>
        </a:xfrm>
      </p:grpSpPr>
      <p:sp>
        <p:nvSpPr>
          <p:cNvPr id="18" name="Textplatzhalter 7"/>
          <p:cNvSpPr>
            <a:spLocks noGrp="1"/>
          </p:cNvSpPr>
          <p:nvPr>
            <p:ph type="body" sz="quarter" idx="13" hasCustomPrompt="1"/>
          </p:nvPr>
        </p:nvSpPr>
        <p:spPr>
          <a:xfrm>
            <a:off x="319090" y="1600200"/>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3"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noProof="0"/>
              <a:t>Dr. rer. nat. Erika Mustermann (TUM) | kann beliebig erweitert werden | Infos mit Strich trennen</a:t>
            </a:r>
          </a:p>
        </p:txBody>
      </p:sp>
      <p:sp>
        <p:nvSpPr>
          <p:cNvPr id="8" name="Inhaltsplatzhalter 9"/>
          <p:cNvSpPr>
            <a:spLocks noGrp="1"/>
          </p:cNvSpPr>
          <p:nvPr>
            <p:ph sz="quarter" idx="18"/>
          </p:nvPr>
        </p:nvSpPr>
        <p:spPr>
          <a:xfrm>
            <a:off x="316992" y="2148752"/>
            <a:ext cx="4188333" cy="2547074"/>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48200" y="2148840"/>
            <a:ext cx="4180392" cy="2546911"/>
          </a:xfrm>
          <a:prstGeom prst="rect">
            <a:avLst/>
          </a:prstGeom>
        </p:spPr>
        <p:txBody>
          <a:bodyPr/>
          <a:lstStyle>
            <a:lvl1pPr>
              <a:lnSpc>
                <a:spcPct val="114000"/>
              </a:lnSpc>
              <a:defRPr sz="1400"/>
            </a:lvl1pPr>
          </a:lstStyle>
          <a:p>
            <a:endParaRPr lang="de-DE" dirty="0"/>
          </a:p>
        </p:txBody>
      </p:sp>
    </p:spTree>
    <p:extLst>
      <p:ext uri="{BB962C8B-B14F-4D97-AF65-F5344CB8AC3E}">
        <p14:creationId xmlns:p14="http://schemas.microsoft.com/office/powerpoint/2010/main" val="11115081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Zwei Inhalte + Text (Hintergrund)">
    <p:spTree>
      <p:nvGrpSpPr>
        <p:cNvPr id="1" name=""/>
        <p:cNvGrpSpPr/>
        <p:nvPr/>
      </p:nvGrpSpPr>
      <p:grpSpPr>
        <a:xfrm>
          <a:off x="0" y="0"/>
          <a:ext cx="0" cy="0"/>
          <a:chOff x="0" y="0"/>
          <a:chExt cx="0" cy="0"/>
        </a:xfrm>
      </p:grpSpPr>
      <p:sp>
        <p:nvSpPr>
          <p:cNvPr id="9" name="Rechteck 8"/>
          <p:cNvSpPr/>
          <p:nvPr userDrawn="1"/>
        </p:nvSpPr>
        <p:spPr bwMode="auto">
          <a:xfrm>
            <a:off x="0" y="2152650"/>
            <a:ext cx="9144000" cy="2990850"/>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eaLnBrk="0" hangingPunct="0"/>
            <a:endParaRPr lang="de-DE" sz="1000">
              <a:latin typeface="Arial" pitchFamily="34" charset="0"/>
            </a:endParaRPr>
          </a:p>
        </p:txBody>
      </p:sp>
      <p:sp>
        <p:nvSpPr>
          <p:cNvPr id="13"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noProof="0"/>
              <a:t>Dr. rer. nat. Erika Mustermann (TUM) | kann beliebig erweitert werden | Infos mit Strich trennen</a:t>
            </a:r>
          </a:p>
        </p:txBody>
      </p:sp>
      <p:sp>
        <p:nvSpPr>
          <p:cNvPr id="8" name="Inhaltsplatzhalter 9"/>
          <p:cNvSpPr>
            <a:spLocks noGrp="1"/>
          </p:cNvSpPr>
          <p:nvPr>
            <p:ph sz="quarter" idx="18"/>
          </p:nvPr>
        </p:nvSpPr>
        <p:spPr>
          <a:xfrm>
            <a:off x="316992" y="2152650"/>
            <a:ext cx="4197858" cy="2552700"/>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48200" y="2143125"/>
            <a:ext cx="4180392" cy="2543176"/>
          </a:xfrm>
          <a:prstGeom prst="rect">
            <a:avLst/>
          </a:prstGeom>
        </p:spPr>
        <p:txBody>
          <a:bodyPr/>
          <a:lstStyle>
            <a:lvl1pPr>
              <a:lnSpc>
                <a:spcPct val="114000"/>
              </a:lnSpc>
              <a:defRPr sz="1400"/>
            </a:lvl1pPr>
          </a:lstStyle>
          <a:p>
            <a:endParaRPr lang="de-DE" dirty="0"/>
          </a:p>
        </p:txBody>
      </p:sp>
      <p:sp>
        <p:nvSpPr>
          <p:cNvPr id="10" name="Textplatzhalter 7"/>
          <p:cNvSpPr>
            <a:spLocks noGrp="1"/>
          </p:cNvSpPr>
          <p:nvPr>
            <p:ph type="body" sz="quarter" idx="19" hasCustomPrompt="1"/>
          </p:nvPr>
        </p:nvSpPr>
        <p:spPr>
          <a:xfrm>
            <a:off x="319090" y="1600200"/>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Tree>
    <p:extLst>
      <p:ext uri="{BB962C8B-B14F-4D97-AF65-F5344CB8AC3E}">
        <p14:creationId xmlns:p14="http://schemas.microsoft.com/office/powerpoint/2010/main" val="11115081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große Bilder">
    <p:spTree>
      <p:nvGrpSpPr>
        <p:cNvPr id="1" name=""/>
        <p:cNvGrpSpPr/>
        <p:nvPr/>
      </p:nvGrpSpPr>
      <p:grpSpPr>
        <a:xfrm>
          <a:off x="0" y="0"/>
          <a:ext cx="0" cy="0"/>
          <a:chOff x="0" y="0"/>
          <a:chExt cx="0" cy="0"/>
        </a:xfrm>
      </p:grpSpPr>
      <p:sp>
        <p:nvSpPr>
          <p:cNvPr id="13"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noProof="0"/>
              <a:t>Dr. rer. nat. Erika Mustermann (TUM) | kann beliebig erweitert werden | Infos mit Strich trennen</a:t>
            </a:r>
          </a:p>
        </p:txBody>
      </p:sp>
      <p:sp>
        <p:nvSpPr>
          <p:cNvPr id="9" name="Bildplatzhalter 8"/>
          <p:cNvSpPr>
            <a:spLocks noGrp="1"/>
          </p:cNvSpPr>
          <p:nvPr>
            <p:ph type="pic" sz="quarter" idx="17"/>
          </p:nvPr>
        </p:nvSpPr>
        <p:spPr>
          <a:xfrm>
            <a:off x="0" y="2133600"/>
            <a:ext cx="9144000" cy="3009900"/>
          </a:xfrm>
          <a:prstGeom prst="rect">
            <a:avLst/>
          </a:prstGeom>
        </p:spPr>
        <p:txBody>
          <a:bodyPr/>
          <a:lstStyle>
            <a:lvl1pPr>
              <a:defRPr sz="1400"/>
            </a:lvl1pPr>
          </a:lstStyle>
          <a:p>
            <a:endParaRPr lang="de-DE"/>
          </a:p>
        </p:txBody>
      </p:sp>
      <p:sp>
        <p:nvSpPr>
          <p:cNvPr id="8" name="Textplatzhalter 7"/>
          <p:cNvSpPr>
            <a:spLocks noGrp="1"/>
          </p:cNvSpPr>
          <p:nvPr>
            <p:ph type="body" sz="quarter" idx="18" hasCustomPrompt="1"/>
          </p:nvPr>
        </p:nvSpPr>
        <p:spPr>
          <a:xfrm>
            <a:off x="319090" y="1600200"/>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Tree>
    <p:extLst>
      <p:ext uri="{BB962C8B-B14F-4D97-AF65-F5344CB8AC3E}">
        <p14:creationId xmlns:p14="http://schemas.microsoft.com/office/powerpoint/2010/main" val="1111508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ilder formatfüllend">
    <p:spTree>
      <p:nvGrpSpPr>
        <p:cNvPr id="1" name=""/>
        <p:cNvGrpSpPr/>
        <p:nvPr/>
      </p:nvGrpSpPr>
      <p:grpSpPr>
        <a:xfrm>
          <a:off x="0" y="0"/>
          <a:ext cx="0" cy="0"/>
          <a:chOff x="0" y="0"/>
          <a:chExt cx="0" cy="0"/>
        </a:xfrm>
      </p:grpSpPr>
      <p:sp>
        <p:nvSpPr>
          <p:cNvPr id="8" name="Bildplatzhalter 2"/>
          <p:cNvSpPr>
            <a:spLocks noGrp="1"/>
          </p:cNvSpPr>
          <p:nvPr>
            <p:ph type="pic" sz="quarter" idx="14" hasCustomPrompt="1"/>
          </p:nvPr>
        </p:nvSpPr>
        <p:spPr>
          <a:xfrm>
            <a:off x="0" y="1600200"/>
            <a:ext cx="9144000" cy="3543299"/>
          </a:xfrm>
          <a:prstGeom prst="rect">
            <a:avLst/>
          </a:prstGeom>
        </p:spPr>
        <p:txBody>
          <a:bodyPr/>
          <a:lstStyle>
            <a:lvl1pPr>
              <a:lnSpc>
                <a:spcPct val="114000"/>
              </a:lnSpc>
              <a:defRPr sz="1400"/>
            </a:lvl1pPr>
          </a:lstStyle>
          <a:p>
            <a:endParaRPr lang="de-DE" dirty="0"/>
          </a:p>
        </p:txBody>
      </p:sp>
      <p:sp>
        <p:nvSpPr>
          <p:cNvPr id="11"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p:nvSpPr>
          <p:cNvPr id="6" name="Foliennummernplatzhalter 5"/>
          <p:cNvSpPr>
            <a:spLocks noGrp="1"/>
          </p:cNvSpPr>
          <p:nvPr>
            <p:ph type="sldNum" sz="quarter" idx="15"/>
          </p:nvPr>
        </p:nvSpPr>
        <p:spPr/>
        <p:txBody>
          <a:bodyPr/>
          <a:lstStyle/>
          <a:p>
            <a:fld id="{CE58CB1E-F828-4F11-99E0-327109AF9DA4}" type="slidenum">
              <a:rPr lang="de-DE" smtClean="0"/>
              <a:pPr/>
              <a:t>‹#›</a:t>
            </a:fld>
            <a:endParaRPr lang="de-DE" dirty="0"/>
          </a:p>
        </p:txBody>
      </p:sp>
      <p:sp>
        <p:nvSpPr>
          <p:cNvPr id="10" name="Fußzeilenplatzhalter 9"/>
          <p:cNvSpPr>
            <a:spLocks noGrp="1"/>
          </p:cNvSpPr>
          <p:nvPr>
            <p:ph type="ftr" sz="quarter" idx="16"/>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42579873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Kapiteltrenner">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123110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baseline="0" noProof="0" dirty="0">
                <a:solidFill>
                  <a:schemeClr val="bg1"/>
                </a:solidFill>
              </a:defRPr>
            </a:lvl1pPr>
          </a:lstStyle>
          <a:p>
            <a:pPr lvl="0"/>
            <a:r>
              <a:rPr lang="de-DE" noProof="0" dirty="0"/>
              <a:t>Präsentationsmuster</a:t>
            </a:r>
            <a:br>
              <a:rPr lang="de-DE" noProof="0" dirty="0"/>
            </a:br>
            <a:br>
              <a:rPr lang="de-DE" noProof="0" dirty="0"/>
            </a:br>
            <a:r>
              <a:rPr lang="de-DE" noProof="0" dirty="0"/>
              <a:t>kann auch als </a:t>
            </a:r>
            <a:r>
              <a:rPr lang="de-DE" noProof="0" dirty="0" err="1"/>
              <a:t>Kapiteltrenner</a:t>
            </a:r>
            <a:r>
              <a:rPr lang="de-DE" noProof="0" dirty="0"/>
              <a:t> verwendet werden</a:t>
            </a:r>
          </a:p>
        </p:txBody>
      </p:sp>
      <p:sp>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p:nvSpPr>
          <p:cNvPr id="7" name="Fußzeilenplatzhalter 6"/>
          <p:cNvSpPr>
            <a:spLocks noGrp="1"/>
          </p:cNvSpPr>
          <p:nvPr>
            <p:ph type="ftr" sz="quarter" idx="12"/>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27183157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Kapiteltrenner">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123110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baseline="0" noProof="0" dirty="0">
                <a:solidFill>
                  <a:schemeClr val="bg1"/>
                </a:solidFill>
              </a:defRPr>
            </a:lvl1pPr>
          </a:lstStyle>
          <a:p>
            <a:pPr lvl="0"/>
            <a:r>
              <a:rPr lang="de-DE" noProof="0" dirty="0"/>
              <a:t>Präsentationsmuster</a:t>
            </a:r>
            <a:br>
              <a:rPr lang="de-DE" noProof="0" dirty="0"/>
            </a:br>
            <a:br>
              <a:rPr lang="de-DE" noProof="0" dirty="0"/>
            </a:br>
            <a:r>
              <a:rPr lang="de-DE" noProof="0" dirty="0"/>
              <a:t>kann auch als </a:t>
            </a:r>
            <a:r>
              <a:rPr lang="de-DE" noProof="0" dirty="0" err="1"/>
              <a:t>Kapiteltrenner</a:t>
            </a:r>
            <a:r>
              <a:rPr lang="de-DE" noProof="0" dirty="0"/>
              <a:t> verwendet werden</a:t>
            </a:r>
          </a:p>
        </p:txBody>
      </p:sp>
      <p:sp>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p:nvSpPr>
          <p:cNvPr id="7" name="Fußzeilenplatzhalter 6"/>
          <p:cNvSpPr>
            <a:spLocks noGrp="1"/>
          </p:cNvSpPr>
          <p:nvPr>
            <p:ph type="ftr" sz="quarter" idx="12"/>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Kapiteltrenner">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123110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bg1"/>
                </a:solidFill>
              </a:defRPr>
            </a:lvl1pPr>
          </a:lstStyle>
          <a:p>
            <a:pPr lvl="0"/>
            <a:r>
              <a:rPr lang="de-DE" noProof="0" dirty="0"/>
              <a:t>Präsentationsmuster</a:t>
            </a:r>
            <a:br>
              <a:rPr lang="de-DE" noProof="0" dirty="0"/>
            </a:br>
            <a:br>
              <a:rPr lang="de-DE" noProof="0" dirty="0"/>
            </a:br>
            <a:r>
              <a:rPr lang="de-DE" noProof="0" dirty="0"/>
              <a:t>kann auch als </a:t>
            </a:r>
            <a:r>
              <a:rPr lang="de-DE" noProof="0" dirty="0" err="1"/>
              <a:t>Kapiteltrenner</a:t>
            </a:r>
            <a:r>
              <a:rPr lang="de-DE" noProof="0" dirty="0"/>
              <a:t> verwendet werden</a:t>
            </a:r>
          </a:p>
        </p:txBody>
      </p:sp>
      <p:sp>
        <p:nvSpPr>
          <p:cNvPr id="6" name="Foliennummernplatzhalter 5"/>
          <p:cNvSpPr>
            <a:spLocks noGrp="1"/>
          </p:cNvSpPr>
          <p:nvPr>
            <p:ph type="sldNum" sz="quarter" idx="11"/>
          </p:nvPr>
        </p:nvSpPr>
        <p:spPr/>
        <p:txBody>
          <a:bodyPr/>
          <a:lstStyle>
            <a:lvl1pPr>
              <a:defRPr>
                <a:solidFill>
                  <a:schemeClr val="bg1"/>
                </a:solidFill>
              </a:defRPr>
            </a:lvl1pPr>
          </a:lstStyle>
          <a:p>
            <a:fld id="{CE58CB1E-F828-4F11-99E0-327109AF9DA4}" type="slidenum">
              <a:rPr lang="de-DE" smtClean="0"/>
              <a:pPr/>
              <a:t>‹#›</a:t>
            </a:fld>
            <a:endParaRPr lang="de-DE" dirty="0"/>
          </a:p>
        </p:txBody>
      </p:sp>
      <p:sp>
        <p:nvSpPr>
          <p:cNvPr id="8" name="Fußzeilenplatzhalter 7"/>
          <p:cNvSpPr>
            <a:spLocks noGrp="1"/>
          </p:cNvSpPr>
          <p:nvPr>
            <p:ph type="ftr" sz="quarter" idx="12"/>
          </p:nvPr>
        </p:nvSpPr>
        <p:spPr/>
        <p:txBody>
          <a:bodyPr/>
          <a:lstStyle>
            <a:lvl1pPr>
              <a:defRPr>
                <a:solidFill>
                  <a:schemeClr val="bg1"/>
                </a:solidFill>
              </a:defRPr>
            </a:lvl1p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3.emf"/></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image" Target="../media/image1.wmf"/><Relationship Id="rId5" Type="http://schemas.openxmlformats.org/officeDocument/2006/relationships/slideLayout" Target="../slideLayouts/slideLayout8.xml"/><Relationship Id="rId10" Type="http://schemas.openxmlformats.org/officeDocument/2006/relationships/theme" Target="../theme/theme4.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theme" Target="../theme/theme5.xml"/><Relationship Id="rId1" Type="http://schemas.openxmlformats.org/officeDocument/2006/relationships/slideLayout" Target="../slideLayouts/slideLayout13.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theme" Target="../theme/theme6.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Fußzeilenplatzhalter 3"/>
          <p:cNvSpPr>
            <a:spLocks noGrp="1"/>
          </p:cNvSpPr>
          <p:nvPr>
            <p:ph type="ftr" sz="quarter" idx="3"/>
          </p:nvPr>
        </p:nvSpPr>
        <p:spPr>
          <a:xfrm>
            <a:off x="311162" y="4854985"/>
            <a:ext cx="7829538" cy="288515"/>
          </a:xfrm>
          <a:prstGeom prst="rect">
            <a:avLst/>
          </a:prstGeom>
        </p:spPr>
        <p:txBody>
          <a:bodyPr vert="horz" lIns="0" tIns="45720" rIns="0" bIns="45720" rtlCol="0" anchor="ctr"/>
          <a:lstStyle>
            <a:lvl1pPr algn="l">
              <a:defRPr sz="1100">
                <a:solidFill>
                  <a:schemeClr val="tx1"/>
                </a:solidFill>
              </a:defRPr>
            </a:lvl1pPr>
          </a:lstStyle>
          <a:p>
            <a:r>
              <a:rPr lang="de-DE"/>
              <a:t>Dr. rer. nat. Erika Mustermann (TUM) | kann beliebig erweitert werden | Infos mit Strich trennen</a:t>
            </a:r>
            <a:endParaRPr lang="en-US" dirty="0"/>
          </a:p>
        </p:txBody>
      </p:sp>
      <p:sp>
        <p:nvSpPr>
          <p:cNvPr id="11"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tx1"/>
                </a:solidFill>
              </a:defRPr>
            </a:lvl1pPr>
          </a:lstStyle>
          <a:p>
            <a:fld id="{CE58CB1E-F828-4F11-99E0-327109AF9DA4}" type="slidenum">
              <a:rPr lang="de-DE" smtClean="0"/>
              <a:pPr/>
              <a:t>‹#›</a:t>
            </a:fld>
            <a:endParaRPr lang="de-DE" dirty="0"/>
          </a:p>
        </p:txBody>
      </p:sp>
      <p:pic>
        <p:nvPicPr>
          <p:cNvPr id="5" name="Bild 8" descr="20150416 tum logo blau png final.png"/>
          <p:cNvPicPr>
            <a:picLocks noChangeAspect="1"/>
          </p:cNvPicPr>
          <p:nvPr userDrawn="1"/>
        </p:nvPicPr>
        <p:blipFill>
          <a:blip r:embed="rId3"/>
          <a:stretch>
            <a:fillRect/>
          </a:stretch>
        </p:blipFill>
        <p:spPr>
          <a:xfrm>
            <a:off x="8218800" y="324000"/>
            <a:ext cx="604774" cy="318516"/>
          </a:xfrm>
          <a:prstGeom prst="rect">
            <a:avLst/>
          </a:prstGeom>
        </p:spPr>
      </p:pic>
    </p:spTree>
  </p:cSld>
  <p:clrMap bg1="lt1" tx1="dk1" bg2="lt2" tx2="dk2" accent1="accent1" accent2="accent2" accent3="accent3" accent4="accent4" accent5="accent5" accent6="accent6" hlink="hlink" folHlink="folHlink"/>
  <p:sldLayoutIdLst>
    <p:sldLayoutId id="2147483664" r:id="rId1"/>
  </p:sldLayoutIdLst>
  <p:hf hdr="0" dt="0"/>
  <p:txStyles>
    <p:titleStyle>
      <a:lvl1pPr algn="l" rtl="0" eaLnBrk="1" fontAlgn="base" hangingPunct="1">
        <a:lnSpc>
          <a:spcPct val="125000"/>
        </a:lnSpc>
        <a:spcBef>
          <a:spcPct val="0"/>
        </a:spcBef>
        <a:spcAft>
          <a:spcPct val="0"/>
        </a:spcAft>
        <a:defRPr sz="2200" b="0" kern="1200">
          <a:solidFill>
            <a:schemeClr val="tx1"/>
          </a:solidFill>
          <a:latin typeface="+mj-lt"/>
          <a:ea typeface="+mj-ea"/>
          <a:cs typeface="+mj-cs"/>
        </a:defRPr>
      </a:lvl1pPr>
      <a:lvl2pPr algn="l" rtl="0" eaLnBrk="1" fontAlgn="base" hangingPunct="1">
        <a:spcBef>
          <a:spcPct val="0"/>
        </a:spcBef>
        <a:spcAft>
          <a:spcPct val="0"/>
        </a:spcAft>
        <a:defRPr sz="2000" b="1">
          <a:solidFill>
            <a:schemeClr val="tx2"/>
          </a:solidFill>
          <a:latin typeface="Arial" charset="0"/>
          <a:cs typeface="Arial" charset="0"/>
        </a:defRPr>
      </a:lvl2pPr>
      <a:lvl3pPr algn="l" rtl="0" eaLnBrk="1" fontAlgn="base" hangingPunct="1">
        <a:spcBef>
          <a:spcPct val="0"/>
        </a:spcBef>
        <a:spcAft>
          <a:spcPct val="0"/>
        </a:spcAft>
        <a:defRPr sz="2000" b="1">
          <a:solidFill>
            <a:schemeClr val="tx2"/>
          </a:solidFill>
          <a:latin typeface="Arial" charset="0"/>
          <a:cs typeface="Arial" charset="0"/>
        </a:defRPr>
      </a:lvl3pPr>
      <a:lvl4pPr algn="l" rtl="0" eaLnBrk="1" fontAlgn="base" hangingPunct="1">
        <a:spcBef>
          <a:spcPct val="0"/>
        </a:spcBef>
        <a:spcAft>
          <a:spcPct val="0"/>
        </a:spcAft>
        <a:defRPr sz="2000" b="1">
          <a:solidFill>
            <a:schemeClr val="tx2"/>
          </a:solidFill>
          <a:latin typeface="Arial" charset="0"/>
          <a:cs typeface="Arial" charset="0"/>
        </a:defRPr>
      </a:lvl4pPr>
      <a:lvl5pPr algn="l" rtl="0" eaLnBrk="1" fontAlgn="base" hangingPunct="1">
        <a:spcBef>
          <a:spcPct val="0"/>
        </a:spcBef>
        <a:spcAft>
          <a:spcPct val="0"/>
        </a:spcAft>
        <a:defRPr sz="2000" b="1">
          <a:solidFill>
            <a:schemeClr val="tx2"/>
          </a:solidFill>
          <a:latin typeface="Arial" charset="0"/>
          <a:cs typeface="Arial" charset="0"/>
        </a:defRPr>
      </a:lvl5pPr>
      <a:lvl6pPr marL="457200" algn="l" rtl="0" eaLnBrk="1" fontAlgn="base" hangingPunct="1">
        <a:spcBef>
          <a:spcPct val="0"/>
        </a:spcBef>
        <a:spcAft>
          <a:spcPct val="0"/>
        </a:spcAft>
        <a:defRPr sz="2000" b="1">
          <a:solidFill>
            <a:schemeClr val="tx2"/>
          </a:solidFill>
          <a:latin typeface="Arial" charset="0"/>
          <a:cs typeface="Arial" charset="0"/>
        </a:defRPr>
      </a:lvl6pPr>
      <a:lvl7pPr marL="914400" algn="l" rtl="0" eaLnBrk="1" fontAlgn="base" hangingPunct="1">
        <a:spcBef>
          <a:spcPct val="0"/>
        </a:spcBef>
        <a:spcAft>
          <a:spcPct val="0"/>
        </a:spcAft>
        <a:defRPr sz="2000" b="1">
          <a:solidFill>
            <a:schemeClr val="tx2"/>
          </a:solidFill>
          <a:latin typeface="Arial" charset="0"/>
          <a:cs typeface="Arial" charset="0"/>
        </a:defRPr>
      </a:lvl7pPr>
      <a:lvl8pPr marL="1371600" algn="l" rtl="0" eaLnBrk="1" fontAlgn="base" hangingPunct="1">
        <a:spcBef>
          <a:spcPct val="0"/>
        </a:spcBef>
        <a:spcAft>
          <a:spcPct val="0"/>
        </a:spcAft>
        <a:defRPr sz="2000" b="1">
          <a:solidFill>
            <a:schemeClr val="tx2"/>
          </a:solidFill>
          <a:latin typeface="Arial" charset="0"/>
          <a:cs typeface="Arial" charset="0"/>
        </a:defRPr>
      </a:lvl8pPr>
      <a:lvl9pPr marL="1828800" algn="l" rtl="0" eaLnBrk="1" fontAlgn="base" hangingPunct="1">
        <a:spcBef>
          <a:spcPct val="0"/>
        </a:spcBef>
        <a:spcAft>
          <a:spcPct val="0"/>
        </a:spcAft>
        <a:defRPr sz="2000" b="1">
          <a:solidFill>
            <a:schemeClr val="tx2"/>
          </a:solidFill>
          <a:latin typeface="Arial" charset="0"/>
          <a:cs typeface="Arial" charset="0"/>
        </a:defRPr>
      </a:lvl9pPr>
    </p:titleStyle>
    <p:bodyStyle>
      <a:lvl1pPr algn="l" rtl="0" eaLnBrk="1" fontAlgn="base" hangingPunct="1">
        <a:lnSpc>
          <a:spcPct val="100000"/>
        </a:lnSpc>
        <a:spcBef>
          <a:spcPct val="0"/>
        </a:spcBef>
        <a:spcAft>
          <a:spcPct val="0"/>
        </a:spcAft>
        <a:defRPr sz="1600" kern="1200">
          <a:solidFill>
            <a:schemeClr val="tx1"/>
          </a:solidFill>
          <a:latin typeface="+mn-lt"/>
          <a:ea typeface="+mn-ea"/>
          <a:cs typeface="+mn-cs"/>
        </a:defRPr>
      </a:lvl1pPr>
      <a:lvl2pPr marL="176213" indent="-176213" algn="l" rtl="0" eaLnBrk="1" fontAlgn="base" hangingPunct="1">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3" name="Textfeld 22"/>
          <p:cNvSpPr txBox="1"/>
          <p:nvPr/>
        </p:nvSpPr>
        <p:spPr>
          <a:xfrm>
            <a:off x="7713330" y="4922462"/>
            <a:ext cx="1115376" cy="210507"/>
          </a:xfrm>
          <a:prstGeom prst="rect">
            <a:avLst/>
          </a:prstGeom>
        </p:spPr>
        <p:txBody>
          <a:bodyPr wrap="square" lIns="0" tIns="0" rIns="0" bIns="0" rtlCol="0" anchor="b" anchorCtr="0">
            <a:spAutoFit/>
          </a:bodyPr>
          <a:lstStyle/>
          <a:p>
            <a:pPr algn="r">
              <a:lnSpc>
                <a:spcPct val="114000"/>
              </a:lnSpc>
            </a:pPr>
            <a:fld id="{C51078C5-4710-4254-8001-F1C0900803FD}" type="slidenum">
              <a:rPr lang="de-DE" sz="1200" smtClean="0">
                <a:latin typeface="+mn-lt"/>
                <a:cs typeface="Arial" pitchFamily="34" charset="0"/>
              </a:rPr>
              <a:pPr algn="r">
                <a:lnSpc>
                  <a:spcPct val="114000"/>
                </a:lnSpc>
              </a:pPr>
              <a:t>‹#›</a:t>
            </a:fld>
            <a:endParaRPr lang="de-DE" sz="1200" dirty="0">
              <a:latin typeface="+mn-lt"/>
              <a:cs typeface="Arial" pitchFamily="34" charset="0"/>
            </a:endParaRPr>
          </a:p>
        </p:txBody>
      </p:sp>
      <p:pic>
        <p:nvPicPr>
          <p:cNvPr id="5" name="Bild 4" descr="Fahnen_HG.jpg"/>
          <p:cNvPicPr>
            <a:picLocks noChangeAspect="1"/>
          </p:cNvPicPr>
          <p:nvPr/>
        </p:nvPicPr>
        <p:blipFill>
          <a:blip r:embed="rId3" cstate="screen"/>
          <a:srcRect l="398" t="14167" b="10833"/>
          <a:stretch>
            <a:fillRect/>
          </a:stretch>
        </p:blipFill>
        <p:spPr>
          <a:xfrm>
            <a:off x="0" y="0"/>
            <a:ext cx="9144000" cy="5143500"/>
          </a:xfrm>
          <a:prstGeom prst="rect">
            <a:avLst/>
          </a:prstGeom>
        </p:spPr>
      </p:pic>
      <p:pic>
        <p:nvPicPr>
          <p:cNvPr id="7" name="Bild 6" descr="20150416 tum logo blau png final.png"/>
          <p:cNvPicPr>
            <a:picLocks noChangeAspect="1"/>
          </p:cNvPicPr>
          <p:nvPr/>
        </p:nvPicPr>
        <p:blipFill>
          <a:blip r:embed="rId4"/>
          <a:stretch>
            <a:fillRect/>
          </a:stretch>
        </p:blipFill>
        <p:spPr>
          <a:xfrm>
            <a:off x="8218800" y="324000"/>
            <a:ext cx="599513" cy="320288"/>
          </a:xfrm>
          <a:prstGeom prst="rect">
            <a:avLst/>
          </a:prstGeom>
        </p:spPr>
      </p:pic>
      <p:sp>
        <p:nvSpPr>
          <p:cNvPr id="8"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a:t>
            </a:fld>
            <a:endParaRPr lang="de-DE"/>
          </a:p>
        </p:txBody>
      </p:sp>
      <p:sp>
        <p:nvSpPr>
          <p:cNvPr id="10"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de-DE"/>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69"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tx1"/>
                </a:solidFill>
              </a:defRPr>
            </a:lvl1pPr>
          </a:lstStyle>
          <a:p>
            <a:fld id="{CE58CB1E-F828-4F11-99E0-327109AF9DA4}" type="slidenum">
              <a:rPr lang="de-DE" smtClean="0"/>
              <a:pPr/>
              <a:t>‹#›</a:t>
            </a:fld>
            <a:endParaRPr lang="de-DE" dirty="0"/>
          </a:p>
        </p:txBody>
      </p:sp>
      <p:sp>
        <p:nvSpPr>
          <p:cNvPr id="10"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tx1"/>
                </a:solidFill>
              </a:defRPr>
            </a:lvl1pPr>
          </a:lstStyle>
          <a:p>
            <a:r>
              <a:rPr lang="de-DE"/>
              <a:t>Dr. rer. nat. Erika Mustermann (TUM) | kann beliebig erweitert werden | Infos mit Strich trennen</a:t>
            </a:r>
            <a:endParaRPr lang="en-US" dirty="0"/>
          </a:p>
        </p:txBody>
      </p:sp>
      <p:pic>
        <p:nvPicPr>
          <p:cNvPr id="7" name="Bild 6" descr="20150416 tum logo blau png final.png"/>
          <p:cNvPicPr>
            <a:picLocks noChangeAspect="1"/>
          </p:cNvPicPr>
          <p:nvPr/>
        </p:nvPicPr>
        <p:blipFill>
          <a:blip r:embed="rId3"/>
          <a:stretch>
            <a:fillRect/>
          </a:stretch>
        </p:blipFill>
        <p:spPr>
          <a:xfrm>
            <a:off x="8218411" y="324000"/>
            <a:ext cx="604774" cy="318516"/>
          </a:xfrm>
          <a:prstGeom prst="rect">
            <a:avLst/>
          </a:prstGeom>
        </p:spPr>
      </p:pic>
      <p:sp>
        <p:nvSpPr>
          <p:cNvPr id="11" name="Textfeld 10"/>
          <p:cNvSpPr txBox="1"/>
          <p:nvPr userDrawn="1"/>
        </p:nvSpPr>
        <p:spPr>
          <a:xfrm>
            <a:off x="319506" y="321468"/>
            <a:ext cx="7160425" cy="346249"/>
          </a:xfrm>
          <a:prstGeom prst="rect">
            <a:avLst/>
          </a:prstGeom>
          <a:noFill/>
        </p:spPr>
        <p:txBody>
          <a:bodyPr wrap="square" lIns="0" tIns="0" rIns="0" bIns="0" rtlCol="0">
            <a:spAutoFit/>
          </a:bodyPr>
          <a:lstStyle/>
          <a:p>
            <a:pPr>
              <a:lnSpc>
                <a:spcPts val="900"/>
              </a:lnSpc>
            </a:pPr>
            <a:r>
              <a:rPr lang="de-DE" sz="800" dirty="0">
                <a:solidFill>
                  <a:schemeClr val="tx2"/>
                </a:solidFill>
                <a:latin typeface="+mn-lt"/>
              </a:rPr>
              <a:t>Lehrstuhl für Mustertechnik</a:t>
            </a:r>
          </a:p>
          <a:p>
            <a:pPr>
              <a:lnSpc>
                <a:spcPts val="900"/>
              </a:lnSpc>
            </a:pPr>
            <a:r>
              <a:rPr lang="de-DE" sz="800" dirty="0">
                <a:solidFill>
                  <a:schemeClr val="tx2"/>
                </a:solidFill>
                <a:latin typeface="+mn-lt"/>
              </a:rPr>
              <a:t>TUM</a:t>
            </a:r>
            <a:r>
              <a:rPr lang="de-DE" sz="800" baseline="0" dirty="0">
                <a:solidFill>
                  <a:schemeClr val="tx2"/>
                </a:solidFill>
                <a:latin typeface="+mn-lt"/>
              </a:rPr>
              <a:t> School </a:t>
            </a:r>
            <a:r>
              <a:rPr lang="de-DE" sz="800" baseline="0" dirty="0" err="1">
                <a:solidFill>
                  <a:schemeClr val="tx2"/>
                </a:solidFill>
                <a:latin typeface="+mn-lt"/>
              </a:rPr>
              <a:t>of</a:t>
            </a:r>
            <a:r>
              <a:rPr lang="de-DE" sz="800" dirty="0">
                <a:solidFill>
                  <a:schemeClr val="tx2"/>
                </a:solidFill>
                <a:latin typeface="+mn-lt"/>
              </a:rPr>
              <a:t> Musterverfahren</a:t>
            </a:r>
          </a:p>
          <a:p>
            <a:pPr>
              <a:lnSpc>
                <a:spcPts val="900"/>
              </a:lnSpc>
            </a:pPr>
            <a:r>
              <a:rPr lang="de-DE" sz="800" dirty="0">
                <a:solidFill>
                  <a:schemeClr val="tx2"/>
                </a:solidFill>
                <a:latin typeface="+mn-lt"/>
              </a:rPr>
              <a:t>Technische Universität</a:t>
            </a:r>
            <a:r>
              <a:rPr lang="de-DE" sz="800" baseline="0" dirty="0">
                <a:solidFill>
                  <a:schemeClr val="tx2"/>
                </a:solidFill>
                <a:latin typeface="+mn-lt"/>
              </a:rPr>
              <a:t> München</a:t>
            </a:r>
            <a:endParaRPr lang="de-DE" sz="800" dirty="0">
              <a:solidFill>
                <a:schemeClr val="tx2"/>
              </a:solidFill>
              <a:latin typeface="+mn-lt"/>
            </a:endParaRPr>
          </a:p>
        </p:txBody>
      </p:sp>
    </p:spTree>
  </p:cSld>
  <p:clrMap bg1="lt1" tx1="dk1" bg2="lt2" tx2="dk2" accent1="accent1" accent2="accent2" accent3="accent3" accent4="accent4" accent5="accent5" accent6="accent6" hlink="hlink" folHlink="folHlink"/>
  <p:sldLayoutIdLst>
    <p:sldLayoutId id="2147483675"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Bild 2" descr="20150416 tum logo blau png final.png"/>
          <p:cNvPicPr>
            <a:picLocks noChangeAspect="1"/>
          </p:cNvPicPr>
          <p:nvPr/>
        </p:nvPicPr>
        <p:blipFill>
          <a:blip r:embed="rId11"/>
          <a:stretch>
            <a:fillRect/>
          </a:stretch>
        </p:blipFill>
        <p:spPr>
          <a:xfrm>
            <a:off x="8218411" y="324000"/>
            <a:ext cx="604774" cy="318516"/>
          </a:xfrm>
          <a:prstGeom prst="rect">
            <a:avLst/>
          </a:prstGeom>
        </p:spPr>
      </p:pic>
      <p:sp>
        <p:nvSpPr>
          <p:cNvPr id="5" name="Foliennummernplatzhalter 4"/>
          <p:cNvSpPr>
            <a:spLocks noGrp="1"/>
          </p:cNvSpPr>
          <p:nvPr>
            <p:ph type="sldNum" sz="quarter" idx="4"/>
          </p:nvPr>
        </p:nvSpPr>
        <p:spPr>
          <a:xfrm>
            <a:off x="6774934" y="4854985"/>
            <a:ext cx="2052074" cy="273844"/>
          </a:xfrm>
          <a:prstGeom prst="rect">
            <a:avLst/>
          </a:prstGeom>
        </p:spPr>
        <p:txBody>
          <a:bodyPr vert="horz" lIns="0" tIns="45720" rIns="0" bIns="45720" rtlCol="0" anchor="ctr"/>
          <a:lstStyle>
            <a:lvl1pPr algn="r">
              <a:defRPr sz="1100">
                <a:solidFill>
                  <a:schemeClr val="tx1"/>
                </a:solidFill>
              </a:defRPr>
            </a:lvl1pPr>
          </a:lstStyle>
          <a:p>
            <a:fld id="{CE58CB1E-F828-4F11-99E0-327109AF9DA4}" type="slidenum">
              <a:rPr lang="de-DE" smtClean="0"/>
              <a:pPr/>
              <a:t>‹#›</a:t>
            </a:fld>
            <a:endParaRPr lang="de-DE" dirty="0"/>
          </a:p>
        </p:txBody>
      </p:sp>
      <p:sp>
        <p:nvSpPr>
          <p:cNvPr id="6"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tx1"/>
                </a:solidFill>
              </a:defRPr>
            </a:lvl1pPr>
          </a:lstStyle>
          <a:p>
            <a:r>
              <a:rPr lang="de-DE"/>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62" r:id="rId1"/>
    <p:sldLayoutId id="2147483654" r:id="rId2"/>
    <p:sldLayoutId id="2147483704" r:id="rId3"/>
    <p:sldLayoutId id="2147483657" r:id="rId4"/>
    <p:sldLayoutId id="2147483711" r:id="rId5"/>
    <p:sldLayoutId id="2147483703" r:id="rId6"/>
    <p:sldLayoutId id="2147483653" r:id="rId7"/>
    <p:sldLayoutId id="2147483656" r:id="rId8"/>
    <p:sldLayoutId id="2147483712" r:id="rId9"/>
  </p:sldLayoutIdLst>
  <p:hf hdr="0" dt="0"/>
  <p:txStyles>
    <p:titleStyle>
      <a:lvl1pPr algn="l" rtl="0" eaLnBrk="0" fontAlgn="base" hangingPunct="0">
        <a:lnSpc>
          <a:spcPct val="125000"/>
        </a:lnSpc>
        <a:spcBef>
          <a:spcPct val="0"/>
        </a:spcBef>
        <a:spcAft>
          <a:spcPct val="0"/>
        </a:spcAft>
        <a:defRPr sz="25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hteck 5"/>
          <p:cNvSpPr/>
          <p:nvPr/>
        </p:nvSpPr>
        <p:spPr bwMode="hidden">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pic>
        <p:nvPicPr>
          <p:cNvPr id="4" name="Bild 3" descr="20150416 tum logo blau png final.png"/>
          <p:cNvPicPr>
            <a:picLocks noChangeAspect="1"/>
          </p:cNvPicPr>
          <p:nvPr/>
        </p:nvPicPr>
        <p:blipFill>
          <a:blip r:embed="rId3"/>
          <a:stretch>
            <a:fillRect/>
          </a:stretch>
        </p:blipFill>
        <p:spPr bwMode="black">
          <a:xfrm>
            <a:off x="8218800" y="324000"/>
            <a:ext cx="599513" cy="320288"/>
          </a:xfrm>
          <a:prstGeom prst="rect">
            <a:avLst/>
          </a:prstGeom>
        </p:spPr>
      </p:pic>
      <p:sp>
        <p:nvSpPr>
          <p:cNvPr id="7"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a:t>
            </a:fld>
            <a:endParaRPr lang="de-DE" dirty="0"/>
          </a:p>
        </p:txBody>
      </p:sp>
      <p:sp>
        <p:nvSpPr>
          <p:cNvPr id="8"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de-DE"/>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85"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6"/>
          <p:cNvSpPr/>
          <p:nvPr/>
        </p:nvSpPr>
        <p:spPr bwMode="hidden">
          <a:xfrm>
            <a:off x="0" y="0"/>
            <a:ext cx="91440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solidFill>
                <a:schemeClr val="bg1"/>
              </a:solidFill>
            </a:endParaRPr>
          </a:p>
        </p:txBody>
      </p:sp>
      <p:pic>
        <p:nvPicPr>
          <p:cNvPr id="4" name="Bild 3" descr="20150416 tum logo blau png final.png"/>
          <p:cNvPicPr>
            <a:picLocks noChangeAspect="1"/>
          </p:cNvPicPr>
          <p:nvPr/>
        </p:nvPicPr>
        <p:blipFill>
          <a:blip r:embed="rId3"/>
          <a:stretch>
            <a:fillRect/>
          </a:stretch>
        </p:blipFill>
        <p:spPr bwMode="black">
          <a:xfrm>
            <a:off x="8218800" y="324000"/>
            <a:ext cx="599513" cy="320288"/>
          </a:xfrm>
          <a:prstGeom prst="rect">
            <a:avLst/>
          </a:prstGeom>
        </p:spPr>
      </p:pic>
      <p:sp>
        <p:nvSpPr>
          <p:cNvPr id="9"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a:t>
            </a:fld>
            <a:endParaRPr lang="de-DE" dirty="0"/>
          </a:p>
        </p:txBody>
      </p:sp>
      <p:sp>
        <p:nvSpPr>
          <p:cNvPr id="10"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de-DE"/>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98"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Ticketing &amp; Train Journey Management</a:t>
            </a:r>
          </a:p>
        </p:txBody>
      </p:sp>
      <p:sp>
        <p:nvSpPr>
          <p:cNvPr id="3" name="Content Placeholder 2"/>
          <p:cNvSpPr>
            <a:spLocks noGrp="1"/>
          </p:cNvSpPr>
          <p:nvPr>
            <p:ph idx="10"/>
          </p:nvPr>
        </p:nvSpPr>
        <p:spPr/>
        <p:txBody>
          <a:bodyPr/>
          <a:lstStyle/>
          <a:p>
            <a:pPr algn="l">
              <a:spcAft>
                <a:spcPts val="800"/>
              </a:spcAft>
            </a:pPr>
            <a:r>
              <a:rPr sz="1400" b="0">
                <a:solidFill>
                  <a:srgbClr val="0065BD"/>
                </a:solidFill>
                <a:latin typeface="Arial"/>
              </a:rPr>
              <a:t>Case Study C1 · ArchiTrain · Focus Area 1</a:t>
            </a:r>
          </a:p>
          <a:p>
            <a:pPr algn="l">
              <a:spcAft>
                <a:spcPts val="1400"/>
              </a:spcAft>
            </a:pPr>
            <a:r>
              <a:rPr sz="1200" b="0">
                <a:solidFill>
                  <a:srgbClr val="595959"/>
                </a:solidFill>
                <a:latin typeface="Arial"/>
              </a:rPr>
              <a:t>Abstract &amp; Detailed ArchiMate Model</a:t>
            </a:r>
          </a:p>
          <a:p>
            <a:pPr algn="l">
              <a:spcAft>
                <a:spcPts val="200"/>
              </a:spcAft>
            </a:pPr>
            <a:r>
              <a:rPr sz="1200" b="1">
                <a:solidFill>
                  <a:srgbClr val="000000"/>
                </a:solidFill>
                <a:latin typeface="Arial"/>
              </a:rPr>
              <a:t>Group C1F1G_</a:t>
            </a:r>
          </a:p>
          <a:p>
            <a:pPr algn="l">
              <a:spcAft>
                <a:spcPts val="200"/>
              </a:spcAft>
            </a:pPr>
            <a:r>
              <a:rPr sz="1100" b="0">
                <a:solidFill>
                  <a:srgbClr val="595959"/>
                </a:solidFill>
                <a:latin typeface="Arial"/>
              </a:rPr>
              <a:t>Team: Member 1 · Member 2 · Member 3 · …</a:t>
            </a:r>
          </a:p>
          <a:p>
            <a:pPr algn="l">
              <a:spcAft>
                <a:spcPts val="200"/>
              </a:spcAft>
            </a:pPr>
            <a:r>
              <a:rPr sz="1000" b="0">
                <a:solidFill>
                  <a:srgbClr val="8A939E"/>
                </a:solidFill>
                <a:latin typeface="Arial"/>
              </a:rPr>
              <a:t>TUM School CIT ·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17500" y="972000"/>
            <a:ext cx="8508999" cy="410369"/>
          </a:xfrm>
        </p:spPr>
        <p:txBody>
          <a:bodyPr/>
          <a:lstStyle/>
          <a:p>
            <a:r>
              <a:rPr sz="2000">
                <a:solidFill>
                  <a:srgbClr val="000000"/>
                </a:solidFill>
                <a:latin typeface="Arial"/>
              </a:rPr>
              <a:t>ArchiTrain: one architecture, three focus areas</a:t>
            </a:r>
          </a:p>
        </p:txBody>
      </p:sp>
      <p:sp>
        <p:nvSpPr>
          <p:cNvPr id="4" name="TextBox 3"/>
          <p:cNvSpPr txBox="1"/>
          <p:nvPr/>
        </p:nvSpPr>
        <p:spPr>
          <a:xfrm>
            <a:off x="480060" y="1463676"/>
            <a:ext cx="8183879" cy="685800"/>
          </a:xfrm>
          <a:prstGeom prst="rect">
            <a:avLst/>
          </a:prstGeom>
          <a:noFill/>
        </p:spPr>
        <p:txBody>
          <a:bodyPr wrap="square">
            <a:spAutoFit/>
          </a:bodyPr>
          <a:lstStyle/>
          <a:p>
            <a:pPr algn="l">
              <a:lnSpc>
                <a:spcPct val="118000"/>
              </a:lnSpc>
              <a:spcAft>
                <a:spcPts val="300"/>
              </a:spcAft>
            </a:pPr>
            <a:r>
              <a:rPr sz="1200" b="0" dirty="0">
                <a:solidFill>
                  <a:srgbClr val="262A30"/>
                </a:solidFill>
                <a:latin typeface="Arial"/>
              </a:rPr>
              <a:t>A modern transit enterprise. Passengers </a:t>
            </a:r>
            <a:r>
              <a:rPr sz="1200" b="1" dirty="0">
                <a:solidFill>
                  <a:srgbClr val="072A4A"/>
                </a:solidFill>
                <a:latin typeface="Arial"/>
              </a:rPr>
              <a:t>tap on / tap off</a:t>
            </a:r>
            <a:r>
              <a:rPr sz="1200" b="0" dirty="0">
                <a:solidFill>
                  <a:srgbClr val="262A30"/>
                </a:solidFill>
                <a:latin typeface="Arial"/>
              </a:rPr>
              <a:t> with a Go Card, mobile wallet or contactless bank card; the gate opens in under 400 </a:t>
            </a:r>
            <a:r>
              <a:rPr sz="1200" b="0" dirty="0" err="1">
                <a:solidFill>
                  <a:srgbClr val="262A30"/>
                </a:solidFill>
                <a:latin typeface="Arial"/>
              </a:rPr>
              <a:t>ms</a:t>
            </a:r>
            <a:r>
              <a:rPr sz="1200" b="0" dirty="0">
                <a:solidFill>
                  <a:srgbClr val="262A30"/>
                </a:solidFill>
                <a:latin typeface="Arial"/>
              </a:rPr>
              <a:t> — a single touch spanning hardware, networks, backend and payment.</a:t>
            </a:r>
          </a:p>
        </p:txBody>
      </p:sp>
      <p:sp>
        <p:nvSpPr>
          <p:cNvPr id="5" name="Rounded Rectangle 4"/>
          <p:cNvSpPr/>
          <p:nvPr/>
        </p:nvSpPr>
        <p:spPr>
          <a:xfrm>
            <a:off x="502920" y="2286000"/>
            <a:ext cx="2670048" cy="1828800"/>
          </a:xfrm>
          <a:prstGeom prst="roundRect">
            <a:avLst>
              <a:gd name="adj" fmla="val 7000"/>
            </a:avLst>
          </a:prstGeom>
          <a:solidFill>
            <a:srgbClr val="DCF0CD"/>
          </a:solidFill>
          <a:ln w="20320">
            <a:solidFill>
              <a:srgbClr val="7FA9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85883" y="2332038"/>
            <a:ext cx="2331720" cy="411480"/>
          </a:xfrm>
          <a:prstGeom prst="rect">
            <a:avLst/>
          </a:prstGeom>
          <a:noFill/>
        </p:spPr>
        <p:txBody>
          <a:bodyPr wrap="square">
            <a:spAutoFit/>
          </a:bodyPr>
          <a:lstStyle/>
          <a:p>
            <a:pPr algn="l">
              <a:spcAft>
                <a:spcPts val="300"/>
              </a:spcAft>
            </a:pPr>
            <a:r>
              <a:rPr sz="2000" b="1">
                <a:solidFill>
                  <a:srgbClr val="072A4A"/>
                </a:solidFill>
                <a:latin typeface="Arial"/>
              </a:rPr>
              <a:t>F1</a:t>
            </a:r>
          </a:p>
        </p:txBody>
      </p:sp>
      <p:sp>
        <p:nvSpPr>
          <p:cNvPr id="7" name="TextBox 6"/>
          <p:cNvSpPr txBox="1"/>
          <p:nvPr/>
        </p:nvSpPr>
        <p:spPr>
          <a:xfrm>
            <a:off x="685800" y="2889504"/>
            <a:ext cx="2331720" cy="640080"/>
          </a:xfrm>
          <a:prstGeom prst="rect">
            <a:avLst/>
          </a:prstGeom>
          <a:noFill/>
        </p:spPr>
        <p:txBody>
          <a:bodyPr wrap="square">
            <a:spAutoFit/>
          </a:bodyPr>
          <a:lstStyle/>
          <a:p>
            <a:pPr algn="l">
              <a:lnSpc>
                <a:spcPct val="104000"/>
              </a:lnSpc>
              <a:spcAft>
                <a:spcPts val="300"/>
              </a:spcAft>
            </a:pPr>
            <a:r>
              <a:rPr sz="1250" b="1">
                <a:solidFill>
                  <a:srgbClr val="262A30"/>
                </a:solidFill>
                <a:latin typeface="Arial"/>
              </a:rPr>
              <a:t>Ticketing &amp; Train
Journey Management</a:t>
            </a:r>
          </a:p>
        </p:txBody>
      </p:sp>
      <p:sp>
        <p:nvSpPr>
          <p:cNvPr id="8" name="TextBox 7"/>
          <p:cNvSpPr txBox="1"/>
          <p:nvPr/>
        </p:nvSpPr>
        <p:spPr>
          <a:xfrm>
            <a:off x="685800" y="3611880"/>
            <a:ext cx="2331720" cy="457200"/>
          </a:xfrm>
          <a:prstGeom prst="rect">
            <a:avLst/>
          </a:prstGeom>
          <a:noFill/>
        </p:spPr>
        <p:txBody>
          <a:bodyPr wrap="square">
            <a:spAutoFit/>
          </a:bodyPr>
          <a:lstStyle/>
          <a:p>
            <a:pPr algn="l">
              <a:lnSpc>
                <a:spcPct val="104000"/>
              </a:lnSpc>
              <a:spcAft>
                <a:spcPts val="300"/>
              </a:spcAft>
            </a:pPr>
            <a:r>
              <a:rPr sz="1000" b="0">
                <a:solidFill>
                  <a:srgbClr val="595959"/>
                </a:solidFill>
                <a:latin typeface="Arial"/>
              </a:rPr>
              <a:t>Fare settlement &amp; journey closure</a:t>
            </a:r>
          </a:p>
        </p:txBody>
      </p:sp>
      <p:sp>
        <p:nvSpPr>
          <p:cNvPr id="9" name="TextBox 8"/>
          <p:cNvSpPr txBox="1"/>
          <p:nvPr/>
        </p:nvSpPr>
        <p:spPr>
          <a:xfrm>
            <a:off x="685800" y="3858768"/>
            <a:ext cx="2331720" cy="274320"/>
          </a:xfrm>
          <a:prstGeom prst="rect">
            <a:avLst/>
          </a:prstGeom>
          <a:noFill/>
        </p:spPr>
        <p:txBody>
          <a:bodyPr wrap="square">
            <a:spAutoFit/>
          </a:bodyPr>
          <a:lstStyle/>
          <a:p>
            <a:pPr algn="l">
              <a:spcAft>
                <a:spcPts val="300"/>
              </a:spcAft>
            </a:pPr>
            <a:r>
              <a:rPr sz="1000" b="1">
                <a:solidFill>
                  <a:srgbClr val="C55A11"/>
                </a:solidFill>
                <a:latin typeface="Arial"/>
              </a:rPr>
              <a:t>◀ OUR FOCUS</a:t>
            </a:r>
          </a:p>
        </p:txBody>
      </p:sp>
      <p:sp>
        <p:nvSpPr>
          <p:cNvPr id="10" name="Rounded Rectangle 9"/>
          <p:cNvSpPr/>
          <p:nvPr/>
        </p:nvSpPr>
        <p:spPr>
          <a:xfrm>
            <a:off x="3291839" y="2286000"/>
            <a:ext cx="2670048" cy="1828800"/>
          </a:xfrm>
          <a:prstGeom prst="roundRect">
            <a:avLst>
              <a:gd name="adj" fmla="val 7000"/>
            </a:avLst>
          </a:prstGeom>
          <a:solidFill>
            <a:srgbClr val="DBEEF8"/>
          </a:solidFill>
          <a:ln w="12700">
            <a:solidFill>
              <a:srgbClr val="4E97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474720" y="2395728"/>
            <a:ext cx="2331720" cy="411480"/>
          </a:xfrm>
          <a:prstGeom prst="rect">
            <a:avLst/>
          </a:prstGeom>
          <a:noFill/>
        </p:spPr>
        <p:txBody>
          <a:bodyPr wrap="square">
            <a:spAutoFit/>
          </a:bodyPr>
          <a:lstStyle/>
          <a:p>
            <a:pPr algn="l">
              <a:spcAft>
                <a:spcPts val="300"/>
              </a:spcAft>
            </a:pPr>
            <a:r>
              <a:rPr sz="2000" b="1">
                <a:solidFill>
                  <a:srgbClr val="072A4A"/>
                </a:solidFill>
                <a:latin typeface="Arial"/>
              </a:rPr>
              <a:t>F2</a:t>
            </a:r>
          </a:p>
        </p:txBody>
      </p:sp>
      <p:sp>
        <p:nvSpPr>
          <p:cNvPr id="12" name="TextBox 11"/>
          <p:cNvSpPr txBox="1"/>
          <p:nvPr/>
        </p:nvSpPr>
        <p:spPr>
          <a:xfrm>
            <a:off x="3474720" y="2889504"/>
            <a:ext cx="2331720" cy="640080"/>
          </a:xfrm>
          <a:prstGeom prst="rect">
            <a:avLst/>
          </a:prstGeom>
          <a:noFill/>
        </p:spPr>
        <p:txBody>
          <a:bodyPr wrap="square">
            <a:spAutoFit/>
          </a:bodyPr>
          <a:lstStyle/>
          <a:p>
            <a:pPr algn="l">
              <a:lnSpc>
                <a:spcPct val="104000"/>
              </a:lnSpc>
              <a:spcAft>
                <a:spcPts val="300"/>
              </a:spcAft>
            </a:pPr>
            <a:r>
              <a:rPr sz="1250" b="1">
                <a:solidFill>
                  <a:srgbClr val="262A30"/>
                </a:solidFill>
                <a:latin typeface="Arial"/>
              </a:rPr>
              <a:t>Train Localization
&amp; Scheduling</a:t>
            </a:r>
          </a:p>
        </p:txBody>
      </p:sp>
      <p:sp>
        <p:nvSpPr>
          <p:cNvPr id="13" name="TextBox 12"/>
          <p:cNvSpPr txBox="1"/>
          <p:nvPr/>
        </p:nvSpPr>
        <p:spPr>
          <a:xfrm>
            <a:off x="3474720" y="3611880"/>
            <a:ext cx="2331720" cy="457200"/>
          </a:xfrm>
          <a:prstGeom prst="rect">
            <a:avLst/>
          </a:prstGeom>
          <a:noFill/>
        </p:spPr>
        <p:txBody>
          <a:bodyPr wrap="square">
            <a:spAutoFit/>
          </a:bodyPr>
          <a:lstStyle/>
          <a:p>
            <a:pPr algn="l">
              <a:lnSpc>
                <a:spcPct val="104000"/>
              </a:lnSpc>
              <a:spcAft>
                <a:spcPts val="300"/>
              </a:spcAft>
            </a:pPr>
            <a:r>
              <a:rPr sz="1000" b="0">
                <a:solidFill>
                  <a:srgbClr val="595959"/>
                </a:solidFill>
                <a:latin typeface="Arial"/>
              </a:rPr>
              <a:t>GPS + odometry + track reference points</a:t>
            </a:r>
          </a:p>
        </p:txBody>
      </p:sp>
      <p:sp>
        <p:nvSpPr>
          <p:cNvPr id="14" name="Rounded Rectangle 13"/>
          <p:cNvSpPr/>
          <p:nvPr/>
        </p:nvSpPr>
        <p:spPr>
          <a:xfrm>
            <a:off x="6080759" y="2286000"/>
            <a:ext cx="2670048" cy="1828800"/>
          </a:xfrm>
          <a:prstGeom prst="roundRect">
            <a:avLst>
              <a:gd name="adj" fmla="val 7000"/>
            </a:avLst>
          </a:prstGeom>
          <a:solidFill>
            <a:srgbClr val="FDF3C4"/>
          </a:solidFill>
          <a:ln w="1270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63640" y="2395728"/>
            <a:ext cx="2331720" cy="411480"/>
          </a:xfrm>
          <a:prstGeom prst="rect">
            <a:avLst/>
          </a:prstGeom>
          <a:noFill/>
        </p:spPr>
        <p:txBody>
          <a:bodyPr wrap="square">
            <a:spAutoFit/>
          </a:bodyPr>
          <a:lstStyle/>
          <a:p>
            <a:pPr algn="l">
              <a:spcAft>
                <a:spcPts val="300"/>
              </a:spcAft>
            </a:pPr>
            <a:r>
              <a:rPr sz="2000" b="1">
                <a:solidFill>
                  <a:srgbClr val="072A4A"/>
                </a:solidFill>
                <a:latin typeface="Arial"/>
              </a:rPr>
              <a:t>F3</a:t>
            </a:r>
          </a:p>
        </p:txBody>
      </p:sp>
      <p:sp>
        <p:nvSpPr>
          <p:cNvPr id="16" name="TextBox 15"/>
          <p:cNvSpPr txBox="1"/>
          <p:nvPr/>
        </p:nvSpPr>
        <p:spPr>
          <a:xfrm>
            <a:off x="6263640" y="2889504"/>
            <a:ext cx="2331720" cy="640080"/>
          </a:xfrm>
          <a:prstGeom prst="rect">
            <a:avLst/>
          </a:prstGeom>
          <a:noFill/>
        </p:spPr>
        <p:txBody>
          <a:bodyPr wrap="square">
            <a:spAutoFit/>
          </a:bodyPr>
          <a:lstStyle/>
          <a:p>
            <a:pPr algn="l">
              <a:lnSpc>
                <a:spcPct val="104000"/>
              </a:lnSpc>
              <a:spcAft>
                <a:spcPts val="300"/>
              </a:spcAft>
            </a:pPr>
            <a:r>
              <a:rPr sz="1250" b="1">
                <a:solidFill>
                  <a:srgbClr val="262A30"/>
                </a:solidFill>
                <a:latin typeface="Arial"/>
              </a:rPr>
              <a:t>Malfunction &amp;
Disruption Management</a:t>
            </a:r>
          </a:p>
        </p:txBody>
      </p:sp>
      <p:sp>
        <p:nvSpPr>
          <p:cNvPr id="17" name="TextBox 16"/>
          <p:cNvSpPr txBox="1"/>
          <p:nvPr/>
        </p:nvSpPr>
        <p:spPr>
          <a:xfrm>
            <a:off x="6263640" y="3611880"/>
            <a:ext cx="2331720" cy="457200"/>
          </a:xfrm>
          <a:prstGeom prst="rect">
            <a:avLst/>
          </a:prstGeom>
          <a:noFill/>
        </p:spPr>
        <p:txBody>
          <a:bodyPr wrap="square">
            <a:spAutoFit/>
          </a:bodyPr>
          <a:lstStyle/>
          <a:p>
            <a:pPr algn="l">
              <a:lnSpc>
                <a:spcPct val="104000"/>
              </a:lnSpc>
              <a:spcAft>
                <a:spcPts val="300"/>
              </a:spcAft>
            </a:pPr>
            <a:r>
              <a:rPr sz="1000" b="0">
                <a:solidFill>
                  <a:srgbClr val="595959"/>
                </a:solidFill>
                <a:latin typeface="Arial"/>
              </a:rPr>
              <a:t>Threshold detection → human handover</a:t>
            </a:r>
          </a:p>
        </p:txBody>
      </p:sp>
      <p:sp>
        <p:nvSpPr>
          <p:cNvPr id="18" name="TextBox 17"/>
          <p:cNvSpPr txBox="1"/>
          <p:nvPr/>
        </p:nvSpPr>
        <p:spPr>
          <a:xfrm>
            <a:off x="502920" y="4261104"/>
            <a:ext cx="8183879" cy="365760"/>
          </a:xfrm>
          <a:prstGeom prst="rect">
            <a:avLst/>
          </a:prstGeom>
          <a:noFill/>
        </p:spPr>
        <p:txBody>
          <a:bodyPr wrap="square">
            <a:spAutoFit/>
          </a:bodyPr>
          <a:lstStyle/>
          <a:p>
            <a:pPr algn="l">
              <a:spcAft>
                <a:spcPts val="300"/>
              </a:spcAft>
            </a:pPr>
            <a:r>
              <a:rPr sz="950" b="0" dirty="0">
                <a:solidFill>
                  <a:srgbClr val="8A939E"/>
                </a:solidFill>
                <a:latin typeface="Arial"/>
              </a:rPr>
              <a:t>Material: Sequence Diagram · Interviews (Dr. Marcus Chen · Elena Vasquez · Sarah Mitchell) · Incident Report</a:t>
            </a:r>
          </a:p>
        </p:txBody>
      </p:sp>
      <p:sp>
        <p:nvSpPr>
          <p:cNvPr id="2" name="文本框 1">
            <a:extLst>
              <a:ext uri="{FF2B5EF4-FFF2-40B4-BE49-F238E27FC236}">
                <a16:creationId xmlns:a16="http://schemas.microsoft.com/office/drawing/2014/main" id="{66A321A0-1E26-CCFE-3461-3AEDB59D266B}"/>
              </a:ext>
            </a:extLst>
          </p:cNvPr>
          <p:cNvSpPr txBox="1"/>
          <p:nvPr/>
        </p:nvSpPr>
        <p:spPr>
          <a:xfrm>
            <a:off x="480059" y="2332038"/>
            <a:ext cx="2670048" cy="1782762"/>
          </a:xfrm>
          <a:prstGeom prst="rect">
            <a:avLst/>
          </a:prstGeom>
          <a:noFill/>
          <a:ln w="76200">
            <a:solidFill>
              <a:srgbClr val="C00000"/>
            </a:solidFill>
          </a:ln>
        </p:spPr>
        <p:txBody>
          <a:bodyPr wrap="square" lIns="0" tIns="0" rIns="0" bIns="0" rtlCol="0">
            <a:spAutoFit/>
          </a:bodyPr>
          <a:lstStyle/>
          <a:p>
            <a:pPr>
              <a:lnSpc>
                <a:spcPct val="114000"/>
              </a:lnSpc>
            </a:pPr>
            <a:endParaRPr lang="zh-CN" altLang="en-US" sz="1600" dirty="0" err="1">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66828BA0-6D3C-5BEE-DA80-265AEDF3C803}"/>
              </a:ext>
            </a:extLst>
          </p:cNvPr>
          <p:cNvSpPr>
            <a:spLocks noGrp="1"/>
          </p:cNvSpPr>
          <p:nvPr>
            <p:ph idx="1"/>
          </p:nvPr>
        </p:nvSpPr>
        <p:spPr/>
        <p:txBody>
          <a:bodyPr/>
          <a:lstStyle/>
          <a:p>
            <a:endParaRPr lang="zh-CN" altLang="en-US"/>
          </a:p>
        </p:txBody>
      </p:sp>
      <p:sp>
        <p:nvSpPr>
          <p:cNvPr id="3" name="标题 2">
            <a:extLst>
              <a:ext uri="{FF2B5EF4-FFF2-40B4-BE49-F238E27FC236}">
                <a16:creationId xmlns:a16="http://schemas.microsoft.com/office/drawing/2014/main" id="{272292D1-B449-3684-D260-09CB824EEEC7}"/>
              </a:ext>
            </a:extLst>
          </p:cNvPr>
          <p:cNvSpPr>
            <a:spLocks noGrp="1"/>
          </p:cNvSpPr>
          <p:nvPr>
            <p:ph type="title"/>
          </p:nvPr>
        </p:nvSpPr>
        <p:spPr>
          <a:xfrm>
            <a:off x="319090" y="972000"/>
            <a:ext cx="8508999" cy="380810"/>
          </a:xfrm>
        </p:spPr>
        <p:txBody>
          <a:bodyPr/>
          <a:lstStyle/>
          <a:p>
            <a:r>
              <a:rPr lang="en-US" altLang="zh-CN" dirty="0"/>
              <a:t>Our EAM Team</a:t>
            </a:r>
            <a:endParaRPr lang="zh-CN" altLang="en-US" dirty="0"/>
          </a:p>
        </p:txBody>
      </p:sp>
      <p:sp>
        <p:nvSpPr>
          <p:cNvPr id="4" name="灯片编号占位符 3">
            <a:extLst>
              <a:ext uri="{FF2B5EF4-FFF2-40B4-BE49-F238E27FC236}">
                <a16:creationId xmlns:a16="http://schemas.microsoft.com/office/drawing/2014/main" id="{6C246377-9D20-6D77-F1C0-745A5ED37ABF}"/>
              </a:ext>
            </a:extLst>
          </p:cNvPr>
          <p:cNvSpPr>
            <a:spLocks noGrp="1"/>
          </p:cNvSpPr>
          <p:nvPr>
            <p:ph type="sldNum" sz="quarter" idx="11"/>
          </p:nvPr>
        </p:nvSpPr>
        <p:spPr/>
        <p:txBody>
          <a:bodyPr/>
          <a:lstStyle/>
          <a:p>
            <a:fld id="{CE58CB1E-F828-4F11-99E0-327109AF9DA4}" type="slidenum">
              <a:rPr lang="de-DE" smtClean="0"/>
              <a:pPr/>
              <a:t>3</a:t>
            </a:fld>
            <a:endParaRPr lang="de-DE" dirty="0"/>
          </a:p>
        </p:txBody>
      </p:sp>
      <p:sp>
        <p:nvSpPr>
          <p:cNvPr id="5" name="页脚占位符 4">
            <a:extLst>
              <a:ext uri="{FF2B5EF4-FFF2-40B4-BE49-F238E27FC236}">
                <a16:creationId xmlns:a16="http://schemas.microsoft.com/office/drawing/2014/main" id="{1493C8A7-14AA-263C-9E95-33B2F6B16FC8}"/>
              </a:ext>
            </a:extLst>
          </p:cNvPr>
          <p:cNvSpPr>
            <a:spLocks noGrp="1"/>
          </p:cNvSpPr>
          <p:nvPr>
            <p:ph type="ftr" sz="quarter" idx="12"/>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4384931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   Abstract Model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2000">
                <a:solidFill>
                  <a:srgbClr val="000000"/>
                </a:solidFill>
                <a:latin typeface="Arial"/>
              </a:rPr>
              <a:t>Abstract model: three domains × three layers</a:t>
            </a:r>
          </a:p>
        </p:txBody>
      </p:sp>
      <p:sp>
        <p:nvSpPr>
          <p:cNvPr id="4" name="Rectangle 3"/>
          <p:cNvSpPr/>
          <p:nvPr/>
        </p:nvSpPr>
        <p:spPr>
          <a:xfrm>
            <a:off x="502920" y="1481328"/>
            <a:ext cx="960120" cy="310896"/>
          </a:xfrm>
          <a:prstGeom prst="rect">
            <a:avLst/>
          </a:prstGeom>
          <a:solidFill>
            <a:srgbClr val="07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536192"/>
            <a:ext cx="960120" cy="274320"/>
          </a:xfrm>
          <a:prstGeom prst="rect">
            <a:avLst/>
          </a:prstGeom>
          <a:noFill/>
        </p:spPr>
        <p:txBody>
          <a:bodyPr wrap="square">
            <a:spAutoFit/>
          </a:bodyPr>
          <a:lstStyle/>
          <a:p>
            <a:pPr algn="ctr">
              <a:spcAft>
                <a:spcPts val="300"/>
              </a:spcAft>
            </a:pPr>
            <a:r>
              <a:rPr sz="900" b="1" dirty="0">
                <a:solidFill>
                  <a:srgbClr val="FFFFFF"/>
                </a:solidFill>
                <a:latin typeface="Arial"/>
              </a:rPr>
              <a:t>Layer</a:t>
            </a:r>
          </a:p>
        </p:txBody>
      </p:sp>
      <p:sp>
        <p:nvSpPr>
          <p:cNvPr id="6" name="Rectangle 5"/>
          <p:cNvSpPr/>
          <p:nvPr/>
        </p:nvSpPr>
        <p:spPr>
          <a:xfrm>
            <a:off x="1463040" y="1481328"/>
            <a:ext cx="2407920" cy="310896"/>
          </a:xfrm>
          <a:prstGeom prst="rect">
            <a:avLst/>
          </a:prstGeom>
          <a:solidFill>
            <a:srgbClr val="07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499616" y="1536192"/>
            <a:ext cx="2334768" cy="274320"/>
          </a:xfrm>
          <a:prstGeom prst="rect">
            <a:avLst/>
          </a:prstGeom>
          <a:noFill/>
        </p:spPr>
        <p:txBody>
          <a:bodyPr wrap="square">
            <a:spAutoFit/>
          </a:bodyPr>
          <a:lstStyle/>
          <a:p>
            <a:pPr algn="ctr">
              <a:spcAft>
                <a:spcPts val="300"/>
              </a:spcAft>
            </a:pPr>
            <a:r>
              <a:rPr sz="850" b="1">
                <a:solidFill>
                  <a:srgbClr val="FFFFFF"/>
                </a:solidFill>
                <a:latin typeface="Arial"/>
              </a:rPr>
              <a:t>F1  Ticketing &amp; Journey</a:t>
            </a:r>
          </a:p>
        </p:txBody>
      </p:sp>
      <p:sp>
        <p:nvSpPr>
          <p:cNvPr id="8" name="Rectangle 7"/>
          <p:cNvSpPr/>
          <p:nvPr/>
        </p:nvSpPr>
        <p:spPr>
          <a:xfrm>
            <a:off x="3870960" y="1481328"/>
            <a:ext cx="2407920" cy="310896"/>
          </a:xfrm>
          <a:prstGeom prst="rect">
            <a:avLst/>
          </a:prstGeom>
          <a:solidFill>
            <a:srgbClr val="07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907536" y="1536192"/>
            <a:ext cx="2334768" cy="274320"/>
          </a:xfrm>
          <a:prstGeom prst="rect">
            <a:avLst/>
          </a:prstGeom>
          <a:noFill/>
        </p:spPr>
        <p:txBody>
          <a:bodyPr wrap="square">
            <a:spAutoFit/>
          </a:bodyPr>
          <a:lstStyle/>
          <a:p>
            <a:pPr algn="ctr">
              <a:spcAft>
                <a:spcPts val="300"/>
              </a:spcAft>
            </a:pPr>
            <a:r>
              <a:rPr sz="850" b="1">
                <a:solidFill>
                  <a:srgbClr val="FFFFFF"/>
                </a:solidFill>
                <a:latin typeface="Arial"/>
              </a:rPr>
              <a:t>F2  Train Localization</a:t>
            </a:r>
          </a:p>
        </p:txBody>
      </p:sp>
      <p:sp>
        <p:nvSpPr>
          <p:cNvPr id="10" name="Rectangle 9"/>
          <p:cNvSpPr/>
          <p:nvPr/>
        </p:nvSpPr>
        <p:spPr>
          <a:xfrm>
            <a:off x="6278880" y="1481328"/>
            <a:ext cx="2407920" cy="310896"/>
          </a:xfrm>
          <a:prstGeom prst="rect">
            <a:avLst/>
          </a:prstGeom>
          <a:solidFill>
            <a:srgbClr val="07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15456" y="1536192"/>
            <a:ext cx="2334768" cy="274320"/>
          </a:xfrm>
          <a:prstGeom prst="rect">
            <a:avLst/>
          </a:prstGeom>
          <a:noFill/>
        </p:spPr>
        <p:txBody>
          <a:bodyPr wrap="square">
            <a:spAutoFit/>
          </a:bodyPr>
          <a:lstStyle/>
          <a:p>
            <a:pPr algn="ctr">
              <a:spcAft>
                <a:spcPts val="300"/>
              </a:spcAft>
            </a:pPr>
            <a:r>
              <a:rPr sz="850" b="1">
                <a:solidFill>
                  <a:srgbClr val="FFFFFF"/>
                </a:solidFill>
                <a:latin typeface="Arial"/>
              </a:rPr>
              <a:t>F3  Disruption Mgmt</a:t>
            </a:r>
          </a:p>
        </p:txBody>
      </p:sp>
      <p:sp>
        <p:nvSpPr>
          <p:cNvPr id="12" name="Rectangle 11"/>
          <p:cNvSpPr/>
          <p:nvPr/>
        </p:nvSpPr>
        <p:spPr>
          <a:xfrm>
            <a:off x="502920" y="1792224"/>
            <a:ext cx="960120" cy="86868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2061972"/>
            <a:ext cx="960120" cy="365760"/>
          </a:xfrm>
          <a:prstGeom prst="rect">
            <a:avLst/>
          </a:prstGeom>
          <a:noFill/>
        </p:spPr>
        <p:txBody>
          <a:bodyPr wrap="square">
            <a:spAutoFit/>
          </a:bodyPr>
          <a:lstStyle/>
          <a:p>
            <a:pPr algn="ctr">
              <a:spcAft>
                <a:spcPts val="300"/>
              </a:spcAft>
            </a:pPr>
            <a:r>
              <a:rPr sz="950" b="1">
                <a:solidFill>
                  <a:srgbClr val="FFFFFF"/>
                </a:solidFill>
                <a:latin typeface="Arial"/>
              </a:rPr>
              <a:t>Business</a:t>
            </a:r>
          </a:p>
        </p:txBody>
      </p:sp>
      <p:sp>
        <p:nvSpPr>
          <p:cNvPr id="14" name="Rectangle 13"/>
          <p:cNvSpPr/>
          <p:nvPr/>
        </p:nvSpPr>
        <p:spPr>
          <a:xfrm>
            <a:off x="1463040" y="1792224"/>
            <a:ext cx="2407920" cy="868680"/>
          </a:xfrm>
          <a:prstGeom prst="rect">
            <a:avLst/>
          </a:prstGeom>
          <a:solidFill>
            <a:srgbClr val="FDF3C4"/>
          </a:solidFill>
          <a:ln w="635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536192" y="1865376"/>
            <a:ext cx="2261616" cy="758952"/>
          </a:xfrm>
          <a:prstGeom prst="rect">
            <a:avLst/>
          </a:prstGeom>
          <a:noFill/>
        </p:spPr>
        <p:txBody>
          <a:bodyPr wrap="square">
            <a:spAutoFit/>
          </a:bodyPr>
          <a:lstStyle/>
          <a:p>
            <a:pPr algn="l">
              <a:lnSpc>
                <a:spcPct val="105000"/>
              </a:lnSpc>
              <a:spcAft>
                <a:spcPts val="300"/>
              </a:spcAft>
            </a:pPr>
            <a:r>
              <a:rPr sz="780" b="0" dirty="0">
                <a:solidFill>
                  <a:srgbClr val="262A30"/>
                </a:solidFill>
                <a:latin typeface="Arial"/>
              </a:rPr>
              <a:t>Passenger · Customer Support
Handle Journeys &amp; Fares
→ Ticketing &amp; Fare Service</a:t>
            </a:r>
          </a:p>
        </p:txBody>
      </p:sp>
      <p:sp>
        <p:nvSpPr>
          <p:cNvPr id="16" name="Rectangle 15"/>
          <p:cNvSpPr/>
          <p:nvPr/>
        </p:nvSpPr>
        <p:spPr>
          <a:xfrm>
            <a:off x="3870960" y="1792224"/>
            <a:ext cx="2407920" cy="868680"/>
          </a:xfrm>
          <a:prstGeom prst="rect">
            <a:avLst/>
          </a:prstGeom>
          <a:solidFill>
            <a:srgbClr val="FDF3C4"/>
          </a:solidFill>
          <a:ln w="635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44112" y="1865376"/>
            <a:ext cx="2261616" cy="758952"/>
          </a:xfrm>
          <a:prstGeom prst="rect">
            <a:avLst/>
          </a:prstGeom>
          <a:noFill/>
        </p:spPr>
        <p:txBody>
          <a:bodyPr wrap="square">
            <a:spAutoFit/>
          </a:bodyPr>
          <a:lstStyle/>
          <a:p>
            <a:pPr algn="l">
              <a:lnSpc>
                <a:spcPct val="105000"/>
              </a:lnSpc>
              <a:spcAft>
                <a:spcPts val="300"/>
              </a:spcAft>
            </a:pPr>
            <a:r>
              <a:rPr sz="780" b="0">
                <a:solidFill>
                  <a:srgbClr val="262A30"/>
                </a:solidFill>
                <a:latin typeface="Arial"/>
              </a:rPr>
              <a:t>Operations Controller · Train Operator
Localize &amp; Monitor Trains
→ Train Operation &amp; Tracking</a:t>
            </a:r>
          </a:p>
        </p:txBody>
      </p:sp>
      <p:sp>
        <p:nvSpPr>
          <p:cNvPr id="18" name="Rectangle 17"/>
          <p:cNvSpPr/>
          <p:nvPr/>
        </p:nvSpPr>
        <p:spPr>
          <a:xfrm>
            <a:off x="6278880" y="1792224"/>
            <a:ext cx="2407920" cy="868680"/>
          </a:xfrm>
          <a:prstGeom prst="rect">
            <a:avLst/>
          </a:prstGeom>
          <a:solidFill>
            <a:srgbClr val="FDF3C4"/>
          </a:solidFill>
          <a:ln w="635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52032" y="1865376"/>
            <a:ext cx="2261616" cy="758952"/>
          </a:xfrm>
          <a:prstGeom prst="rect">
            <a:avLst/>
          </a:prstGeom>
          <a:noFill/>
        </p:spPr>
        <p:txBody>
          <a:bodyPr wrap="square">
            <a:spAutoFit/>
          </a:bodyPr>
          <a:lstStyle/>
          <a:p>
            <a:pPr algn="l">
              <a:lnSpc>
                <a:spcPct val="105000"/>
              </a:lnSpc>
              <a:spcAft>
                <a:spcPts val="300"/>
              </a:spcAft>
            </a:pPr>
            <a:r>
              <a:rPr sz="780" b="0">
                <a:solidFill>
                  <a:srgbClr val="262A30"/>
                </a:solidFill>
                <a:latin typeface="Arial"/>
              </a:rPr>
              <a:t>Malfunction Mgmt (collaboration)
Handle Delays &amp; Disruptions
→ Passenger Information Service</a:t>
            </a:r>
          </a:p>
        </p:txBody>
      </p:sp>
      <p:sp>
        <p:nvSpPr>
          <p:cNvPr id="20" name="Rectangle 19"/>
          <p:cNvSpPr/>
          <p:nvPr/>
        </p:nvSpPr>
        <p:spPr>
          <a:xfrm>
            <a:off x="502920" y="2660904"/>
            <a:ext cx="960120" cy="868680"/>
          </a:xfrm>
          <a:prstGeom prst="rect">
            <a:avLst/>
          </a:prstGeom>
          <a:solidFill>
            <a:srgbClr val="4E9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2920" y="2930652"/>
            <a:ext cx="960120" cy="365760"/>
          </a:xfrm>
          <a:prstGeom prst="rect">
            <a:avLst/>
          </a:prstGeom>
          <a:noFill/>
        </p:spPr>
        <p:txBody>
          <a:bodyPr wrap="square">
            <a:spAutoFit/>
          </a:bodyPr>
          <a:lstStyle/>
          <a:p>
            <a:pPr algn="ctr">
              <a:spcAft>
                <a:spcPts val="300"/>
              </a:spcAft>
            </a:pPr>
            <a:r>
              <a:rPr sz="950" b="1">
                <a:solidFill>
                  <a:srgbClr val="FFFFFF"/>
                </a:solidFill>
                <a:latin typeface="Arial"/>
              </a:rPr>
              <a:t>Application</a:t>
            </a:r>
          </a:p>
        </p:txBody>
      </p:sp>
      <p:sp>
        <p:nvSpPr>
          <p:cNvPr id="22" name="Rectangle 21"/>
          <p:cNvSpPr/>
          <p:nvPr/>
        </p:nvSpPr>
        <p:spPr>
          <a:xfrm>
            <a:off x="1463040" y="2660904"/>
            <a:ext cx="2407920" cy="868680"/>
          </a:xfrm>
          <a:prstGeom prst="rect">
            <a:avLst/>
          </a:prstGeom>
          <a:solidFill>
            <a:srgbClr val="DBEEF8"/>
          </a:solidFill>
          <a:ln w="635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536192" y="2734056"/>
            <a:ext cx="2261616" cy="758952"/>
          </a:xfrm>
          <a:prstGeom prst="rect">
            <a:avLst/>
          </a:prstGeom>
          <a:noFill/>
        </p:spPr>
        <p:txBody>
          <a:bodyPr wrap="square">
            <a:spAutoFit/>
          </a:bodyPr>
          <a:lstStyle/>
          <a:p>
            <a:pPr algn="l">
              <a:lnSpc>
                <a:spcPct val="105000"/>
              </a:lnSpc>
              <a:spcAft>
                <a:spcPts val="300"/>
              </a:spcAft>
            </a:pPr>
            <a:r>
              <a:rPr sz="780" b="0">
                <a:solidFill>
                  <a:srgbClr val="262A30"/>
                </a:solidFill>
                <a:latin typeface="Arial"/>
              </a:rPr>
              <a:t>Access Control Mgmt · JAMS
Fare Management System · Website</a:t>
            </a:r>
          </a:p>
        </p:txBody>
      </p:sp>
      <p:sp>
        <p:nvSpPr>
          <p:cNvPr id="24" name="Rectangle 23"/>
          <p:cNvSpPr/>
          <p:nvPr/>
        </p:nvSpPr>
        <p:spPr>
          <a:xfrm>
            <a:off x="3870960" y="2660904"/>
            <a:ext cx="2407920" cy="868680"/>
          </a:xfrm>
          <a:prstGeom prst="rect">
            <a:avLst/>
          </a:prstGeom>
          <a:solidFill>
            <a:srgbClr val="DBEEF8"/>
          </a:solidFill>
          <a:ln w="635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44112" y="2734056"/>
            <a:ext cx="2261616" cy="758952"/>
          </a:xfrm>
          <a:prstGeom prst="rect">
            <a:avLst/>
          </a:prstGeom>
          <a:noFill/>
        </p:spPr>
        <p:txBody>
          <a:bodyPr wrap="square">
            <a:spAutoFit/>
          </a:bodyPr>
          <a:lstStyle/>
          <a:p>
            <a:pPr algn="l">
              <a:lnSpc>
                <a:spcPct val="105000"/>
              </a:lnSpc>
              <a:spcAft>
                <a:spcPts val="300"/>
              </a:spcAft>
            </a:pPr>
            <a:r>
              <a:rPr sz="780" b="0">
                <a:solidFill>
                  <a:srgbClr val="262A30"/>
                </a:solidFill>
                <a:latin typeface="Arial"/>
              </a:rPr>
              <a:t>LCCU Control Software
Operational Control Center</a:t>
            </a:r>
          </a:p>
        </p:txBody>
      </p:sp>
      <p:sp>
        <p:nvSpPr>
          <p:cNvPr id="26" name="Rectangle 25"/>
          <p:cNvSpPr/>
          <p:nvPr/>
        </p:nvSpPr>
        <p:spPr>
          <a:xfrm>
            <a:off x="6278880" y="2660904"/>
            <a:ext cx="2407920" cy="868680"/>
          </a:xfrm>
          <a:prstGeom prst="rect">
            <a:avLst/>
          </a:prstGeom>
          <a:solidFill>
            <a:srgbClr val="DBEEF8"/>
          </a:solidFill>
          <a:ln w="635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52032" y="2734056"/>
            <a:ext cx="2261616" cy="758952"/>
          </a:xfrm>
          <a:prstGeom prst="rect">
            <a:avLst/>
          </a:prstGeom>
          <a:noFill/>
        </p:spPr>
        <p:txBody>
          <a:bodyPr wrap="square">
            <a:spAutoFit/>
          </a:bodyPr>
          <a:lstStyle/>
          <a:p>
            <a:pPr algn="l">
              <a:lnSpc>
                <a:spcPct val="105000"/>
              </a:lnSpc>
              <a:spcAft>
                <a:spcPts val="300"/>
              </a:spcAft>
            </a:pPr>
            <a:r>
              <a:rPr sz="780" b="0">
                <a:solidFill>
                  <a:srgbClr val="262A30"/>
                </a:solidFill>
                <a:latin typeface="Arial"/>
              </a:rPr>
              <a:t>Disruption Handling System
(OCC + PIS + TMS)</a:t>
            </a:r>
          </a:p>
        </p:txBody>
      </p:sp>
      <p:sp>
        <p:nvSpPr>
          <p:cNvPr id="28" name="Rectangle 27"/>
          <p:cNvSpPr/>
          <p:nvPr/>
        </p:nvSpPr>
        <p:spPr>
          <a:xfrm>
            <a:off x="502920" y="3529584"/>
            <a:ext cx="960120" cy="868680"/>
          </a:xfrm>
          <a:prstGeom prst="rect">
            <a:avLst/>
          </a:prstGeom>
          <a:solidFill>
            <a:srgbClr val="7FA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02920" y="3799332"/>
            <a:ext cx="960120" cy="365760"/>
          </a:xfrm>
          <a:prstGeom prst="rect">
            <a:avLst/>
          </a:prstGeom>
          <a:noFill/>
        </p:spPr>
        <p:txBody>
          <a:bodyPr wrap="square">
            <a:spAutoFit/>
          </a:bodyPr>
          <a:lstStyle/>
          <a:p>
            <a:pPr algn="ctr">
              <a:spcAft>
                <a:spcPts val="300"/>
              </a:spcAft>
            </a:pPr>
            <a:r>
              <a:rPr sz="950" b="1">
                <a:solidFill>
                  <a:srgbClr val="FFFFFF"/>
                </a:solidFill>
                <a:latin typeface="Arial"/>
              </a:rPr>
              <a:t>Technology</a:t>
            </a:r>
          </a:p>
        </p:txBody>
      </p:sp>
      <p:sp>
        <p:nvSpPr>
          <p:cNvPr id="30" name="Rectangle 29"/>
          <p:cNvSpPr/>
          <p:nvPr/>
        </p:nvSpPr>
        <p:spPr>
          <a:xfrm>
            <a:off x="1463040" y="3529584"/>
            <a:ext cx="2407920" cy="868680"/>
          </a:xfrm>
          <a:prstGeom prst="rect">
            <a:avLst/>
          </a:prstGeom>
          <a:solidFill>
            <a:srgbClr val="DCF0CD"/>
          </a:solidFill>
          <a:ln w="635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536192" y="3602736"/>
            <a:ext cx="2261616" cy="758952"/>
          </a:xfrm>
          <a:prstGeom prst="rect">
            <a:avLst/>
          </a:prstGeom>
          <a:noFill/>
        </p:spPr>
        <p:txBody>
          <a:bodyPr wrap="square">
            <a:spAutoFit/>
          </a:bodyPr>
          <a:lstStyle/>
          <a:p>
            <a:pPr algn="l">
              <a:lnSpc>
                <a:spcPct val="105000"/>
              </a:lnSpc>
              <a:spcAft>
                <a:spcPts val="300"/>
              </a:spcAft>
            </a:pPr>
            <a:r>
              <a:rPr sz="780" b="0">
                <a:solidFill>
                  <a:srgbClr val="262A30"/>
                </a:solidFill>
                <a:latin typeface="Arial"/>
              </a:rPr>
              <a:t>Station Infrastructure · App Server
Journey &amp; Account Mgmt Backend</a:t>
            </a:r>
          </a:p>
        </p:txBody>
      </p:sp>
      <p:sp>
        <p:nvSpPr>
          <p:cNvPr id="32" name="Rectangle 31"/>
          <p:cNvSpPr/>
          <p:nvPr/>
        </p:nvSpPr>
        <p:spPr>
          <a:xfrm>
            <a:off x="3870960" y="3529584"/>
            <a:ext cx="2407920" cy="868680"/>
          </a:xfrm>
          <a:prstGeom prst="rect">
            <a:avLst/>
          </a:prstGeom>
          <a:solidFill>
            <a:srgbClr val="DCF0CD"/>
          </a:solidFill>
          <a:ln w="635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944112" y="3602736"/>
            <a:ext cx="2261616" cy="758952"/>
          </a:xfrm>
          <a:prstGeom prst="rect">
            <a:avLst/>
          </a:prstGeom>
          <a:noFill/>
        </p:spPr>
        <p:txBody>
          <a:bodyPr wrap="square">
            <a:spAutoFit/>
          </a:bodyPr>
          <a:lstStyle/>
          <a:p>
            <a:pPr algn="l">
              <a:lnSpc>
                <a:spcPct val="105000"/>
              </a:lnSpc>
              <a:spcAft>
                <a:spcPts val="300"/>
              </a:spcAft>
            </a:pPr>
            <a:r>
              <a:rPr sz="780" b="0">
                <a:solidFill>
                  <a:srgbClr val="262A30"/>
                </a:solidFill>
                <a:latin typeface="Arial"/>
              </a:rPr>
              <a:t>LCCU · Central Railway Backend
Railway Radio</a:t>
            </a:r>
          </a:p>
        </p:txBody>
      </p:sp>
      <p:sp>
        <p:nvSpPr>
          <p:cNvPr id="34" name="Rectangle 33"/>
          <p:cNvSpPr/>
          <p:nvPr/>
        </p:nvSpPr>
        <p:spPr>
          <a:xfrm>
            <a:off x="6278880" y="3529584"/>
            <a:ext cx="2407920" cy="868680"/>
          </a:xfrm>
          <a:prstGeom prst="rect">
            <a:avLst/>
          </a:prstGeom>
          <a:solidFill>
            <a:srgbClr val="DCF0CD"/>
          </a:solidFill>
          <a:ln w="635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352032" y="3602736"/>
            <a:ext cx="2261616" cy="758952"/>
          </a:xfrm>
          <a:prstGeom prst="rect">
            <a:avLst/>
          </a:prstGeom>
          <a:noFill/>
        </p:spPr>
        <p:txBody>
          <a:bodyPr wrap="square">
            <a:spAutoFit/>
          </a:bodyPr>
          <a:lstStyle/>
          <a:p>
            <a:pPr algn="l">
              <a:lnSpc>
                <a:spcPct val="105000"/>
              </a:lnSpc>
              <a:spcAft>
                <a:spcPts val="300"/>
              </a:spcAft>
            </a:pPr>
            <a:r>
              <a:rPr sz="780" b="0">
                <a:solidFill>
                  <a:srgbClr val="262A30"/>
                </a:solidFill>
                <a:latin typeface="Arial"/>
              </a:rPr>
              <a:t>(shared backend)
Private Network</a:t>
            </a:r>
          </a:p>
        </p:txBody>
      </p:sp>
      <p:sp>
        <p:nvSpPr>
          <p:cNvPr id="36" name="TextBox 35"/>
          <p:cNvSpPr txBox="1"/>
          <p:nvPr/>
        </p:nvSpPr>
        <p:spPr>
          <a:xfrm>
            <a:off x="502920" y="4453128"/>
            <a:ext cx="8183879" cy="365760"/>
          </a:xfrm>
          <a:prstGeom prst="rect">
            <a:avLst/>
          </a:prstGeom>
          <a:noFill/>
        </p:spPr>
        <p:txBody>
          <a:bodyPr wrap="square">
            <a:spAutoFit/>
          </a:bodyPr>
          <a:lstStyle/>
          <a:p>
            <a:pPr algn="l">
              <a:spcAft>
                <a:spcPts val="300"/>
              </a:spcAft>
            </a:pPr>
            <a:r>
              <a:rPr sz="850" b="0">
                <a:solidFill>
                  <a:srgbClr val="8A939E"/>
                </a:solidFill>
                <a:latin typeface="Arial"/>
              </a:rPr>
              <a:t>Abstract level: one generalized process per domain · components without internal structure · devices summarized as nodes · communication as networks only.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3CC47CB0-E6BB-9B86-8C6B-0B73472E3A39}"/>
              </a:ext>
            </a:extLst>
          </p:cNvPr>
          <p:cNvSpPr>
            <a:spLocks noGrp="1"/>
          </p:cNvSpPr>
          <p:nvPr>
            <p:ph type="title"/>
          </p:nvPr>
        </p:nvSpPr>
        <p:spPr>
          <a:xfrm>
            <a:off x="205466" y="79242"/>
            <a:ext cx="8508999" cy="380810"/>
          </a:xfrm>
        </p:spPr>
        <p:txBody>
          <a:bodyPr/>
          <a:lstStyle/>
          <a:p>
            <a:r>
              <a:rPr lang="en-US" altLang="zh-CN" dirty="0"/>
              <a:t>Abstract Model</a:t>
            </a:r>
            <a:endParaRPr lang="zh-CN" altLang="en-US" dirty="0"/>
          </a:p>
        </p:txBody>
      </p:sp>
      <p:sp>
        <p:nvSpPr>
          <p:cNvPr id="4" name="灯片编号占位符 3">
            <a:extLst>
              <a:ext uri="{FF2B5EF4-FFF2-40B4-BE49-F238E27FC236}">
                <a16:creationId xmlns:a16="http://schemas.microsoft.com/office/drawing/2014/main" id="{216BED82-8BA0-5437-B286-9B5D8856AAA7}"/>
              </a:ext>
            </a:extLst>
          </p:cNvPr>
          <p:cNvSpPr>
            <a:spLocks noGrp="1"/>
          </p:cNvSpPr>
          <p:nvPr>
            <p:ph type="sldNum" sz="quarter" idx="11"/>
          </p:nvPr>
        </p:nvSpPr>
        <p:spPr/>
        <p:txBody>
          <a:bodyPr/>
          <a:lstStyle/>
          <a:p>
            <a:fld id="{CE58CB1E-F828-4F11-99E0-327109AF9DA4}" type="slidenum">
              <a:rPr lang="de-DE" smtClean="0"/>
              <a:pPr/>
              <a:t>6</a:t>
            </a:fld>
            <a:endParaRPr lang="de-DE" dirty="0"/>
          </a:p>
        </p:txBody>
      </p:sp>
      <p:sp>
        <p:nvSpPr>
          <p:cNvPr id="5" name="页脚占位符 4">
            <a:extLst>
              <a:ext uri="{FF2B5EF4-FFF2-40B4-BE49-F238E27FC236}">
                <a16:creationId xmlns:a16="http://schemas.microsoft.com/office/drawing/2014/main" id="{E8DE1145-35F1-F6E0-B312-59F50E8AF013}"/>
              </a:ext>
            </a:extLst>
          </p:cNvPr>
          <p:cNvSpPr>
            <a:spLocks noGrp="1"/>
          </p:cNvSpPr>
          <p:nvPr>
            <p:ph type="ftr" sz="quarter" idx="12"/>
          </p:nvPr>
        </p:nvSpPr>
        <p:spPr/>
        <p:txBody>
          <a:bodyPr/>
          <a:lstStyle/>
          <a:p>
            <a:r>
              <a:rPr lang="de-DE"/>
              <a:t>Dr. rer. nat. Erika Mustermann (TUM) | kann beliebig erweitert werden | Infos mit Strich trennen</a:t>
            </a:r>
            <a:endParaRPr lang="en-US" dirty="0"/>
          </a:p>
        </p:txBody>
      </p:sp>
      <p:pic>
        <p:nvPicPr>
          <p:cNvPr id="7" name="图片 6">
            <a:extLst>
              <a:ext uri="{FF2B5EF4-FFF2-40B4-BE49-F238E27FC236}">
                <a16:creationId xmlns:a16="http://schemas.microsoft.com/office/drawing/2014/main" id="{D7E48753-F906-7B8A-8BF3-C9F7B3971A0E}"/>
              </a:ext>
            </a:extLst>
          </p:cNvPr>
          <p:cNvPicPr>
            <a:picLocks noChangeAspect="1"/>
          </p:cNvPicPr>
          <p:nvPr/>
        </p:nvPicPr>
        <p:blipFill>
          <a:blip r:embed="rId2"/>
          <a:srcRect/>
          <a:stretch/>
        </p:blipFill>
        <p:spPr>
          <a:xfrm>
            <a:off x="990062" y="740552"/>
            <a:ext cx="6939805" cy="3833932"/>
          </a:xfrm>
          <a:prstGeom prst="rect">
            <a:avLst/>
          </a:prstGeom>
        </p:spPr>
      </p:pic>
    </p:spTree>
    <p:extLst>
      <p:ext uri="{BB962C8B-B14F-4D97-AF65-F5344CB8AC3E}">
        <p14:creationId xmlns:p14="http://schemas.microsoft.com/office/powerpoint/2010/main" val="32761118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9090" y="972000"/>
            <a:ext cx="8508999" cy="791179"/>
          </a:xfrm>
        </p:spPr>
        <p:txBody>
          <a:bodyPr/>
          <a:lstStyle/>
          <a:p>
            <a:r>
              <a:rPr dirty="0"/>
              <a:t>2   Detailed Model — Focus Area F1</a:t>
            </a:r>
            <a:br>
              <a:rPr dirty="0"/>
            </a:br>
            <a:r>
              <a:rPr lang="de-DE" dirty="0"/>
              <a:t>	- Business Layer</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C9767-D111-3170-4EF7-9C3FF7666791}"/>
            </a:ext>
          </a:extLst>
        </p:cNvPr>
        <p:cNvGrpSpPr/>
        <p:nvPr/>
      </p:nvGrpSpPr>
      <p:grpSpPr>
        <a:xfrm>
          <a:off x="0" y="0"/>
          <a:ext cx="0" cy="0"/>
          <a:chOff x="0" y="0"/>
          <a:chExt cx="0" cy="0"/>
        </a:xfrm>
      </p:grpSpPr>
      <p:sp>
        <p:nvSpPr>
          <p:cNvPr id="16" name="Rounded Rectangle 7">
            <a:extLst>
              <a:ext uri="{FF2B5EF4-FFF2-40B4-BE49-F238E27FC236}">
                <a16:creationId xmlns:a16="http://schemas.microsoft.com/office/drawing/2014/main" id="{F930D4B9-902F-F391-0DE1-D1CF18B79A3D}"/>
              </a:ext>
            </a:extLst>
          </p:cNvPr>
          <p:cNvSpPr/>
          <p:nvPr/>
        </p:nvSpPr>
        <p:spPr>
          <a:xfrm>
            <a:off x="5865672" y="765510"/>
            <a:ext cx="215120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itle 2">
            <a:extLst>
              <a:ext uri="{FF2B5EF4-FFF2-40B4-BE49-F238E27FC236}">
                <a16:creationId xmlns:a16="http://schemas.microsoft.com/office/drawing/2014/main" id="{8AC94DE2-61D6-FCE9-9DB4-87051DD5E1F6}"/>
              </a:ext>
            </a:extLst>
          </p:cNvPr>
          <p:cNvSpPr>
            <a:spLocks noGrp="1"/>
          </p:cNvSpPr>
          <p:nvPr>
            <p:ph type="title"/>
          </p:nvPr>
        </p:nvSpPr>
        <p:spPr>
          <a:xfrm>
            <a:off x="457200" y="298005"/>
            <a:ext cx="8508999" cy="366190"/>
          </a:xfrm>
        </p:spPr>
        <p:txBody>
          <a:bodyPr/>
          <a:lstStyle/>
          <a:p>
            <a:r>
              <a:rPr sz="2000" dirty="0">
                <a:solidFill>
                  <a:srgbClr val="000000"/>
                </a:solidFill>
                <a:latin typeface="Arial"/>
              </a:rPr>
              <a:t>Technology layer — Element</a:t>
            </a:r>
          </a:p>
        </p:txBody>
      </p:sp>
      <p:sp>
        <p:nvSpPr>
          <p:cNvPr id="9" name="TextBox 8">
            <a:extLst>
              <a:ext uri="{FF2B5EF4-FFF2-40B4-BE49-F238E27FC236}">
                <a16:creationId xmlns:a16="http://schemas.microsoft.com/office/drawing/2014/main" id="{BD00D03B-140C-3D53-08D9-05CA290212B8}"/>
              </a:ext>
            </a:extLst>
          </p:cNvPr>
          <p:cNvSpPr txBox="1"/>
          <p:nvPr/>
        </p:nvSpPr>
        <p:spPr>
          <a:xfrm>
            <a:off x="6059311" y="772407"/>
            <a:ext cx="1591056" cy="223138"/>
          </a:xfrm>
          <a:prstGeom prst="rect">
            <a:avLst/>
          </a:prstGeom>
          <a:noFill/>
        </p:spPr>
        <p:txBody>
          <a:bodyPr wrap="square">
            <a:spAutoFit/>
          </a:bodyPr>
          <a:lstStyle/>
          <a:p>
            <a:pPr algn="ctr">
              <a:spcAft>
                <a:spcPts val="300"/>
              </a:spcAft>
            </a:pPr>
            <a:r>
              <a:rPr lang="en-US" sz="850" b="1" dirty="0">
                <a:solidFill>
                  <a:srgbClr val="595959"/>
                </a:solidFill>
                <a:latin typeface="Arial"/>
              </a:rPr>
              <a:t>3.Overview</a:t>
            </a:r>
            <a:endParaRPr sz="850" b="1" dirty="0">
              <a:solidFill>
                <a:srgbClr val="595959"/>
              </a:solidFill>
              <a:latin typeface="Arial"/>
            </a:endParaRPr>
          </a:p>
        </p:txBody>
      </p:sp>
      <p:sp>
        <p:nvSpPr>
          <p:cNvPr id="15" name="TextBox 14">
            <a:extLst>
              <a:ext uri="{FF2B5EF4-FFF2-40B4-BE49-F238E27FC236}">
                <a16:creationId xmlns:a16="http://schemas.microsoft.com/office/drawing/2014/main" id="{A42C4DF7-35CE-188A-B317-F3C603C17E73}"/>
              </a:ext>
            </a:extLst>
          </p:cNvPr>
          <p:cNvSpPr txBox="1"/>
          <p:nvPr/>
        </p:nvSpPr>
        <p:spPr>
          <a:xfrm>
            <a:off x="457200" y="4773168"/>
            <a:ext cx="8229600" cy="274320"/>
          </a:xfrm>
          <a:prstGeom prst="rect">
            <a:avLst/>
          </a:prstGeom>
          <a:noFill/>
        </p:spPr>
        <p:txBody>
          <a:bodyPr wrap="square">
            <a:spAutoFit/>
          </a:bodyPr>
          <a:lstStyle/>
          <a:p>
            <a:pPr algn="ctr">
              <a:spcAft>
                <a:spcPts val="300"/>
              </a:spcAft>
            </a:pPr>
            <a:r>
              <a:rPr sz="850" b="0">
                <a:solidFill>
                  <a:srgbClr val="8A939E"/>
                </a:solidFill>
                <a:latin typeface="Arial"/>
              </a:rPr>
              <a:t>Full technology view grouped into four perspectives — examined one by one next.</a:t>
            </a:r>
          </a:p>
        </p:txBody>
      </p:sp>
      <p:sp>
        <p:nvSpPr>
          <p:cNvPr id="17" name="Rounded Rectangle 7">
            <a:extLst>
              <a:ext uri="{FF2B5EF4-FFF2-40B4-BE49-F238E27FC236}">
                <a16:creationId xmlns:a16="http://schemas.microsoft.com/office/drawing/2014/main" id="{F930D4B9-902F-F391-0DE1-D1CF18B79A3D}"/>
              </a:ext>
            </a:extLst>
          </p:cNvPr>
          <p:cNvSpPr/>
          <p:nvPr/>
        </p:nvSpPr>
        <p:spPr>
          <a:xfrm>
            <a:off x="3161436" y="772407"/>
            <a:ext cx="215120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de-DE"/>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dirty="0"/>
          </a:p>
        </p:txBody>
      </p:sp>
      <p:sp>
        <p:nvSpPr>
          <p:cNvPr id="18" name="TextBox 8">
            <a:extLst>
              <a:ext uri="{FF2B5EF4-FFF2-40B4-BE49-F238E27FC236}">
                <a16:creationId xmlns:a16="http://schemas.microsoft.com/office/drawing/2014/main" id="{7DA42CC0-9949-C72B-D13B-F160408FF6FC}"/>
              </a:ext>
            </a:extLst>
          </p:cNvPr>
          <p:cNvSpPr txBox="1"/>
          <p:nvPr/>
        </p:nvSpPr>
        <p:spPr>
          <a:xfrm>
            <a:off x="3382269" y="791101"/>
            <a:ext cx="1591056" cy="223138"/>
          </a:xfrm>
          <a:prstGeom prst="rect">
            <a:avLst/>
          </a:prstGeom>
          <a:noFill/>
        </p:spPr>
        <p:txBody>
          <a:bodyPr wrap="square">
            <a:spAutoFit/>
          </a:bodyPr>
          <a:lstStyle/>
          <a:p>
            <a:pPr algn="ctr">
              <a:spcAft>
                <a:spcPts val="300"/>
              </a:spcAft>
            </a:pPr>
            <a:r>
              <a:rPr lang="en-US" sz="850" b="1" dirty="0">
                <a:solidFill>
                  <a:srgbClr val="595959"/>
                </a:solidFill>
                <a:latin typeface="Arial"/>
              </a:rPr>
              <a:t>2.Relationship</a:t>
            </a:r>
            <a:endParaRPr sz="850" b="1" dirty="0">
              <a:solidFill>
                <a:srgbClr val="595959"/>
              </a:solidFill>
              <a:latin typeface="Arial"/>
            </a:endParaRPr>
          </a:p>
        </p:txBody>
      </p:sp>
      <p:sp>
        <p:nvSpPr>
          <p:cNvPr id="20" name="Rounded Rectangle 7">
            <a:extLst>
              <a:ext uri="{FF2B5EF4-FFF2-40B4-BE49-F238E27FC236}">
                <a16:creationId xmlns:a16="http://schemas.microsoft.com/office/drawing/2014/main" id="{73313185-D6AF-1AE2-F463-BB66BEE9C665}"/>
              </a:ext>
            </a:extLst>
          </p:cNvPr>
          <p:cNvSpPr/>
          <p:nvPr/>
        </p:nvSpPr>
        <p:spPr>
          <a:xfrm>
            <a:off x="457200" y="772407"/>
            <a:ext cx="2151206" cy="274320"/>
          </a:xfrm>
          <a:prstGeom prst="roundRect">
            <a:avLst>
              <a:gd name="adj" fmla="val 7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de-DE"/>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dirty="0"/>
          </a:p>
        </p:txBody>
      </p:sp>
      <p:sp>
        <p:nvSpPr>
          <p:cNvPr id="21" name="TextBox 8">
            <a:extLst>
              <a:ext uri="{FF2B5EF4-FFF2-40B4-BE49-F238E27FC236}">
                <a16:creationId xmlns:a16="http://schemas.microsoft.com/office/drawing/2014/main" id="{04FE1D7E-8E66-E6C7-854C-C2D2A784D93B}"/>
              </a:ext>
            </a:extLst>
          </p:cNvPr>
          <p:cNvSpPr txBox="1"/>
          <p:nvPr/>
        </p:nvSpPr>
        <p:spPr>
          <a:xfrm>
            <a:off x="757452" y="787886"/>
            <a:ext cx="1591056" cy="223138"/>
          </a:xfrm>
          <a:prstGeom prst="rect">
            <a:avLst/>
          </a:prstGeom>
          <a:noFill/>
        </p:spPr>
        <p:txBody>
          <a:bodyPr wrap="square">
            <a:spAutoFit/>
          </a:bodyPr>
          <a:lstStyle/>
          <a:p>
            <a:pPr algn="ctr">
              <a:spcAft>
                <a:spcPts val="300"/>
              </a:spcAft>
            </a:pPr>
            <a:r>
              <a:rPr lang="en-US" sz="850" b="1" dirty="0">
                <a:solidFill>
                  <a:schemeClr val="bg1"/>
                </a:solidFill>
                <a:latin typeface="Arial"/>
              </a:rPr>
              <a:t>1.Element</a:t>
            </a:r>
            <a:endParaRPr sz="850" b="1" dirty="0">
              <a:solidFill>
                <a:schemeClr val="bg1"/>
              </a:solidFill>
              <a:latin typeface="Arial"/>
            </a:endParaRPr>
          </a:p>
        </p:txBody>
      </p:sp>
      <p:graphicFrame>
        <p:nvGraphicFramePr>
          <p:cNvPr id="2" name="表格 1">
            <a:extLst>
              <a:ext uri="{FF2B5EF4-FFF2-40B4-BE49-F238E27FC236}">
                <a16:creationId xmlns:a16="http://schemas.microsoft.com/office/drawing/2014/main" id="{420F4CAE-3C7C-4FC7-94FE-D67C4A7952B8}"/>
              </a:ext>
            </a:extLst>
          </p:cNvPr>
          <p:cNvGraphicFramePr>
            <a:graphicFrameLocks noGrp="1"/>
          </p:cNvGraphicFramePr>
          <p:nvPr>
            <p:extLst>
              <p:ext uri="{D42A27DB-BD31-4B8C-83A1-F6EECF244321}">
                <p14:modId xmlns:p14="http://schemas.microsoft.com/office/powerpoint/2010/main" val="4093405124"/>
              </p:ext>
            </p:extLst>
          </p:nvPr>
        </p:nvGraphicFramePr>
        <p:xfrm>
          <a:off x="457200" y="1375794"/>
          <a:ext cx="2151206" cy="2739006"/>
        </p:xfrm>
        <a:graphic>
          <a:graphicData uri="http://schemas.openxmlformats.org/drawingml/2006/table">
            <a:tbl>
              <a:tblPr firstRow="1" bandRow="1">
                <a:tableStyleId>{2D5ABB26-0587-4C30-8999-92F81FD0307C}</a:tableStyleId>
              </a:tblPr>
              <a:tblGrid>
                <a:gridCol w="2151206">
                  <a:extLst>
                    <a:ext uri="{9D8B030D-6E8A-4147-A177-3AD203B41FA5}">
                      <a16:colId xmlns:a16="http://schemas.microsoft.com/office/drawing/2014/main" val="1343586576"/>
                    </a:ext>
                  </a:extLst>
                </a:gridCol>
              </a:tblGrid>
              <a:tr h="1367406">
                <a:tc>
                  <a:txBody>
                    <a:bodyPr/>
                    <a:lstStyle/>
                    <a:p>
                      <a:r>
                        <a:rPr lang="en-US" altLang="zh-CN" dirty="0"/>
                        <a:t>Role</a:t>
                      </a:r>
                      <a:r>
                        <a:rPr lang="zh-CN" altLang="en-US" dirty="0"/>
                        <a:t> ：</a:t>
                      </a:r>
                      <a:r>
                        <a:rPr lang="en-US" altLang="zh-CN" dirty="0"/>
                        <a:t>Passenger</a:t>
                      </a:r>
                      <a:endParaRPr lang="zh-CN" altLang="en-US" dirty="0"/>
                    </a:p>
                  </a:txBody>
                  <a:tcPr/>
                </a:tc>
                <a:extLst>
                  <a:ext uri="{0D108BD9-81ED-4DB2-BD59-A6C34878D82A}">
                    <a16:rowId xmlns:a16="http://schemas.microsoft.com/office/drawing/2014/main" val="3064579954"/>
                  </a:ext>
                </a:extLst>
              </a:tr>
              <a:tr h="1367406">
                <a:tc>
                  <a:txBody>
                    <a:bodyPr/>
                    <a:lstStyle/>
                    <a:p>
                      <a:r>
                        <a:rPr lang="en-US" altLang="zh-CN" dirty="0"/>
                        <a:t>Part</a:t>
                      </a:r>
                      <a:r>
                        <a:rPr lang="zh-CN" altLang="en-US" dirty="0"/>
                        <a:t> </a:t>
                      </a:r>
                      <a:r>
                        <a:rPr lang="en-US" altLang="zh-CN" dirty="0"/>
                        <a:t>I</a:t>
                      </a:r>
                      <a:r>
                        <a:rPr lang="zh-CN" altLang="en-US" dirty="0"/>
                        <a:t> ： </a:t>
                      </a:r>
                      <a:r>
                        <a:rPr lang="en-US" altLang="zh-CN" dirty="0"/>
                        <a:t>Journey</a:t>
                      </a:r>
                      <a:r>
                        <a:rPr lang="zh-CN" altLang="en-US" dirty="0"/>
                        <a:t> </a:t>
                      </a:r>
                      <a:r>
                        <a:rPr lang="en-US" altLang="zh-CN" dirty="0"/>
                        <a:t>Handling</a:t>
                      </a:r>
                      <a:r>
                        <a:rPr lang="zh-CN" altLang="en-US" dirty="0"/>
                        <a:t> </a:t>
                      </a:r>
                      <a:r>
                        <a:rPr lang="en-US" altLang="zh-CN" dirty="0"/>
                        <a:t> -- </a:t>
                      </a:r>
                      <a:r>
                        <a:rPr lang="en-US" altLang="zh-CN" sz="1600" i="1" dirty="0">
                          <a:solidFill>
                            <a:srgbClr val="0070C0"/>
                          </a:solidFill>
                        </a:rPr>
                        <a:t>describes how a passenger journey is handled</a:t>
                      </a:r>
                      <a:endParaRPr lang="zh-CN" altLang="en-US" sz="1600" i="1" dirty="0">
                        <a:solidFill>
                          <a:srgbClr val="0070C0"/>
                        </a:solidFill>
                      </a:endParaRPr>
                    </a:p>
                  </a:txBody>
                  <a:tcPr/>
                </a:tc>
                <a:extLst>
                  <a:ext uri="{0D108BD9-81ED-4DB2-BD59-A6C34878D82A}">
                    <a16:rowId xmlns:a16="http://schemas.microsoft.com/office/drawing/2014/main" val="1661995791"/>
                  </a:ext>
                </a:extLst>
              </a:tr>
            </a:tbl>
          </a:graphicData>
        </a:graphic>
      </p:graphicFrame>
      <p:pic>
        <p:nvPicPr>
          <p:cNvPr id="5" name="图片 4">
            <a:extLst>
              <a:ext uri="{FF2B5EF4-FFF2-40B4-BE49-F238E27FC236}">
                <a16:creationId xmlns:a16="http://schemas.microsoft.com/office/drawing/2014/main" id="{A3657E32-530D-D2BE-1B63-FB92CB1F90F9}"/>
              </a:ext>
            </a:extLst>
          </p:cNvPr>
          <p:cNvPicPr>
            <a:picLocks noChangeAspect="1"/>
          </p:cNvPicPr>
          <p:nvPr/>
        </p:nvPicPr>
        <p:blipFill>
          <a:blip r:embed="rId3"/>
          <a:stretch>
            <a:fillRect/>
          </a:stretch>
        </p:blipFill>
        <p:spPr>
          <a:xfrm>
            <a:off x="3161436" y="1141145"/>
            <a:ext cx="4855442" cy="3464411"/>
          </a:xfrm>
          <a:prstGeom prst="rect">
            <a:avLst/>
          </a:prstGeom>
        </p:spPr>
      </p:pic>
    </p:spTree>
    <p:extLst>
      <p:ext uri="{BB962C8B-B14F-4D97-AF65-F5344CB8AC3E}">
        <p14:creationId xmlns:p14="http://schemas.microsoft.com/office/powerpoint/2010/main" val="1983602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D52E4-511E-8240-4C17-8853C512A7CB}"/>
            </a:ext>
          </a:extLst>
        </p:cNvPr>
        <p:cNvGrpSpPr/>
        <p:nvPr/>
      </p:nvGrpSpPr>
      <p:grpSpPr>
        <a:xfrm>
          <a:off x="0" y="0"/>
          <a:ext cx="0" cy="0"/>
          <a:chOff x="0" y="0"/>
          <a:chExt cx="0" cy="0"/>
        </a:xfrm>
      </p:grpSpPr>
      <p:sp>
        <p:nvSpPr>
          <p:cNvPr id="16" name="Rounded Rectangle 7">
            <a:extLst>
              <a:ext uri="{FF2B5EF4-FFF2-40B4-BE49-F238E27FC236}">
                <a16:creationId xmlns:a16="http://schemas.microsoft.com/office/drawing/2014/main" id="{1FE1F52C-A811-2C5A-CBB1-D5A49304F201}"/>
              </a:ext>
            </a:extLst>
          </p:cNvPr>
          <p:cNvSpPr/>
          <p:nvPr/>
        </p:nvSpPr>
        <p:spPr>
          <a:xfrm>
            <a:off x="5865672" y="765510"/>
            <a:ext cx="215120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itle 2">
            <a:extLst>
              <a:ext uri="{FF2B5EF4-FFF2-40B4-BE49-F238E27FC236}">
                <a16:creationId xmlns:a16="http://schemas.microsoft.com/office/drawing/2014/main" id="{8D30D2EA-6A64-276B-795B-6B4AB2C64DB7}"/>
              </a:ext>
            </a:extLst>
          </p:cNvPr>
          <p:cNvSpPr>
            <a:spLocks noGrp="1"/>
          </p:cNvSpPr>
          <p:nvPr>
            <p:ph type="title"/>
          </p:nvPr>
        </p:nvSpPr>
        <p:spPr>
          <a:xfrm>
            <a:off x="457200" y="298005"/>
            <a:ext cx="8508999" cy="366190"/>
          </a:xfrm>
        </p:spPr>
        <p:txBody>
          <a:bodyPr/>
          <a:lstStyle/>
          <a:p>
            <a:r>
              <a:rPr sz="2000" dirty="0">
                <a:solidFill>
                  <a:srgbClr val="000000"/>
                </a:solidFill>
                <a:latin typeface="Arial"/>
              </a:rPr>
              <a:t>Technology layer — Element</a:t>
            </a:r>
          </a:p>
        </p:txBody>
      </p:sp>
      <p:sp>
        <p:nvSpPr>
          <p:cNvPr id="9" name="TextBox 8">
            <a:extLst>
              <a:ext uri="{FF2B5EF4-FFF2-40B4-BE49-F238E27FC236}">
                <a16:creationId xmlns:a16="http://schemas.microsoft.com/office/drawing/2014/main" id="{974CE76A-479E-BCB5-B7CB-3FF739C7014A}"/>
              </a:ext>
            </a:extLst>
          </p:cNvPr>
          <p:cNvSpPr txBox="1"/>
          <p:nvPr/>
        </p:nvSpPr>
        <p:spPr>
          <a:xfrm>
            <a:off x="6059311" y="772407"/>
            <a:ext cx="1591056" cy="223138"/>
          </a:xfrm>
          <a:prstGeom prst="rect">
            <a:avLst/>
          </a:prstGeom>
          <a:noFill/>
        </p:spPr>
        <p:txBody>
          <a:bodyPr wrap="square">
            <a:spAutoFit/>
          </a:bodyPr>
          <a:lstStyle/>
          <a:p>
            <a:pPr algn="ctr">
              <a:spcAft>
                <a:spcPts val="300"/>
              </a:spcAft>
            </a:pPr>
            <a:r>
              <a:rPr lang="en-US" sz="850" b="1" dirty="0">
                <a:solidFill>
                  <a:srgbClr val="595959"/>
                </a:solidFill>
                <a:latin typeface="Arial"/>
              </a:rPr>
              <a:t>3.Overview</a:t>
            </a:r>
            <a:endParaRPr sz="850" b="1" dirty="0">
              <a:solidFill>
                <a:srgbClr val="595959"/>
              </a:solidFill>
              <a:latin typeface="Arial"/>
            </a:endParaRPr>
          </a:p>
        </p:txBody>
      </p:sp>
      <p:sp>
        <p:nvSpPr>
          <p:cNvPr id="15" name="TextBox 14">
            <a:extLst>
              <a:ext uri="{FF2B5EF4-FFF2-40B4-BE49-F238E27FC236}">
                <a16:creationId xmlns:a16="http://schemas.microsoft.com/office/drawing/2014/main" id="{F2A7B463-05AF-552E-F7ED-1C5DEF551700}"/>
              </a:ext>
            </a:extLst>
          </p:cNvPr>
          <p:cNvSpPr txBox="1"/>
          <p:nvPr/>
        </p:nvSpPr>
        <p:spPr>
          <a:xfrm>
            <a:off x="457200" y="4773168"/>
            <a:ext cx="8229600" cy="274320"/>
          </a:xfrm>
          <a:prstGeom prst="rect">
            <a:avLst/>
          </a:prstGeom>
          <a:noFill/>
        </p:spPr>
        <p:txBody>
          <a:bodyPr wrap="square">
            <a:spAutoFit/>
          </a:bodyPr>
          <a:lstStyle/>
          <a:p>
            <a:pPr algn="ctr">
              <a:spcAft>
                <a:spcPts val="300"/>
              </a:spcAft>
            </a:pPr>
            <a:r>
              <a:rPr sz="850" b="0">
                <a:solidFill>
                  <a:srgbClr val="8A939E"/>
                </a:solidFill>
                <a:latin typeface="Arial"/>
              </a:rPr>
              <a:t>Full technology view grouped into four perspectives — examined one by one next.</a:t>
            </a:r>
          </a:p>
        </p:txBody>
      </p:sp>
      <p:sp>
        <p:nvSpPr>
          <p:cNvPr id="17" name="Rounded Rectangle 7">
            <a:extLst>
              <a:ext uri="{FF2B5EF4-FFF2-40B4-BE49-F238E27FC236}">
                <a16:creationId xmlns:a16="http://schemas.microsoft.com/office/drawing/2014/main" id="{916EC362-903A-3B1D-7801-75DCBB9A3F8D}"/>
              </a:ext>
            </a:extLst>
          </p:cNvPr>
          <p:cNvSpPr/>
          <p:nvPr/>
        </p:nvSpPr>
        <p:spPr>
          <a:xfrm>
            <a:off x="3161436" y="772407"/>
            <a:ext cx="215120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de-DE"/>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dirty="0"/>
          </a:p>
        </p:txBody>
      </p:sp>
      <p:sp>
        <p:nvSpPr>
          <p:cNvPr id="18" name="TextBox 8">
            <a:extLst>
              <a:ext uri="{FF2B5EF4-FFF2-40B4-BE49-F238E27FC236}">
                <a16:creationId xmlns:a16="http://schemas.microsoft.com/office/drawing/2014/main" id="{59DC7948-2334-DAA0-1F54-04DF8A11A3B6}"/>
              </a:ext>
            </a:extLst>
          </p:cNvPr>
          <p:cNvSpPr txBox="1"/>
          <p:nvPr/>
        </p:nvSpPr>
        <p:spPr>
          <a:xfrm>
            <a:off x="3382269" y="791101"/>
            <a:ext cx="1591056" cy="223138"/>
          </a:xfrm>
          <a:prstGeom prst="rect">
            <a:avLst/>
          </a:prstGeom>
          <a:noFill/>
        </p:spPr>
        <p:txBody>
          <a:bodyPr wrap="square">
            <a:spAutoFit/>
          </a:bodyPr>
          <a:lstStyle/>
          <a:p>
            <a:pPr algn="ctr">
              <a:spcAft>
                <a:spcPts val="300"/>
              </a:spcAft>
            </a:pPr>
            <a:r>
              <a:rPr lang="en-US" sz="850" b="1" dirty="0">
                <a:solidFill>
                  <a:srgbClr val="595959"/>
                </a:solidFill>
                <a:latin typeface="Arial"/>
              </a:rPr>
              <a:t>2.Relationship</a:t>
            </a:r>
            <a:endParaRPr sz="850" b="1" dirty="0">
              <a:solidFill>
                <a:srgbClr val="595959"/>
              </a:solidFill>
              <a:latin typeface="Arial"/>
            </a:endParaRPr>
          </a:p>
        </p:txBody>
      </p:sp>
      <p:sp>
        <p:nvSpPr>
          <p:cNvPr id="20" name="Rounded Rectangle 7">
            <a:extLst>
              <a:ext uri="{FF2B5EF4-FFF2-40B4-BE49-F238E27FC236}">
                <a16:creationId xmlns:a16="http://schemas.microsoft.com/office/drawing/2014/main" id="{FF4E2F66-9939-9C4F-32D7-F7DD6464E45B}"/>
              </a:ext>
            </a:extLst>
          </p:cNvPr>
          <p:cNvSpPr/>
          <p:nvPr/>
        </p:nvSpPr>
        <p:spPr>
          <a:xfrm>
            <a:off x="457200" y="772407"/>
            <a:ext cx="2151206" cy="274320"/>
          </a:xfrm>
          <a:prstGeom prst="roundRect">
            <a:avLst>
              <a:gd name="adj" fmla="val 7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de-DE"/>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dirty="0"/>
          </a:p>
        </p:txBody>
      </p:sp>
      <p:sp>
        <p:nvSpPr>
          <p:cNvPr id="21" name="TextBox 8">
            <a:extLst>
              <a:ext uri="{FF2B5EF4-FFF2-40B4-BE49-F238E27FC236}">
                <a16:creationId xmlns:a16="http://schemas.microsoft.com/office/drawing/2014/main" id="{69692E81-4223-8353-4062-14346452085B}"/>
              </a:ext>
            </a:extLst>
          </p:cNvPr>
          <p:cNvSpPr txBox="1"/>
          <p:nvPr/>
        </p:nvSpPr>
        <p:spPr>
          <a:xfrm>
            <a:off x="757452" y="787886"/>
            <a:ext cx="1591056" cy="223138"/>
          </a:xfrm>
          <a:prstGeom prst="rect">
            <a:avLst/>
          </a:prstGeom>
          <a:noFill/>
        </p:spPr>
        <p:txBody>
          <a:bodyPr wrap="square">
            <a:spAutoFit/>
          </a:bodyPr>
          <a:lstStyle/>
          <a:p>
            <a:pPr algn="ctr">
              <a:spcAft>
                <a:spcPts val="300"/>
              </a:spcAft>
            </a:pPr>
            <a:r>
              <a:rPr lang="en-US" sz="850" b="1" dirty="0">
                <a:solidFill>
                  <a:schemeClr val="bg1"/>
                </a:solidFill>
                <a:latin typeface="Arial"/>
              </a:rPr>
              <a:t>1.Element</a:t>
            </a:r>
            <a:endParaRPr sz="850" b="1" dirty="0">
              <a:solidFill>
                <a:schemeClr val="bg1"/>
              </a:solidFill>
              <a:latin typeface="Arial"/>
            </a:endParaRPr>
          </a:p>
        </p:txBody>
      </p:sp>
      <p:graphicFrame>
        <p:nvGraphicFramePr>
          <p:cNvPr id="2" name="表格 1">
            <a:extLst>
              <a:ext uri="{FF2B5EF4-FFF2-40B4-BE49-F238E27FC236}">
                <a16:creationId xmlns:a16="http://schemas.microsoft.com/office/drawing/2014/main" id="{35E06D52-CFBD-F7CA-F6DC-EDD34C652A4C}"/>
              </a:ext>
            </a:extLst>
          </p:cNvPr>
          <p:cNvGraphicFramePr>
            <a:graphicFrameLocks noGrp="1"/>
          </p:cNvGraphicFramePr>
          <p:nvPr>
            <p:extLst>
              <p:ext uri="{D42A27DB-BD31-4B8C-83A1-F6EECF244321}">
                <p14:modId xmlns:p14="http://schemas.microsoft.com/office/powerpoint/2010/main" val="524642978"/>
              </p:ext>
            </p:extLst>
          </p:nvPr>
        </p:nvGraphicFramePr>
        <p:xfrm>
          <a:off x="457199" y="1323396"/>
          <a:ext cx="2151207" cy="2787210"/>
        </p:xfrm>
        <a:graphic>
          <a:graphicData uri="http://schemas.openxmlformats.org/drawingml/2006/table">
            <a:tbl>
              <a:tblPr firstRow="1" bandRow="1">
                <a:tableStyleId>{2D5ABB26-0587-4C30-8999-92F81FD0307C}</a:tableStyleId>
              </a:tblPr>
              <a:tblGrid>
                <a:gridCol w="2151207">
                  <a:extLst>
                    <a:ext uri="{9D8B030D-6E8A-4147-A177-3AD203B41FA5}">
                      <a16:colId xmlns:a16="http://schemas.microsoft.com/office/drawing/2014/main" val="1343586576"/>
                    </a:ext>
                  </a:extLst>
                </a:gridCol>
              </a:tblGrid>
              <a:tr h="1393605">
                <a:tc>
                  <a:txBody>
                    <a:bodyPr/>
                    <a:lstStyle/>
                    <a:p>
                      <a:r>
                        <a:rPr lang="en-US" altLang="zh-CN" dirty="0"/>
                        <a:t>Actor : External Bank</a:t>
                      </a:r>
                      <a:endParaRPr lang="zh-CN" altLang="en-US" dirty="0"/>
                    </a:p>
                  </a:txBody>
                  <a:tcPr/>
                </a:tc>
                <a:extLst>
                  <a:ext uri="{0D108BD9-81ED-4DB2-BD59-A6C34878D82A}">
                    <a16:rowId xmlns:a16="http://schemas.microsoft.com/office/drawing/2014/main" val="3064579954"/>
                  </a:ext>
                </a:extLst>
              </a:tr>
              <a:tr h="1393605">
                <a:tc>
                  <a:txBody>
                    <a:bodyPr/>
                    <a:lstStyle/>
                    <a:p>
                      <a:r>
                        <a:rPr lang="en-US" altLang="zh-CN" dirty="0"/>
                        <a:t>Part</a:t>
                      </a:r>
                      <a:r>
                        <a:rPr lang="zh-CN" altLang="en-US" dirty="0"/>
                        <a:t> </a:t>
                      </a:r>
                      <a:r>
                        <a:rPr lang="en-US" altLang="zh-CN" dirty="0"/>
                        <a:t>II</a:t>
                      </a:r>
                      <a:r>
                        <a:rPr lang="zh-CN" altLang="en-US" dirty="0"/>
                        <a:t>： </a:t>
                      </a:r>
                      <a:r>
                        <a:rPr lang="en-US" altLang="zh-CN" dirty="0"/>
                        <a:t>Fare</a:t>
                      </a:r>
                      <a:r>
                        <a:rPr lang="zh-CN" altLang="en-US" dirty="0"/>
                        <a:t> </a:t>
                      </a:r>
                      <a:r>
                        <a:rPr lang="en-US" altLang="zh-CN" dirty="0"/>
                        <a:t>Handling</a:t>
                      </a:r>
                      <a:r>
                        <a:rPr lang="zh-CN" altLang="en-US" dirty="0"/>
                        <a:t> </a:t>
                      </a:r>
                      <a:r>
                        <a:rPr lang="en-US" altLang="zh-CN" dirty="0"/>
                        <a:t> -- </a:t>
                      </a:r>
                      <a:r>
                        <a:rPr lang="en-US" altLang="zh-CN" sz="1600" i="1" dirty="0">
                          <a:solidFill>
                            <a:srgbClr val="0070C0"/>
                          </a:solidFill>
                        </a:rPr>
                        <a:t>describes how the fare is calculated and settled</a:t>
                      </a:r>
                      <a:endParaRPr lang="zh-CN" altLang="en-US" sz="1600" i="1" dirty="0">
                        <a:solidFill>
                          <a:srgbClr val="0070C0"/>
                        </a:solidFill>
                      </a:endParaRPr>
                    </a:p>
                  </a:txBody>
                  <a:tcPr/>
                </a:tc>
                <a:extLst>
                  <a:ext uri="{0D108BD9-81ED-4DB2-BD59-A6C34878D82A}">
                    <a16:rowId xmlns:a16="http://schemas.microsoft.com/office/drawing/2014/main" val="1661995791"/>
                  </a:ext>
                </a:extLst>
              </a:tr>
            </a:tbl>
          </a:graphicData>
        </a:graphic>
      </p:graphicFrame>
      <p:pic>
        <p:nvPicPr>
          <p:cNvPr id="6" name="图片 5">
            <a:extLst>
              <a:ext uri="{FF2B5EF4-FFF2-40B4-BE49-F238E27FC236}">
                <a16:creationId xmlns:a16="http://schemas.microsoft.com/office/drawing/2014/main" id="{75FAA31B-E7E3-B373-206F-7C2973A3F8CF}"/>
              </a:ext>
            </a:extLst>
          </p:cNvPr>
          <p:cNvPicPr>
            <a:picLocks noChangeAspect="1"/>
          </p:cNvPicPr>
          <p:nvPr/>
        </p:nvPicPr>
        <p:blipFill>
          <a:blip r:embed="rId3"/>
          <a:stretch>
            <a:fillRect/>
          </a:stretch>
        </p:blipFill>
        <p:spPr>
          <a:xfrm>
            <a:off x="3064143" y="1154938"/>
            <a:ext cx="4952735" cy="3341561"/>
          </a:xfrm>
          <a:prstGeom prst="rect">
            <a:avLst/>
          </a:prstGeom>
        </p:spPr>
      </p:pic>
    </p:spTree>
    <p:extLst>
      <p:ext uri="{BB962C8B-B14F-4D97-AF65-F5344CB8AC3E}">
        <p14:creationId xmlns:p14="http://schemas.microsoft.com/office/powerpoint/2010/main" val="3921610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ACE3B-368A-0D50-54D7-0F79543D7531}"/>
            </a:ext>
          </a:extLst>
        </p:cNvPr>
        <p:cNvGrpSpPr/>
        <p:nvPr/>
      </p:nvGrpSpPr>
      <p:grpSpPr>
        <a:xfrm>
          <a:off x="0" y="0"/>
          <a:ext cx="0" cy="0"/>
          <a:chOff x="0" y="0"/>
          <a:chExt cx="0" cy="0"/>
        </a:xfrm>
      </p:grpSpPr>
      <p:sp>
        <p:nvSpPr>
          <p:cNvPr id="16" name="Rounded Rectangle 7">
            <a:extLst>
              <a:ext uri="{FF2B5EF4-FFF2-40B4-BE49-F238E27FC236}">
                <a16:creationId xmlns:a16="http://schemas.microsoft.com/office/drawing/2014/main" id="{5EF1DB2B-4FB9-5F72-6A0D-B4CDA4A80F51}"/>
              </a:ext>
            </a:extLst>
          </p:cNvPr>
          <p:cNvSpPr/>
          <p:nvPr/>
        </p:nvSpPr>
        <p:spPr>
          <a:xfrm>
            <a:off x="5865672" y="765510"/>
            <a:ext cx="215120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itle 2">
            <a:extLst>
              <a:ext uri="{FF2B5EF4-FFF2-40B4-BE49-F238E27FC236}">
                <a16:creationId xmlns:a16="http://schemas.microsoft.com/office/drawing/2014/main" id="{EE2ED49C-A6EA-2065-08AC-B8B8C9774399}"/>
              </a:ext>
            </a:extLst>
          </p:cNvPr>
          <p:cNvSpPr>
            <a:spLocks noGrp="1"/>
          </p:cNvSpPr>
          <p:nvPr>
            <p:ph type="title"/>
          </p:nvPr>
        </p:nvSpPr>
        <p:spPr>
          <a:xfrm>
            <a:off x="457200" y="298005"/>
            <a:ext cx="8508999" cy="366190"/>
          </a:xfrm>
        </p:spPr>
        <p:txBody>
          <a:bodyPr/>
          <a:lstStyle/>
          <a:p>
            <a:r>
              <a:rPr sz="2000" dirty="0">
                <a:solidFill>
                  <a:srgbClr val="000000"/>
                </a:solidFill>
                <a:latin typeface="Arial"/>
              </a:rPr>
              <a:t>Technology layer — Element</a:t>
            </a:r>
          </a:p>
        </p:txBody>
      </p:sp>
      <p:sp>
        <p:nvSpPr>
          <p:cNvPr id="9" name="TextBox 8">
            <a:extLst>
              <a:ext uri="{FF2B5EF4-FFF2-40B4-BE49-F238E27FC236}">
                <a16:creationId xmlns:a16="http://schemas.microsoft.com/office/drawing/2014/main" id="{FA1F7706-28D2-97BB-4D63-9308FEB18099}"/>
              </a:ext>
            </a:extLst>
          </p:cNvPr>
          <p:cNvSpPr txBox="1"/>
          <p:nvPr/>
        </p:nvSpPr>
        <p:spPr>
          <a:xfrm>
            <a:off x="6059311" y="772407"/>
            <a:ext cx="1591056" cy="223138"/>
          </a:xfrm>
          <a:prstGeom prst="rect">
            <a:avLst/>
          </a:prstGeom>
          <a:noFill/>
        </p:spPr>
        <p:txBody>
          <a:bodyPr wrap="square">
            <a:spAutoFit/>
          </a:bodyPr>
          <a:lstStyle/>
          <a:p>
            <a:pPr algn="ctr">
              <a:spcAft>
                <a:spcPts val="300"/>
              </a:spcAft>
            </a:pPr>
            <a:r>
              <a:rPr lang="en-US" sz="850" b="1" dirty="0">
                <a:solidFill>
                  <a:srgbClr val="595959"/>
                </a:solidFill>
                <a:latin typeface="Arial"/>
              </a:rPr>
              <a:t>3.Overview</a:t>
            </a:r>
            <a:endParaRPr sz="850" b="1" dirty="0">
              <a:solidFill>
                <a:srgbClr val="595959"/>
              </a:solidFill>
              <a:latin typeface="Arial"/>
            </a:endParaRPr>
          </a:p>
        </p:txBody>
      </p:sp>
      <p:sp>
        <p:nvSpPr>
          <p:cNvPr id="15" name="TextBox 14">
            <a:extLst>
              <a:ext uri="{FF2B5EF4-FFF2-40B4-BE49-F238E27FC236}">
                <a16:creationId xmlns:a16="http://schemas.microsoft.com/office/drawing/2014/main" id="{DFA0FC8D-CB81-7056-1512-8EF9F99DAA29}"/>
              </a:ext>
            </a:extLst>
          </p:cNvPr>
          <p:cNvSpPr txBox="1"/>
          <p:nvPr/>
        </p:nvSpPr>
        <p:spPr>
          <a:xfrm>
            <a:off x="457200" y="4773168"/>
            <a:ext cx="8229600" cy="274320"/>
          </a:xfrm>
          <a:prstGeom prst="rect">
            <a:avLst/>
          </a:prstGeom>
          <a:noFill/>
        </p:spPr>
        <p:txBody>
          <a:bodyPr wrap="square">
            <a:spAutoFit/>
          </a:bodyPr>
          <a:lstStyle/>
          <a:p>
            <a:pPr algn="ctr">
              <a:spcAft>
                <a:spcPts val="300"/>
              </a:spcAft>
            </a:pPr>
            <a:r>
              <a:rPr sz="850" b="0">
                <a:solidFill>
                  <a:srgbClr val="8A939E"/>
                </a:solidFill>
                <a:latin typeface="Arial"/>
              </a:rPr>
              <a:t>Full technology view grouped into four perspectives — examined one by one next.</a:t>
            </a:r>
          </a:p>
        </p:txBody>
      </p:sp>
      <p:sp>
        <p:nvSpPr>
          <p:cNvPr id="17" name="Rounded Rectangle 7">
            <a:extLst>
              <a:ext uri="{FF2B5EF4-FFF2-40B4-BE49-F238E27FC236}">
                <a16:creationId xmlns:a16="http://schemas.microsoft.com/office/drawing/2014/main" id="{23C8CC6C-7252-4E30-4934-81D5BBF366AD}"/>
              </a:ext>
            </a:extLst>
          </p:cNvPr>
          <p:cNvSpPr/>
          <p:nvPr/>
        </p:nvSpPr>
        <p:spPr>
          <a:xfrm>
            <a:off x="3161436" y="772407"/>
            <a:ext cx="215120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de-DE"/>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dirty="0"/>
          </a:p>
        </p:txBody>
      </p:sp>
      <p:sp>
        <p:nvSpPr>
          <p:cNvPr id="18" name="TextBox 8">
            <a:extLst>
              <a:ext uri="{FF2B5EF4-FFF2-40B4-BE49-F238E27FC236}">
                <a16:creationId xmlns:a16="http://schemas.microsoft.com/office/drawing/2014/main" id="{B585231F-F566-BE54-5642-E3276FE6D579}"/>
              </a:ext>
            </a:extLst>
          </p:cNvPr>
          <p:cNvSpPr txBox="1"/>
          <p:nvPr/>
        </p:nvSpPr>
        <p:spPr>
          <a:xfrm>
            <a:off x="3382269" y="791101"/>
            <a:ext cx="1591056" cy="223138"/>
          </a:xfrm>
          <a:prstGeom prst="rect">
            <a:avLst/>
          </a:prstGeom>
          <a:noFill/>
        </p:spPr>
        <p:txBody>
          <a:bodyPr wrap="square">
            <a:spAutoFit/>
          </a:bodyPr>
          <a:lstStyle/>
          <a:p>
            <a:pPr algn="ctr">
              <a:spcAft>
                <a:spcPts val="300"/>
              </a:spcAft>
            </a:pPr>
            <a:r>
              <a:rPr lang="en-US" sz="850" b="1" dirty="0">
                <a:solidFill>
                  <a:srgbClr val="595959"/>
                </a:solidFill>
                <a:latin typeface="Arial"/>
              </a:rPr>
              <a:t>2.Relationship</a:t>
            </a:r>
            <a:endParaRPr sz="850" b="1" dirty="0">
              <a:solidFill>
                <a:srgbClr val="595959"/>
              </a:solidFill>
              <a:latin typeface="Arial"/>
            </a:endParaRPr>
          </a:p>
        </p:txBody>
      </p:sp>
      <p:sp>
        <p:nvSpPr>
          <p:cNvPr id="20" name="Rounded Rectangle 7">
            <a:extLst>
              <a:ext uri="{FF2B5EF4-FFF2-40B4-BE49-F238E27FC236}">
                <a16:creationId xmlns:a16="http://schemas.microsoft.com/office/drawing/2014/main" id="{4DC74F07-0BCF-3C04-274A-316A7C561024}"/>
              </a:ext>
            </a:extLst>
          </p:cNvPr>
          <p:cNvSpPr/>
          <p:nvPr/>
        </p:nvSpPr>
        <p:spPr>
          <a:xfrm>
            <a:off x="457200" y="772407"/>
            <a:ext cx="2151206" cy="274320"/>
          </a:xfrm>
          <a:prstGeom prst="roundRect">
            <a:avLst>
              <a:gd name="adj" fmla="val 7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de-DE"/>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dirty="0"/>
          </a:p>
        </p:txBody>
      </p:sp>
      <p:sp>
        <p:nvSpPr>
          <p:cNvPr id="21" name="TextBox 8">
            <a:extLst>
              <a:ext uri="{FF2B5EF4-FFF2-40B4-BE49-F238E27FC236}">
                <a16:creationId xmlns:a16="http://schemas.microsoft.com/office/drawing/2014/main" id="{A7A0E524-6804-3F25-CE2E-B60827A60BC9}"/>
              </a:ext>
            </a:extLst>
          </p:cNvPr>
          <p:cNvSpPr txBox="1"/>
          <p:nvPr/>
        </p:nvSpPr>
        <p:spPr>
          <a:xfrm>
            <a:off x="757452" y="787886"/>
            <a:ext cx="1591056" cy="223138"/>
          </a:xfrm>
          <a:prstGeom prst="rect">
            <a:avLst/>
          </a:prstGeom>
          <a:noFill/>
        </p:spPr>
        <p:txBody>
          <a:bodyPr wrap="square">
            <a:spAutoFit/>
          </a:bodyPr>
          <a:lstStyle/>
          <a:p>
            <a:pPr algn="ctr">
              <a:spcAft>
                <a:spcPts val="300"/>
              </a:spcAft>
            </a:pPr>
            <a:r>
              <a:rPr lang="en-US" sz="850" b="1" dirty="0">
                <a:solidFill>
                  <a:schemeClr val="bg1"/>
                </a:solidFill>
                <a:latin typeface="Arial"/>
              </a:rPr>
              <a:t>1.Element</a:t>
            </a:r>
            <a:endParaRPr sz="850" b="1" dirty="0">
              <a:solidFill>
                <a:schemeClr val="bg1"/>
              </a:solidFill>
              <a:latin typeface="Arial"/>
            </a:endParaRPr>
          </a:p>
        </p:txBody>
      </p:sp>
      <p:graphicFrame>
        <p:nvGraphicFramePr>
          <p:cNvPr id="2" name="表格 1">
            <a:extLst>
              <a:ext uri="{FF2B5EF4-FFF2-40B4-BE49-F238E27FC236}">
                <a16:creationId xmlns:a16="http://schemas.microsoft.com/office/drawing/2014/main" id="{B79137B3-5C27-147D-A426-171FBF171A8E}"/>
              </a:ext>
            </a:extLst>
          </p:cNvPr>
          <p:cNvGraphicFramePr>
            <a:graphicFrameLocks noGrp="1"/>
          </p:cNvGraphicFramePr>
          <p:nvPr>
            <p:extLst>
              <p:ext uri="{D42A27DB-BD31-4B8C-83A1-F6EECF244321}">
                <p14:modId xmlns:p14="http://schemas.microsoft.com/office/powerpoint/2010/main" val="2935895815"/>
              </p:ext>
            </p:extLst>
          </p:nvPr>
        </p:nvGraphicFramePr>
        <p:xfrm>
          <a:off x="457200" y="1459684"/>
          <a:ext cx="2470558" cy="3025732"/>
        </p:xfrm>
        <a:graphic>
          <a:graphicData uri="http://schemas.openxmlformats.org/drawingml/2006/table">
            <a:tbl>
              <a:tblPr firstRow="1" bandRow="1">
                <a:tableStyleId>{2D5ABB26-0587-4C30-8999-92F81FD0307C}</a:tableStyleId>
              </a:tblPr>
              <a:tblGrid>
                <a:gridCol w="2470558">
                  <a:extLst>
                    <a:ext uri="{9D8B030D-6E8A-4147-A177-3AD203B41FA5}">
                      <a16:colId xmlns:a16="http://schemas.microsoft.com/office/drawing/2014/main" val="1343586576"/>
                    </a:ext>
                  </a:extLst>
                </a:gridCol>
              </a:tblGrid>
              <a:tr h="1379812">
                <a:tc>
                  <a:txBody>
                    <a:bodyPr/>
                    <a:lstStyle/>
                    <a:p>
                      <a:r>
                        <a:rPr lang="en-US" altLang="zh-CN" dirty="0"/>
                        <a:t>Role</a:t>
                      </a:r>
                      <a:r>
                        <a:rPr lang="zh-CN" altLang="en-US" dirty="0"/>
                        <a:t> ：</a:t>
                      </a:r>
                      <a:r>
                        <a:rPr lang="en-US" altLang="zh-CN" dirty="0"/>
                        <a:t>Passenger</a:t>
                      </a:r>
                      <a:endParaRPr lang="zh-CN" altLang="en-US" dirty="0"/>
                    </a:p>
                  </a:txBody>
                  <a:tcPr/>
                </a:tc>
                <a:extLst>
                  <a:ext uri="{0D108BD9-81ED-4DB2-BD59-A6C34878D82A}">
                    <a16:rowId xmlns:a16="http://schemas.microsoft.com/office/drawing/2014/main" val="3064579954"/>
                  </a:ext>
                </a:extLst>
              </a:tr>
              <a:tr h="1393048">
                <a:tc>
                  <a:txBody>
                    <a:bodyPr/>
                    <a:lstStyle/>
                    <a:p>
                      <a:r>
                        <a:rPr lang="en-US" altLang="zh-CN" dirty="0"/>
                        <a:t>Part</a:t>
                      </a:r>
                      <a:r>
                        <a:rPr lang="zh-CN" altLang="en-US" dirty="0"/>
                        <a:t> </a:t>
                      </a:r>
                      <a:r>
                        <a:rPr lang="en-US" altLang="zh-CN" dirty="0"/>
                        <a:t>III</a:t>
                      </a:r>
                      <a:r>
                        <a:rPr lang="zh-CN" altLang="en-US" dirty="0"/>
                        <a:t> ：</a:t>
                      </a:r>
                      <a:r>
                        <a:rPr lang="en-US" altLang="zh-CN" dirty="0"/>
                        <a:t>Go Card Management and Passenger Support-- </a:t>
                      </a:r>
                      <a:r>
                        <a:rPr lang="en-US" altLang="zh-CN" sz="1600" i="1" dirty="0">
                          <a:solidFill>
                            <a:srgbClr val="0070C0"/>
                          </a:solidFill>
                        </a:rPr>
                        <a:t>describes how</a:t>
                      </a:r>
                    </a:p>
                    <a:p>
                      <a:r>
                        <a:rPr lang="en-US" altLang="zh-CN" sz="1600" i="1" dirty="0">
                          <a:solidFill>
                            <a:srgbClr val="0070C0"/>
                          </a:solidFill>
                        </a:rPr>
                        <a:t>passengers can manage their Go Card</a:t>
                      </a:r>
                      <a:endParaRPr lang="zh-CN" altLang="en-US" sz="1600" i="1" dirty="0">
                        <a:solidFill>
                          <a:srgbClr val="0070C0"/>
                        </a:solidFill>
                      </a:endParaRPr>
                    </a:p>
                  </a:txBody>
                  <a:tcPr/>
                </a:tc>
                <a:extLst>
                  <a:ext uri="{0D108BD9-81ED-4DB2-BD59-A6C34878D82A}">
                    <a16:rowId xmlns:a16="http://schemas.microsoft.com/office/drawing/2014/main" val="1661995791"/>
                  </a:ext>
                </a:extLst>
              </a:tr>
            </a:tbl>
          </a:graphicData>
        </a:graphic>
      </p:graphicFrame>
      <p:pic>
        <p:nvPicPr>
          <p:cNvPr id="6" name="图片 5">
            <a:extLst>
              <a:ext uri="{FF2B5EF4-FFF2-40B4-BE49-F238E27FC236}">
                <a16:creationId xmlns:a16="http://schemas.microsoft.com/office/drawing/2014/main" id="{D0085632-CB46-A888-97B8-C41D29587431}"/>
              </a:ext>
            </a:extLst>
          </p:cNvPr>
          <p:cNvPicPr>
            <a:picLocks noChangeAspect="1"/>
          </p:cNvPicPr>
          <p:nvPr/>
        </p:nvPicPr>
        <p:blipFill>
          <a:blip r:embed="rId3"/>
          <a:stretch>
            <a:fillRect/>
          </a:stretch>
        </p:blipFill>
        <p:spPr>
          <a:xfrm>
            <a:off x="3908842" y="1154939"/>
            <a:ext cx="3372801" cy="3481416"/>
          </a:xfrm>
          <a:prstGeom prst="rect">
            <a:avLst/>
          </a:prstGeom>
        </p:spPr>
      </p:pic>
    </p:spTree>
    <p:extLst>
      <p:ext uri="{BB962C8B-B14F-4D97-AF65-F5344CB8AC3E}">
        <p14:creationId xmlns:p14="http://schemas.microsoft.com/office/powerpoint/2010/main" val="25414967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C9767-D111-3170-4EF7-9C3FF7666791}"/>
            </a:ext>
          </a:extLst>
        </p:cNvPr>
        <p:cNvGrpSpPr/>
        <p:nvPr/>
      </p:nvGrpSpPr>
      <p:grpSpPr>
        <a:xfrm>
          <a:off x="0" y="0"/>
          <a:ext cx="0" cy="0"/>
          <a:chOff x="0" y="0"/>
          <a:chExt cx="0" cy="0"/>
        </a:xfrm>
      </p:grpSpPr>
      <p:sp>
        <p:nvSpPr>
          <p:cNvPr id="2" name="Rounded Rectangle 7">
            <a:extLst>
              <a:ext uri="{FF2B5EF4-FFF2-40B4-BE49-F238E27FC236}">
                <a16:creationId xmlns:a16="http://schemas.microsoft.com/office/drawing/2014/main" id="{EC1D047E-D64D-F39C-2898-DF399D50B102}"/>
              </a:ext>
            </a:extLst>
          </p:cNvPr>
          <p:cNvSpPr/>
          <p:nvPr/>
        </p:nvSpPr>
        <p:spPr>
          <a:xfrm>
            <a:off x="3130748" y="728590"/>
            <a:ext cx="2151206" cy="274320"/>
          </a:xfrm>
          <a:prstGeom prst="roundRect">
            <a:avLst>
              <a:gd name="adj" fmla="val 7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de-DE"/>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dirty="0"/>
          </a:p>
        </p:txBody>
      </p:sp>
      <p:sp>
        <p:nvSpPr>
          <p:cNvPr id="16" name="Rounded Rectangle 7">
            <a:extLst>
              <a:ext uri="{FF2B5EF4-FFF2-40B4-BE49-F238E27FC236}">
                <a16:creationId xmlns:a16="http://schemas.microsoft.com/office/drawing/2014/main" id="{F930D4B9-902F-F391-0DE1-D1CF18B79A3D}"/>
              </a:ext>
            </a:extLst>
          </p:cNvPr>
          <p:cNvSpPr/>
          <p:nvPr/>
        </p:nvSpPr>
        <p:spPr>
          <a:xfrm>
            <a:off x="5948817" y="728590"/>
            <a:ext cx="215120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itle 2">
            <a:extLst>
              <a:ext uri="{FF2B5EF4-FFF2-40B4-BE49-F238E27FC236}">
                <a16:creationId xmlns:a16="http://schemas.microsoft.com/office/drawing/2014/main" id="{8AC94DE2-61D6-FCE9-9DB4-87051DD5E1F6}"/>
              </a:ext>
            </a:extLst>
          </p:cNvPr>
          <p:cNvSpPr>
            <a:spLocks noGrp="1"/>
          </p:cNvSpPr>
          <p:nvPr>
            <p:ph type="title"/>
          </p:nvPr>
        </p:nvSpPr>
        <p:spPr>
          <a:xfrm>
            <a:off x="542324" y="285127"/>
            <a:ext cx="8508999" cy="366190"/>
          </a:xfrm>
        </p:spPr>
        <p:txBody>
          <a:bodyPr/>
          <a:lstStyle/>
          <a:p>
            <a:r>
              <a:rPr sz="2000" dirty="0">
                <a:solidFill>
                  <a:srgbClr val="000000"/>
                </a:solidFill>
                <a:latin typeface="Arial"/>
              </a:rPr>
              <a:t>Technology layer — Ralationship</a:t>
            </a:r>
          </a:p>
        </p:txBody>
      </p:sp>
      <p:sp>
        <p:nvSpPr>
          <p:cNvPr id="9" name="TextBox 8">
            <a:extLst>
              <a:ext uri="{FF2B5EF4-FFF2-40B4-BE49-F238E27FC236}">
                <a16:creationId xmlns:a16="http://schemas.microsoft.com/office/drawing/2014/main" id="{BD00D03B-140C-3D53-08D9-05CA290212B8}"/>
              </a:ext>
            </a:extLst>
          </p:cNvPr>
          <p:cNvSpPr txBox="1"/>
          <p:nvPr/>
        </p:nvSpPr>
        <p:spPr>
          <a:xfrm>
            <a:off x="6142456" y="735487"/>
            <a:ext cx="1591056" cy="223138"/>
          </a:xfrm>
          <a:prstGeom prst="rect">
            <a:avLst/>
          </a:prstGeom>
          <a:noFill/>
        </p:spPr>
        <p:txBody>
          <a:bodyPr wrap="square">
            <a:spAutoFit/>
          </a:bodyPr>
          <a:lstStyle/>
          <a:p>
            <a:pPr algn="ctr">
              <a:spcAft>
                <a:spcPts val="300"/>
              </a:spcAft>
            </a:pPr>
            <a:r>
              <a:rPr lang="en-US" sz="850" b="1" dirty="0">
                <a:solidFill>
                  <a:srgbClr val="595959"/>
                </a:solidFill>
                <a:latin typeface="Arial"/>
              </a:rPr>
              <a:t>3.Overview</a:t>
            </a:r>
            <a:endParaRPr sz="850" b="1" dirty="0">
              <a:solidFill>
                <a:srgbClr val="595959"/>
              </a:solidFill>
              <a:latin typeface="Arial"/>
            </a:endParaRPr>
          </a:p>
        </p:txBody>
      </p:sp>
      <p:sp>
        <p:nvSpPr>
          <p:cNvPr id="15" name="TextBox 14">
            <a:extLst>
              <a:ext uri="{FF2B5EF4-FFF2-40B4-BE49-F238E27FC236}">
                <a16:creationId xmlns:a16="http://schemas.microsoft.com/office/drawing/2014/main" id="{A42C4DF7-35CE-188A-B317-F3C603C17E73}"/>
              </a:ext>
            </a:extLst>
          </p:cNvPr>
          <p:cNvSpPr txBox="1"/>
          <p:nvPr/>
        </p:nvSpPr>
        <p:spPr>
          <a:xfrm>
            <a:off x="457200" y="4773168"/>
            <a:ext cx="8229600" cy="274320"/>
          </a:xfrm>
          <a:prstGeom prst="rect">
            <a:avLst/>
          </a:prstGeom>
          <a:noFill/>
        </p:spPr>
        <p:txBody>
          <a:bodyPr wrap="square">
            <a:spAutoFit/>
          </a:bodyPr>
          <a:lstStyle/>
          <a:p>
            <a:pPr algn="ctr">
              <a:spcAft>
                <a:spcPts val="300"/>
              </a:spcAft>
            </a:pPr>
            <a:r>
              <a:rPr sz="850" b="0">
                <a:solidFill>
                  <a:srgbClr val="8A939E"/>
                </a:solidFill>
                <a:latin typeface="Arial"/>
              </a:rPr>
              <a:t>Full technology view grouped into four perspectives — examined one by one next.</a:t>
            </a:r>
          </a:p>
        </p:txBody>
      </p:sp>
      <p:sp>
        <p:nvSpPr>
          <p:cNvPr id="17" name="Rounded Rectangle 7">
            <a:extLst>
              <a:ext uri="{FF2B5EF4-FFF2-40B4-BE49-F238E27FC236}">
                <a16:creationId xmlns:a16="http://schemas.microsoft.com/office/drawing/2014/main" id="{F930D4B9-902F-F391-0DE1-D1CF18B79A3D}"/>
              </a:ext>
            </a:extLst>
          </p:cNvPr>
          <p:cNvSpPr/>
          <p:nvPr/>
        </p:nvSpPr>
        <p:spPr>
          <a:xfrm>
            <a:off x="542324" y="731087"/>
            <a:ext cx="215120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de-DE"/>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dirty="0"/>
          </a:p>
        </p:txBody>
      </p:sp>
      <p:sp>
        <p:nvSpPr>
          <p:cNvPr id="18" name="TextBox 8">
            <a:extLst>
              <a:ext uri="{FF2B5EF4-FFF2-40B4-BE49-F238E27FC236}">
                <a16:creationId xmlns:a16="http://schemas.microsoft.com/office/drawing/2014/main" id="{7DA42CC0-9949-C72B-D13B-F160408FF6FC}"/>
              </a:ext>
            </a:extLst>
          </p:cNvPr>
          <p:cNvSpPr txBox="1"/>
          <p:nvPr/>
        </p:nvSpPr>
        <p:spPr>
          <a:xfrm>
            <a:off x="3360393" y="743409"/>
            <a:ext cx="1591056" cy="223138"/>
          </a:xfrm>
          <a:prstGeom prst="rect">
            <a:avLst/>
          </a:prstGeom>
          <a:noFill/>
        </p:spPr>
        <p:txBody>
          <a:bodyPr wrap="square">
            <a:spAutoFit/>
          </a:bodyPr>
          <a:lstStyle/>
          <a:p>
            <a:pPr algn="ctr">
              <a:spcAft>
                <a:spcPts val="300"/>
              </a:spcAft>
            </a:pPr>
            <a:r>
              <a:rPr lang="en-US" sz="850" b="1" dirty="0">
                <a:solidFill>
                  <a:schemeClr val="bg1"/>
                </a:solidFill>
                <a:latin typeface="Arial"/>
              </a:rPr>
              <a:t>2.Relationship</a:t>
            </a:r>
            <a:endParaRPr sz="850" b="1" dirty="0">
              <a:solidFill>
                <a:schemeClr val="bg1"/>
              </a:solidFill>
              <a:latin typeface="Arial"/>
            </a:endParaRPr>
          </a:p>
        </p:txBody>
      </p:sp>
      <p:sp>
        <p:nvSpPr>
          <p:cNvPr id="21" name="TextBox 8">
            <a:extLst>
              <a:ext uri="{FF2B5EF4-FFF2-40B4-BE49-F238E27FC236}">
                <a16:creationId xmlns:a16="http://schemas.microsoft.com/office/drawing/2014/main" id="{04FE1D7E-8E66-E6C7-854C-C2D2A784D93B}"/>
              </a:ext>
            </a:extLst>
          </p:cNvPr>
          <p:cNvSpPr txBox="1"/>
          <p:nvPr/>
        </p:nvSpPr>
        <p:spPr>
          <a:xfrm>
            <a:off x="761178" y="754181"/>
            <a:ext cx="1591056" cy="223138"/>
          </a:xfrm>
          <a:prstGeom prst="rect">
            <a:avLst/>
          </a:prstGeom>
          <a:noFill/>
        </p:spPr>
        <p:txBody>
          <a:bodyPr wrap="square">
            <a:spAutoFit/>
          </a:bodyPr>
          <a:lstStyle/>
          <a:p>
            <a:pPr algn="ctr">
              <a:spcAft>
                <a:spcPts val="300"/>
              </a:spcAft>
            </a:pPr>
            <a:r>
              <a:rPr lang="en-US" sz="850" b="1" dirty="0">
                <a:latin typeface="Arial"/>
              </a:rPr>
              <a:t>1.Element</a:t>
            </a:r>
            <a:endParaRPr sz="850" b="1" dirty="0">
              <a:latin typeface="Arial"/>
            </a:endParaRPr>
          </a:p>
        </p:txBody>
      </p:sp>
    </p:spTree>
    <p:extLst>
      <p:ext uri="{BB962C8B-B14F-4D97-AF65-F5344CB8AC3E}">
        <p14:creationId xmlns:p14="http://schemas.microsoft.com/office/powerpoint/2010/main" val="29716170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64F14-A7A9-0598-DE89-BA43632E6F7B}"/>
            </a:ext>
          </a:extLst>
        </p:cNvPr>
        <p:cNvGrpSpPr/>
        <p:nvPr/>
      </p:nvGrpSpPr>
      <p:grpSpPr>
        <a:xfrm>
          <a:off x="0" y="0"/>
          <a:ext cx="0" cy="0"/>
          <a:chOff x="0" y="0"/>
          <a:chExt cx="0" cy="0"/>
        </a:xfrm>
      </p:grpSpPr>
      <p:sp>
        <p:nvSpPr>
          <p:cNvPr id="2" name="Rounded Rectangle 7">
            <a:extLst>
              <a:ext uri="{FF2B5EF4-FFF2-40B4-BE49-F238E27FC236}">
                <a16:creationId xmlns:a16="http://schemas.microsoft.com/office/drawing/2014/main" id="{46270138-A6F0-9907-FCA1-4EFD4416DDB4}"/>
              </a:ext>
            </a:extLst>
          </p:cNvPr>
          <p:cNvSpPr/>
          <p:nvPr/>
        </p:nvSpPr>
        <p:spPr>
          <a:xfrm>
            <a:off x="5938150" y="774262"/>
            <a:ext cx="2151206" cy="274320"/>
          </a:xfrm>
          <a:prstGeom prst="roundRect">
            <a:avLst>
              <a:gd name="adj" fmla="val 7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de-DE"/>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dirty="0"/>
          </a:p>
        </p:txBody>
      </p:sp>
      <p:sp>
        <p:nvSpPr>
          <p:cNvPr id="16" name="Rounded Rectangle 7">
            <a:extLst>
              <a:ext uri="{FF2B5EF4-FFF2-40B4-BE49-F238E27FC236}">
                <a16:creationId xmlns:a16="http://schemas.microsoft.com/office/drawing/2014/main" id="{5A598AEF-C820-71EC-4864-A9D04A777975}"/>
              </a:ext>
            </a:extLst>
          </p:cNvPr>
          <p:cNvSpPr/>
          <p:nvPr/>
        </p:nvSpPr>
        <p:spPr>
          <a:xfrm>
            <a:off x="3275246" y="798365"/>
            <a:ext cx="215120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itle 2">
            <a:extLst>
              <a:ext uri="{FF2B5EF4-FFF2-40B4-BE49-F238E27FC236}">
                <a16:creationId xmlns:a16="http://schemas.microsoft.com/office/drawing/2014/main" id="{1F21FB7E-C2E5-92CB-7D48-84C62C0026DB}"/>
              </a:ext>
            </a:extLst>
          </p:cNvPr>
          <p:cNvSpPr>
            <a:spLocks noGrp="1"/>
          </p:cNvSpPr>
          <p:nvPr>
            <p:ph type="title"/>
          </p:nvPr>
        </p:nvSpPr>
        <p:spPr>
          <a:xfrm>
            <a:off x="533738" y="298006"/>
            <a:ext cx="8508999" cy="366190"/>
          </a:xfrm>
        </p:spPr>
        <p:txBody>
          <a:bodyPr/>
          <a:lstStyle/>
          <a:p>
            <a:r>
              <a:rPr sz="2000" dirty="0">
                <a:solidFill>
                  <a:srgbClr val="000000"/>
                </a:solidFill>
                <a:latin typeface="Arial"/>
              </a:rPr>
              <a:t>Technology layer — Overview</a:t>
            </a:r>
          </a:p>
        </p:txBody>
      </p:sp>
      <p:sp>
        <p:nvSpPr>
          <p:cNvPr id="9" name="TextBox 8">
            <a:extLst>
              <a:ext uri="{FF2B5EF4-FFF2-40B4-BE49-F238E27FC236}">
                <a16:creationId xmlns:a16="http://schemas.microsoft.com/office/drawing/2014/main" id="{2C431CED-2D44-8F12-EEE6-11CAAB1E53A3}"/>
              </a:ext>
            </a:extLst>
          </p:cNvPr>
          <p:cNvSpPr txBox="1"/>
          <p:nvPr/>
        </p:nvSpPr>
        <p:spPr>
          <a:xfrm>
            <a:off x="6147517" y="825444"/>
            <a:ext cx="1591056" cy="223138"/>
          </a:xfrm>
          <a:prstGeom prst="rect">
            <a:avLst/>
          </a:prstGeom>
          <a:noFill/>
        </p:spPr>
        <p:txBody>
          <a:bodyPr wrap="square">
            <a:spAutoFit/>
          </a:bodyPr>
          <a:lstStyle/>
          <a:p>
            <a:pPr algn="ctr">
              <a:spcAft>
                <a:spcPts val="300"/>
              </a:spcAft>
            </a:pPr>
            <a:r>
              <a:rPr lang="en-US" sz="850" b="1" dirty="0">
                <a:solidFill>
                  <a:schemeClr val="bg1"/>
                </a:solidFill>
                <a:latin typeface="Arial"/>
              </a:rPr>
              <a:t>3.Overview</a:t>
            </a:r>
            <a:endParaRPr sz="850" b="1" dirty="0">
              <a:solidFill>
                <a:schemeClr val="bg1"/>
              </a:solidFill>
              <a:latin typeface="Arial"/>
            </a:endParaRPr>
          </a:p>
        </p:txBody>
      </p:sp>
      <p:sp>
        <p:nvSpPr>
          <p:cNvPr id="15" name="TextBox 14">
            <a:extLst>
              <a:ext uri="{FF2B5EF4-FFF2-40B4-BE49-F238E27FC236}">
                <a16:creationId xmlns:a16="http://schemas.microsoft.com/office/drawing/2014/main" id="{3DD6CB94-E4BA-94F1-E39F-4E6E30ABE53C}"/>
              </a:ext>
            </a:extLst>
          </p:cNvPr>
          <p:cNvSpPr txBox="1"/>
          <p:nvPr/>
        </p:nvSpPr>
        <p:spPr>
          <a:xfrm>
            <a:off x="457200" y="4773168"/>
            <a:ext cx="8229600" cy="274320"/>
          </a:xfrm>
          <a:prstGeom prst="rect">
            <a:avLst/>
          </a:prstGeom>
          <a:noFill/>
        </p:spPr>
        <p:txBody>
          <a:bodyPr wrap="square">
            <a:spAutoFit/>
          </a:bodyPr>
          <a:lstStyle/>
          <a:p>
            <a:pPr algn="ctr">
              <a:spcAft>
                <a:spcPts val="300"/>
              </a:spcAft>
            </a:pPr>
            <a:r>
              <a:rPr sz="850" b="0">
                <a:solidFill>
                  <a:srgbClr val="8A939E"/>
                </a:solidFill>
                <a:latin typeface="Arial"/>
              </a:rPr>
              <a:t>Full technology view grouped into four perspectives — examined one by one next.</a:t>
            </a:r>
          </a:p>
        </p:txBody>
      </p:sp>
      <p:sp>
        <p:nvSpPr>
          <p:cNvPr id="17" name="Rounded Rectangle 7">
            <a:extLst>
              <a:ext uri="{FF2B5EF4-FFF2-40B4-BE49-F238E27FC236}">
                <a16:creationId xmlns:a16="http://schemas.microsoft.com/office/drawing/2014/main" id="{CA29B7FF-96C5-06A9-E663-F7722312E234}"/>
              </a:ext>
            </a:extLst>
          </p:cNvPr>
          <p:cNvSpPr/>
          <p:nvPr/>
        </p:nvSpPr>
        <p:spPr>
          <a:xfrm>
            <a:off x="533738" y="802350"/>
            <a:ext cx="215120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de-DE"/>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dirty="0"/>
          </a:p>
        </p:txBody>
      </p:sp>
      <p:sp>
        <p:nvSpPr>
          <p:cNvPr id="18" name="TextBox 8">
            <a:extLst>
              <a:ext uri="{FF2B5EF4-FFF2-40B4-BE49-F238E27FC236}">
                <a16:creationId xmlns:a16="http://schemas.microsoft.com/office/drawing/2014/main" id="{D8D1F46E-5FC4-5290-21E4-08FA42D895E2}"/>
              </a:ext>
            </a:extLst>
          </p:cNvPr>
          <p:cNvSpPr txBox="1"/>
          <p:nvPr/>
        </p:nvSpPr>
        <p:spPr>
          <a:xfrm>
            <a:off x="3555321" y="825444"/>
            <a:ext cx="1591056" cy="223138"/>
          </a:xfrm>
          <a:prstGeom prst="rect">
            <a:avLst/>
          </a:prstGeom>
          <a:noFill/>
        </p:spPr>
        <p:txBody>
          <a:bodyPr wrap="square">
            <a:spAutoFit/>
          </a:bodyPr>
          <a:lstStyle/>
          <a:p>
            <a:pPr algn="ctr">
              <a:spcAft>
                <a:spcPts val="300"/>
              </a:spcAft>
            </a:pPr>
            <a:r>
              <a:rPr lang="en-US" sz="850" b="1" dirty="0">
                <a:latin typeface="Arial"/>
              </a:rPr>
              <a:t>2.Relationship</a:t>
            </a:r>
            <a:endParaRPr sz="850" b="1" dirty="0">
              <a:latin typeface="Arial"/>
            </a:endParaRPr>
          </a:p>
        </p:txBody>
      </p:sp>
      <p:sp>
        <p:nvSpPr>
          <p:cNvPr id="21" name="TextBox 8">
            <a:extLst>
              <a:ext uri="{FF2B5EF4-FFF2-40B4-BE49-F238E27FC236}">
                <a16:creationId xmlns:a16="http://schemas.microsoft.com/office/drawing/2014/main" id="{E21BA800-4714-28DC-1298-3CD5F18342B7}"/>
              </a:ext>
            </a:extLst>
          </p:cNvPr>
          <p:cNvSpPr txBox="1"/>
          <p:nvPr/>
        </p:nvSpPr>
        <p:spPr>
          <a:xfrm>
            <a:off x="752592" y="825444"/>
            <a:ext cx="1591056" cy="223138"/>
          </a:xfrm>
          <a:prstGeom prst="rect">
            <a:avLst/>
          </a:prstGeom>
          <a:noFill/>
        </p:spPr>
        <p:txBody>
          <a:bodyPr wrap="square">
            <a:spAutoFit/>
          </a:bodyPr>
          <a:lstStyle/>
          <a:p>
            <a:pPr algn="ctr">
              <a:spcAft>
                <a:spcPts val="300"/>
              </a:spcAft>
            </a:pPr>
            <a:r>
              <a:rPr lang="en-US" sz="850" b="1" dirty="0">
                <a:latin typeface="Arial"/>
              </a:rPr>
              <a:t>1.Element</a:t>
            </a:r>
            <a:endParaRPr sz="850" b="1" dirty="0">
              <a:latin typeface="Arial"/>
            </a:endParaRPr>
          </a:p>
        </p:txBody>
      </p:sp>
    </p:spTree>
    <p:extLst>
      <p:ext uri="{BB962C8B-B14F-4D97-AF65-F5344CB8AC3E}">
        <p14:creationId xmlns:p14="http://schemas.microsoft.com/office/powerpoint/2010/main" val="23421903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2000">
                <a:solidFill>
                  <a:srgbClr val="000000"/>
                </a:solidFill>
                <a:latin typeface="Arial"/>
              </a:rPr>
              <a:t>Business layer</a:t>
            </a:r>
          </a:p>
        </p:txBody>
      </p:sp>
      <p:sp>
        <p:nvSpPr>
          <p:cNvPr id="4" name="Rounded Rectangle 3"/>
          <p:cNvSpPr/>
          <p:nvPr/>
        </p:nvSpPr>
        <p:spPr>
          <a:xfrm>
            <a:off x="1371600" y="1828800"/>
            <a:ext cx="6400800" cy="2286000"/>
          </a:xfrm>
          <a:prstGeom prst="roundRect">
            <a:avLst>
              <a:gd name="adj" fmla="val 7000"/>
            </a:avLst>
          </a:prstGeom>
          <a:noFill/>
          <a:ln w="19050">
            <a:solidFill>
              <a:srgbClr val="B8C2C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71600" y="2514600"/>
            <a:ext cx="6400800" cy="548640"/>
          </a:xfrm>
          <a:prstGeom prst="rect">
            <a:avLst/>
          </a:prstGeom>
          <a:noFill/>
        </p:spPr>
        <p:txBody>
          <a:bodyPr wrap="square">
            <a:spAutoFit/>
          </a:bodyPr>
          <a:lstStyle/>
          <a:p>
            <a:pPr algn="ctr">
              <a:spcAft>
                <a:spcPts val="300"/>
              </a:spcAft>
            </a:pPr>
            <a:r>
              <a:rPr sz="1800" b="1" dirty="0">
                <a:solidFill>
                  <a:srgbClr val="8A939E"/>
                </a:solidFill>
                <a:latin typeface="Arial"/>
              </a:rPr>
              <a:t>Business layer — to be added</a:t>
            </a:r>
          </a:p>
        </p:txBody>
      </p:sp>
      <p:sp>
        <p:nvSpPr>
          <p:cNvPr id="6" name="TextBox 5"/>
          <p:cNvSpPr txBox="1"/>
          <p:nvPr/>
        </p:nvSpPr>
        <p:spPr>
          <a:xfrm>
            <a:off x="1371600" y="3108960"/>
            <a:ext cx="6400800" cy="548640"/>
          </a:xfrm>
          <a:prstGeom prst="rect">
            <a:avLst/>
          </a:prstGeom>
          <a:noFill/>
        </p:spPr>
        <p:txBody>
          <a:bodyPr wrap="square">
            <a:spAutoFit/>
          </a:bodyPr>
          <a:lstStyle/>
          <a:p>
            <a:pPr algn="ctr">
              <a:spcAft>
                <a:spcPts val="300"/>
              </a:spcAft>
            </a:pPr>
            <a:r>
              <a:rPr sz="1100" b="0">
                <a:solidFill>
                  <a:srgbClr val="8A939E"/>
                </a:solidFill>
                <a:latin typeface="Arial"/>
              </a:rPr>
              <a:t>(pending teammate input: actors, processes, services, events)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45A1A0F2-C4BF-3247-AAD6-B8865BDF9FD0}"/>
              </a:ext>
            </a:extLst>
          </p:cNvPr>
          <p:cNvSpPr>
            <a:spLocks noGrp="1"/>
          </p:cNvSpPr>
          <p:nvPr>
            <p:ph idx="1"/>
          </p:nvPr>
        </p:nvSpPr>
        <p:spPr/>
        <p:txBody>
          <a:bodyPr/>
          <a:lstStyle/>
          <a:p>
            <a:endParaRPr lang="zh-CN" altLang="en-US"/>
          </a:p>
        </p:txBody>
      </p:sp>
      <p:sp>
        <p:nvSpPr>
          <p:cNvPr id="3" name="标题 2">
            <a:extLst>
              <a:ext uri="{FF2B5EF4-FFF2-40B4-BE49-F238E27FC236}">
                <a16:creationId xmlns:a16="http://schemas.microsoft.com/office/drawing/2014/main" id="{D232BBC2-3080-3DE8-A452-DD950E9D413D}"/>
              </a:ext>
            </a:extLst>
          </p:cNvPr>
          <p:cNvSpPr>
            <a:spLocks noGrp="1"/>
          </p:cNvSpPr>
          <p:nvPr>
            <p:ph type="title"/>
          </p:nvPr>
        </p:nvSpPr>
        <p:spPr/>
        <p:txBody>
          <a:bodyPr/>
          <a:lstStyle/>
          <a:p>
            <a:endParaRPr lang="zh-CN" altLang="en-US"/>
          </a:p>
        </p:txBody>
      </p:sp>
      <p:sp>
        <p:nvSpPr>
          <p:cNvPr id="4" name="灯片编号占位符 3">
            <a:extLst>
              <a:ext uri="{FF2B5EF4-FFF2-40B4-BE49-F238E27FC236}">
                <a16:creationId xmlns:a16="http://schemas.microsoft.com/office/drawing/2014/main" id="{D874EBDD-CB94-84A4-4C0F-3622D5CA00A6}"/>
              </a:ext>
            </a:extLst>
          </p:cNvPr>
          <p:cNvSpPr>
            <a:spLocks noGrp="1"/>
          </p:cNvSpPr>
          <p:nvPr>
            <p:ph type="sldNum" sz="quarter" idx="11"/>
          </p:nvPr>
        </p:nvSpPr>
        <p:spPr/>
        <p:txBody>
          <a:bodyPr/>
          <a:lstStyle/>
          <a:p>
            <a:fld id="{CE58CB1E-F828-4F11-99E0-327109AF9DA4}" type="slidenum">
              <a:rPr lang="de-DE" smtClean="0"/>
              <a:pPr/>
              <a:t>14</a:t>
            </a:fld>
            <a:endParaRPr lang="de-DE" dirty="0"/>
          </a:p>
        </p:txBody>
      </p:sp>
      <p:sp>
        <p:nvSpPr>
          <p:cNvPr id="5" name="页脚占位符 4">
            <a:extLst>
              <a:ext uri="{FF2B5EF4-FFF2-40B4-BE49-F238E27FC236}">
                <a16:creationId xmlns:a16="http://schemas.microsoft.com/office/drawing/2014/main" id="{5CD681F6-A31D-E0DD-5FB8-07F68CE0D16D}"/>
              </a:ext>
            </a:extLst>
          </p:cNvPr>
          <p:cNvSpPr>
            <a:spLocks noGrp="1"/>
          </p:cNvSpPr>
          <p:nvPr>
            <p:ph type="ftr" sz="quarter" idx="12"/>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35443007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37C3EB-CAA7-1991-A618-8691BEA24BC3}"/>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21127614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2000">
                <a:solidFill>
                  <a:srgbClr val="000000"/>
                </a:solidFill>
                <a:latin typeface="Arial"/>
              </a:rPr>
              <a:t>Application layer</a:t>
            </a:r>
          </a:p>
        </p:txBody>
      </p:sp>
      <p:sp>
        <p:nvSpPr>
          <p:cNvPr id="4" name="Rounded Rectangle 3"/>
          <p:cNvSpPr/>
          <p:nvPr/>
        </p:nvSpPr>
        <p:spPr>
          <a:xfrm>
            <a:off x="1371600" y="1828800"/>
            <a:ext cx="6400800" cy="2286000"/>
          </a:xfrm>
          <a:prstGeom prst="roundRect">
            <a:avLst>
              <a:gd name="adj" fmla="val 7000"/>
            </a:avLst>
          </a:prstGeom>
          <a:noFill/>
          <a:ln w="19050">
            <a:solidFill>
              <a:srgbClr val="B8C2C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71600" y="2514600"/>
            <a:ext cx="6400800" cy="548640"/>
          </a:xfrm>
          <a:prstGeom prst="rect">
            <a:avLst/>
          </a:prstGeom>
          <a:noFill/>
        </p:spPr>
        <p:txBody>
          <a:bodyPr wrap="square">
            <a:spAutoFit/>
          </a:bodyPr>
          <a:lstStyle/>
          <a:p>
            <a:pPr algn="ctr">
              <a:spcAft>
                <a:spcPts val="300"/>
              </a:spcAft>
            </a:pPr>
            <a:r>
              <a:rPr sz="1800" b="1">
                <a:solidFill>
                  <a:srgbClr val="8A939E"/>
                </a:solidFill>
                <a:latin typeface="Arial"/>
              </a:rPr>
              <a:t>Application layer — to be added</a:t>
            </a:r>
          </a:p>
        </p:txBody>
      </p:sp>
      <p:sp>
        <p:nvSpPr>
          <p:cNvPr id="6" name="TextBox 5"/>
          <p:cNvSpPr txBox="1"/>
          <p:nvPr/>
        </p:nvSpPr>
        <p:spPr>
          <a:xfrm>
            <a:off x="1371600" y="3108960"/>
            <a:ext cx="6400800" cy="548640"/>
          </a:xfrm>
          <a:prstGeom prst="rect">
            <a:avLst/>
          </a:prstGeom>
          <a:noFill/>
        </p:spPr>
        <p:txBody>
          <a:bodyPr wrap="square">
            <a:spAutoFit/>
          </a:bodyPr>
          <a:lstStyle/>
          <a:p>
            <a:pPr algn="ctr">
              <a:spcAft>
                <a:spcPts val="300"/>
              </a:spcAft>
            </a:pPr>
            <a:r>
              <a:rPr sz="1100" b="0">
                <a:solidFill>
                  <a:srgbClr val="8A939E"/>
                </a:solidFill>
                <a:latin typeface="Arial"/>
              </a:rPr>
              <a:t>(components, application services, data objects)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2000">
                <a:solidFill>
                  <a:srgbClr val="000000"/>
                </a:solidFill>
                <a:latin typeface="Arial"/>
              </a:rPr>
              <a:t>Technology layer — overview &amp; four perspectives</a:t>
            </a:r>
          </a:p>
        </p:txBody>
      </p:sp>
      <p:sp>
        <p:nvSpPr>
          <p:cNvPr id="4" name="Rounded Rectangle 3"/>
          <p:cNvSpPr/>
          <p:nvPr/>
        </p:nvSpPr>
        <p:spPr>
          <a:xfrm>
            <a:off x="502920" y="1481328"/>
            <a:ext cx="1591056" cy="274320"/>
          </a:xfrm>
          <a:prstGeom prst="roundRect">
            <a:avLst>
              <a:gd name="adj" fmla="val 7000"/>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522476"/>
            <a:ext cx="1591056" cy="219456"/>
          </a:xfrm>
          <a:prstGeom prst="rect">
            <a:avLst/>
          </a:prstGeom>
          <a:noFill/>
        </p:spPr>
        <p:txBody>
          <a:bodyPr wrap="square">
            <a:spAutoFit/>
          </a:bodyPr>
          <a:lstStyle/>
          <a:p>
            <a:pPr algn="ctr">
              <a:spcAft>
                <a:spcPts val="300"/>
              </a:spcAft>
            </a:pPr>
            <a:r>
              <a:rPr sz="850" b="1">
                <a:solidFill>
                  <a:srgbClr val="FFFFFF"/>
                </a:solidFill>
                <a:latin typeface="Arial"/>
              </a:rPr>
              <a:t>Overview</a:t>
            </a:r>
          </a:p>
        </p:txBody>
      </p:sp>
      <p:sp>
        <p:nvSpPr>
          <p:cNvPr id="6" name="Rounded Rectangle 5"/>
          <p:cNvSpPr/>
          <p:nvPr/>
        </p:nvSpPr>
        <p:spPr>
          <a:xfrm>
            <a:off x="2139696" y="1481328"/>
            <a:ext cx="159105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139696" y="1522476"/>
            <a:ext cx="1591056" cy="219456"/>
          </a:xfrm>
          <a:prstGeom prst="rect">
            <a:avLst/>
          </a:prstGeom>
          <a:noFill/>
        </p:spPr>
        <p:txBody>
          <a:bodyPr wrap="square">
            <a:spAutoFit/>
          </a:bodyPr>
          <a:lstStyle/>
          <a:p>
            <a:pPr algn="ctr">
              <a:spcAft>
                <a:spcPts val="300"/>
              </a:spcAft>
            </a:pPr>
            <a:r>
              <a:rPr sz="850" b="1">
                <a:solidFill>
                  <a:srgbClr val="595959"/>
                </a:solidFill>
                <a:latin typeface="Arial"/>
              </a:rPr>
              <a:t>1 Tap &amp; Gate</a:t>
            </a:r>
          </a:p>
        </p:txBody>
      </p:sp>
      <p:sp>
        <p:nvSpPr>
          <p:cNvPr id="8" name="Rounded Rectangle 7"/>
          <p:cNvSpPr/>
          <p:nvPr/>
        </p:nvSpPr>
        <p:spPr>
          <a:xfrm>
            <a:off x="3776472" y="1481328"/>
            <a:ext cx="159105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776472" y="1522476"/>
            <a:ext cx="1591056" cy="219456"/>
          </a:xfrm>
          <a:prstGeom prst="rect">
            <a:avLst/>
          </a:prstGeom>
          <a:noFill/>
        </p:spPr>
        <p:txBody>
          <a:bodyPr wrap="square">
            <a:spAutoFit/>
          </a:bodyPr>
          <a:lstStyle/>
          <a:p>
            <a:pPr algn="ctr">
              <a:spcAft>
                <a:spcPts val="300"/>
              </a:spcAft>
            </a:pPr>
            <a:r>
              <a:rPr sz="850" b="1">
                <a:solidFill>
                  <a:srgbClr val="595959"/>
                </a:solidFill>
                <a:latin typeface="Arial"/>
              </a:rPr>
              <a:t>2 Communication</a:t>
            </a:r>
          </a:p>
        </p:txBody>
      </p:sp>
      <p:sp>
        <p:nvSpPr>
          <p:cNvPr id="10" name="Rounded Rectangle 9"/>
          <p:cNvSpPr/>
          <p:nvPr/>
        </p:nvSpPr>
        <p:spPr>
          <a:xfrm>
            <a:off x="5413248" y="1481328"/>
            <a:ext cx="159105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13248" y="1522476"/>
            <a:ext cx="1591056" cy="219456"/>
          </a:xfrm>
          <a:prstGeom prst="rect">
            <a:avLst/>
          </a:prstGeom>
          <a:noFill/>
        </p:spPr>
        <p:txBody>
          <a:bodyPr wrap="square">
            <a:spAutoFit/>
          </a:bodyPr>
          <a:lstStyle/>
          <a:p>
            <a:pPr algn="ctr">
              <a:spcAft>
                <a:spcPts val="300"/>
              </a:spcAft>
            </a:pPr>
            <a:r>
              <a:rPr sz="850" b="1">
                <a:solidFill>
                  <a:srgbClr val="595959"/>
                </a:solidFill>
                <a:latin typeface="Arial"/>
              </a:rPr>
              <a:t>3 Storage</a:t>
            </a:r>
          </a:p>
        </p:txBody>
      </p:sp>
      <p:sp>
        <p:nvSpPr>
          <p:cNvPr id="12" name="Rounded Rectangle 11"/>
          <p:cNvSpPr/>
          <p:nvPr/>
        </p:nvSpPr>
        <p:spPr>
          <a:xfrm>
            <a:off x="7050024" y="1481328"/>
            <a:ext cx="159105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050024" y="1522476"/>
            <a:ext cx="1591056" cy="219456"/>
          </a:xfrm>
          <a:prstGeom prst="rect">
            <a:avLst/>
          </a:prstGeom>
          <a:noFill/>
        </p:spPr>
        <p:txBody>
          <a:bodyPr wrap="square">
            <a:spAutoFit/>
          </a:bodyPr>
          <a:lstStyle/>
          <a:p>
            <a:pPr algn="ctr">
              <a:spcAft>
                <a:spcPts val="300"/>
              </a:spcAft>
            </a:pPr>
            <a:r>
              <a:rPr sz="850" b="1">
                <a:solidFill>
                  <a:srgbClr val="595959"/>
                </a:solidFill>
                <a:latin typeface="Arial"/>
              </a:rPr>
              <a:t>4 Self-service</a:t>
            </a:r>
          </a:p>
        </p:txBody>
      </p:sp>
      <p:pic>
        <p:nvPicPr>
          <p:cNvPr id="14" name="Picture 13" descr="tech_overview_cl.png"/>
          <p:cNvPicPr>
            <a:picLocks noChangeAspect="1"/>
          </p:cNvPicPr>
          <p:nvPr/>
        </p:nvPicPr>
        <p:blipFill>
          <a:blip r:embed="rId3"/>
          <a:stretch>
            <a:fillRect/>
          </a:stretch>
        </p:blipFill>
        <p:spPr>
          <a:xfrm>
            <a:off x="1586334" y="1810512"/>
            <a:ext cx="5971330" cy="2788920"/>
          </a:xfrm>
          <a:prstGeom prst="rect">
            <a:avLst/>
          </a:prstGeom>
        </p:spPr>
      </p:pic>
      <p:sp>
        <p:nvSpPr>
          <p:cNvPr id="15" name="TextBox 14"/>
          <p:cNvSpPr txBox="1"/>
          <p:nvPr/>
        </p:nvSpPr>
        <p:spPr>
          <a:xfrm>
            <a:off x="457200" y="4773168"/>
            <a:ext cx="8229600" cy="274320"/>
          </a:xfrm>
          <a:prstGeom prst="rect">
            <a:avLst/>
          </a:prstGeom>
          <a:noFill/>
        </p:spPr>
        <p:txBody>
          <a:bodyPr wrap="square">
            <a:spAutoFit/>
          </a:bodyPr>
          <a:lstStyle/>
          <a:p>
            <a:pPr algn="ctr">
              <a:spcAft>
                <a:spcPts val="300"/>
              </a:spcAft>
            </a:pPr>
            <a:r>
              <a:rPr sz="850" b="0">
                <a:solidFill>
                  <a:srgbClr val="8A939E"/>
                </a:solidFill>
                <a:latin typeface="Arial"/>
              </a:rPr>
              <a:t>Full technology view grouped into four perspectives — examined one by one next.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2000">
                <a:solidFill>
                  <a:srgbClr val="000000"/>
                </a:solidFill>
                <a:latin typeface="Arial"/>
              </a:rPr>
              <a:t>Perspective 1 — Tap &amp; gate access</a:t>
            </a:r>
          </a:p>
        </p:txBody>
      </p:sp>
      <p:sp>
        <p:nvSpPr>
          <p:cNvPr id="4" name="Rounded Rectangle 3"/>
          <p:cNvSpPr/>
          <p:nvPr/>
        </p:nvSpPr>
        <p:spPr>
          <a:xfrm>
            <a:off x="502920" y="1481328"/>
            <a:ext cx="159105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522476"/>
            <a:ext cx="1591056" cy="219456"/>
          </a:xfrm>
          <a:prstGeom prst="rect">
            <a:avLst/>
          </a:prstGeom>
          <a:noFill/>
        </p:spPr>
        <p:txBody>
          <a:bodyPr wrap="square">
            <a:spAutoFit/>
          </a:bodyPr>
          <a:lstStyle/>
          <a:p>
            <a:pPr algn="ctr">
              <a:spcAft>
                <a:spcPts val="300"/>
              </a:spcAft>
            </a:pPr>
            <a:r>
              <a:rPr sz="850" b="1">
                <a:solidFill>
                  <a:srgbClr val="595959"/>
                </a:solidFill>
                <a:latin typeface="Arial"/>
              </a:rPr>
              <a:t>Overview</a:t>
            </a:r>
          </a:p>
        </p:txBody>
      </p:sp>
      <p:sp>
        <p:nvSpPr>
          <p:cNvPr id="6" name="Rounded Rectangle 5"/>
          <p:cNvSpPr/>
          <p:nvPr/>
        </p:nvSpPr>
        <p:spPr>
          <a:xfrm>
            <a:off x="2139696" y="1481328"/>
            <a:ext cx="1591056" cy="274320"/>
          </a:xfrm>
          <a:prstGeom prst="roundRect">
            <a:avLst>
              <a:gd name="adj" fmla="val 7000"/>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139696" y="1522476"/>
            <a:ext cx="1591056" cy="219456"/>
          </a:xfrm>
          <a:prstGeom prst="rect">
            <a:avLst/>
          </a:prstGeom>
          <a:noFill/>
        </p:spPr>
        <p:txBody>
          <a:bodyPr wrap="square">
            <a:spAutoFit/>
          </a:bodyPr>
          <a:lstStyle/>
          <a:p>
            <a:pPr algn="ctr">
              <a:spcAft>
                <a:spcPts val="300"/>
              </a:spcAft>
            </a:pPr>
            <a:r>
              <a:rPr sz="850" b="1">
                <a:solidFill>
                  <a:srgbClr val="FFFFFF"/>
                </a:solidFill>
                <a:latin typeface="Arial"/>
              </a:rPr>
              <a:t>1 Tap &amp; Gate</a:t>
            </a:r>
          </a:p>
        </p:txBody>
      </p:sp>
      <p:sp>
        <p:nvSpPr>
          <p:cNvPr id="8" name="Rounded Rectangle 7"/>
          <p:cNvSpPr/>
          <p:nvPr/>
        </p:nvSpPr>
        <p:spPr>
          <a:xfrm>
            <a:off x="3776472" y="1481328"/>
            <a:ext cx="159105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776472" y="1522476"/>
            <a:ext cx="1591056" cy="219456"/>
          </a:xfrm>
          <a:prstGeom prst="rect">
            <a:avLst/>
          </a:prstGeom>
          <a:noFill/>
        </p:spPr>
        <p:txBody>
          <a:bodyPr wrap="square">
            <a:spAutoFit/>
          </a:bodyPr>
          <a:lstStyle/>
          <a:p>
            <a:pPr algn="ctr">
              <a:spcAft>
                <a:spcPts val="300"/>
              </a:spcAft>
            </a:pPr>
            <a:r>
              <a:rPr sz="850" b="1">
                <a:solidFill>
                  <a:srgbClr val="595959"/>
                </a:solidFill>
                <a:latin typeface="Arial"/>
              </a:rPr>
              <a:t>2 Communication</a:t>
            </a:r>
          </a:p>
        </p:txBody>
      </p:sp>
      <p:sp>
        <p:nvSpPr>
          <p:cNvPr id="10" name="Rounded Rectangle 9"/>
          <p:cNvSpPr/>
          <p:nvPr/>
        </p:nvSpPr>
        <p:spPr>
          <a:xfrm>
            <a:off x="5413248" y="1481328"/>
            <a:ext cx="159105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13248" y="1522476"/>
            <a:ext cx="1591056" cy="219456"/>
          </a:xfrm>
          <a:prstGeom prst="rect">
            <a:avLst/>
          </a:prstGeom>
          <a:noFill/>
        </p:spPr>
        <p:txBody>
          <a:bodyPr wrap="square">
            <a:spAutoFit/>
          </a:bodyPr>
          <a:lstStyle/>
          <a:p>
            <a:pPr algn="ctr">
              <a:spcAft>
                <a:spcPts val="300"/>
              </a:spcAft>
            </a:pPr>
            <a:r>
              <a:rPr sz="850" b="1">
                <a:solidFill>
                  <a:srgbClr val="595959"/>
                </a:solidFill>
                <a:latin typeface="Arial"/>
              </a:rPr>
              <a:t>3 Storage</a:t>
            </a:r>
          </a:p>
        </p:txBody>
      </p:sp>
      <p:sp>
        <p:nvSpPr>
          <p:cNvPr id="12" name="Rounded Rectangle 11"/>
          <p:cNvSpPr/>
          <p:nvPr/>
        </p:nvSpPr>
        <p:spPr>
          <a:xfrm>
            <a:off x="7050024" y="1481328"/>
            <a:ext cx="159105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050024" y="1522476"/>
            <a:ext cx="1591056" cy="219456"/>
          </a:xfrm>
          <a:prstGeom prst="rect">
            <a:avLst/>
          </a:prstGeom>
          <a:noFill/>
        </p:spPr>
        <p:txBody>
          <a:bodyPr wrap="square">
            <a:spAutoFit/>
          </a:bodyPr>
          <a:lstStyle/>
          <a:p>
            <a:pPr algn="ctr">
              <a:spcAft>
                <a:spcPts val="300"/>
              </a:spcAft>
            </a:pPr>
            <a:r>
              <a:rPr sz="850" b="1">
                <a:solidFill>
                  <a:srgbClr val="595959"/>
                </a:solidFill>
                <a:latin typeface="Arial"/>
              </a:rPr>
              <a:t>4 Self-service</a:t>
            </a:r>
          </a:p>
        </p:txBody>
      </p:sp>
      <p:sp>
        <p:nvSpPr>
          <p:cNvPr id="14" name="Rounded Rectangle 13"/>
          <p:cNvSpPr/>
          <p:nvPr/>
        </p:nvSpPr>
        <p:spPr>
          <a:xfrm>
            <a:off x="2953491" y="2954238"/>
            <a:ext cx="749098" cy="309410"/>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wrap="square" lIns="12700" tIns="0" rIns="12700" bIns="0" rtlCol="0" anchor="ctr"/>
          <a:lstStyle/>
          <a:p>
            <a:pPr algn="ctr">
              <a:lnSpc>
                <a:spcPct val="92000"/>
              </a:lnSpc>
              <a:spcAft>
                <a:spcPts val="300"/>
              </a:spcAft>
            </a:pPr>
            <a:r>
              <a:rPr sz="850" b="0">
                <a:solidFill>
                  <a:srgbClr val="22262B"/>
                </a:solidFill>
                <a:latin typeface="Arial"/>
              </a:rPr>
              <a:t>Go Card</a:t>
            </a:r>
          </a:p>
        </p:txBody>
      </p:sp>
      <p:sp>
        <p:nvSpPr>
          <p:cNvPr id="15" name="Rounded Rectangle 14"/>
          <p:cNvSpPr/>
          <p:nvPr/>
        </p:nvSpPr>
        <p:spPr>
          <a:xfrm>
            <a:off x="3948652" y="2954238"/>
            <a:ext cx="749098" cy="309410"/>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wrap="square" lIns="12700" tIns="0" rIns="12700" bIns="0" rtlCol="0" anchor="ctr"/>
          <a:lstStyle/>
          <a:p>
            <a:pPr algn="ctr">
              <a:lnSpc>
                <a:spcPct val="92000"/>
              </a:lnSpc>
              <a:spcAft>
                <a:spcPts val="300"/>
              </a:spcAft>
            </a:pPr>
            <a:r>
              <a:rPr sz="850" b="0">
                <a:solidFill>
                  <a:srgbClr val="22262B"/>
                </a:solidFill>
                <a:latin typeface="Arial"/>
              </a:rPr>
              <a:t>Mobile Wallet /
Bank Card</a:t>
            </a:r>
          </a:p>
        </p:txBody>
      </p:sp>
      <p:sp>
        <p:nvSpPr>
          <p:cNvPr id="16" name="Rounded Rectangle 15"/>
          <p:cNvSpPr/>
          <p:nvPr/>
        </p:nvSpPr>
        <p:spPr>
          <a:xfrm>
            <a:off x="3451055" y="3516974"/>
            <a:ext cx="749098" cy="309410"/>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wrap="square" lIns="12700" tIns="0" rIns="12700" bIns="0" rtlCol="0" anchor="ctr"/>
          <a:lstStyle/>
          <a:p>
            <a:pPr algn="ctr">
              <a:lnSpc>
                <a:spcPct val="92000"/>
              </a:lnSpc>
              <a:spcAft>
                <a:spcPts val="300"/>
              </a:spcAft>
            </a:pPr>
            <a:r>
              <a:rPr sz="850" b="0">
                <a:solidFill>
                  <a:srgbClr val="22262B"/>
                </a:solidFill>
                <a:latin typeface="Arial"/>
              </a:rPr>
              <a:t>NFC Handshake
(Path)</a:t>
            </a:r>
          </a:p>
        </p:txBody>
      </p:sp>
      <p:sp>
        <p:nvSpPr>
          <p:cNvPr id="17" name="Rounded Rectangle 16"/>
          <p:cNvSpPr/>
          <p:nvPr/>
        </p:nvSpPr>
        <p:spPr>
          <a:xfrm>
            <a:off x="4943943" y="2954238"/>
            <a:ext cx="749098" cy="309410"/>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wrap="square" lIns="12700" tIns="0" rIns="12700" bIns="0" rtlCol="0" anchor="ctr"/>
          <a:lstStyle/>
          <a:p>
            <a:pPr algn="ctr">
              <a:lnSpc>
                <a:spcPct val="92000"/>
              </a:lnSpc>
              <a:spcAft>
                <a:spcPts val="300"/>
              </a:spcAft>
            </a:pPr>
            <a:r>
              <a:rPr sz="850" b="0">
                <a:solidFill>
                  <a:srgbClr val="22262B"/>
                </a:solidFill>
                <a:latin typeface="Arial"/>
              </a:rPr>
              <a:t>NFC Reader
(embedded)</a:t>
            </a:r>
          </a:p>
        </p:txBody>
      </p:sp>
      <p:sp>
        <p:nvSpPr>
          <p:cNvPr id="18" name="Rounded Rectangle 17"/>
          <p:cNvSpPr/>
          <p:nvPr/>
        </p:nvSpPr>
        <p:spPr>
          <a:xfrm>
            <a:off x="1958298" y="2954238"/>
            <a:ext cx="749098" cy="309410"/>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wrap="square" lIns="12700" tIns="0" rIns="12700" bIns="0" rtlCol="0" anchor="ctr"/>
          <a:lstStyle/>
          <a:p>
            <a:pPr algn="ctr">
              <a:lnSpc>
                <a:spcPct val="92000"/>
              </a:lnSpc>
              <a:spcAft>
                <a:spcPts val="300"/>
              </a:spcAft>
            </a:pPr>
            <a:r>
              <a:rPr sz="850" b="0">
                <a:solidFill>
                  <a:srgbClr val="22262B"/>
                </a:solidFill>
                <a:latin typeface="Arial"/>
              </a:rPr>
              <a:t>Platform
NFC Reader</a:t>
            </a:r>
          </a:p>
        </p:txBody>
      </p:sp>
      <p:sp>
        <p:nvSpPr>
          <p:cNvPr id="19" name="Rounded Rectangle 18"/>
          <p:cNvSpPr/>
          <p:nvPr/>
        </p:nvSpPr>
        <p:spPr>
          <a:xfrm>
            <a:off x="4943943" y="2391535"/>
            <a:ext cx="749098" cy="309410"/>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wrap="square" lIns="12700" tIns="0" rIns="12700" bIns="0" rtlCol="0" anchor="ctr"/>
          <a:lstStyle/>
          <a:p>
            <a:pPr algn="ctr">
              <a:lnSpc>
                <a:spcPct val="92000"/>
              </a:lnSpc>
              <a:spcAft>
                <a:spcPts val="300"/>
              </a:spcAft>
            </a:pPr>
            <a:r>
              <a:rPr sz="850" b="0">
                <a:solidFill>
                  <a:srgbClr val="22262B"/>
                </a:solidFill>
                <a:latin typeface="Arial"/>
              </a:rPr>
              <a:t>NFC Interface</a:t>
            </a:r>
          </a:p>
        </p:txBody>
      </p:sp>
      <p:sp>
        <p:nvSpPr>
          <p:cNvPr id="20" name="Rounded Rectangle 19"/>
          <p:cNvSpPr/>
          <p:nvPr/>
        </p:nvSpPr>
        <p:spPr>
          <a:xfrm>
            <a:off x="5500230" y="3516974"/>
            <a:ext cx="749098" cy="309410"/>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wrap="square" lIns="12700" tIns="0" rIns="12700" bIns="0" rtlCol="0" anchor="ctr"/>
          <a:lstStyle/>
          <a:p>
            <a:pPr algn="ctr">
              <a:lnSpc>
                <a:spcPct val="92000"/>
              </a:lnSpc>
              <a:spcAft>
                <a:spcPts val="300"/>
              </a:spcAft>
            </a:pPr>
            <a:r>
              <a:rPr sz="850" b="0">
                <a:solidFill>
                  <a:srgbClr val="22262B"/>
                </a:solidFill>
                <a:latin typeface="Arial"/>
              </a:rPr>
              <a:t>Station Gate</a:t>
            </a:r>
          </a:p>
        </p:txBody>
      </p:sp>
      <p:sp>
        <p:nvSpPr>
          <p:cNvPr id="21" name="Rounded Rectangle 20"/>
          <p:cNvSpPr/>
          <p:nvPr/>
        </p:nvSpPr>
        <p:spPr>
          <a:xfrm>
            <a:off x="2207096" y="4079709"/>
            <a:ext cx="749098" cy="309410"/>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wrap="square" lIns="12700" tIns="0" rIns="12700" bIns="0" rtlCol="0" anchor="ctr"/>
          <a:lstStyle/>
          <a:p>
            <a:pPr algn="ctr">
              <a:lnSpc>
                <a:spcPct val="92000"/>
              </a:lnSpc>
              <a:spcAft>
                <a:spcPts val="300"/>
              </a:spcAft>
            </a:pPr>
            <a:r>
              <a:rPr sz="850" b="0">
                <a:solidFill>
                  <a:srgbClr val="22262B"/>
                </a:solidFill>
                <a:latin typeface="Arial"/>
              </a:rPr>
              <a:t>Station
Infrastructure</a:t>
            </a:r>
          </a:p>
        </p:txBody>
      </p:sp>
      <p:sp>
        <p:nvSpPr>
          <p:cNvPr id="22" name="Rounded Rectangle 21"/>
          <p:cNvSpPr/>
          <p:nvPr/>
        </p:nvSpPr>
        <p:spPr>
          <a:xfrm>
            <a:off x="6436603" y="2954238"/>
            <a:ext cx="749098" cy="309410"/>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wrap="square" lIns="12700" tIns="0" rIns="12700" bIns="0" rtlCol="0" anchor="ctr"/>
          <a:lstStyle/>
          <a:p>
            <a:pPr algn="ctr">
              <a:lnSpc>
                <a:spcPct val="92000"/>
              </a:lnSpc>
              <a:spcAft>
                <a:spcPts val="300"/>
              </a:spcAft>
            </a:pPr>
            <a:r>
              <a:rPr sz="850" b="0">
                <a:solidFill>
                  <a:srgbClr val="22262B"/>
                </a:solidFill>
                <a:latin typeface="Arial"/>
              </a:rPr>
              <a:t>Gate Firmware /
Access Ctrl Client</a:t>
            </a:r>
          </a:p>
        </p:txBody>
      </p:sp>
      <p:sp>
        <p:nvSpPr>
          <p:cNvPr id="23" name="Rounded Rectangle 22"/>
          <p:cNvSpPr/>
          <p:nvPr/>
        </p:nvSpPr>
        <p:spPr>
          <a:xfrm>
            <a:off x="6436603" y="2391535"/>
            <a:ext cx="749098" cy="309410"/>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wrap="square" lIns="12700" tIns="0" rIns="12700" bIns="0" rtlCol="0" anchor="ctr"/>
          <a:lstStyle/>
          <a:p>
            <a:pPr algn="ctr">
              <a:lnSpc>
                <a:spcPct val="92000"/>
              </a:lnSpc>
              <a:spcAft>
                <a:spcPts val="300"/>
              </a:spcAft>
            </a:pPr>
            <a:r>
              <a:rPr sz="850" b="0">
                <a:solidFill>
                  <a:srgbClr val="22262B"/>
                </a:solidFill>
                <a:latin typeface="Arial"/>
              </a:rPr>
              <a:t>NFC Handshake
Processing</a:t>
            </a:r>
          </a:p>
        </p:txBody>
      </p:sp>
      <p:sp>
        <p:nvSpPr>
          <p:cNvPr id="24" name="Rounded Rectangle 23"/>
          <p:cNvSpPr/>
          <p:nvPr/>
        </p:nvSpPr>
        <p:spPr>
          <a:xfrm>
            <a:off x="3948652" y="2391535"/>
            <a:ext cx="749098" cy="309410"/>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wrap="square" lIns="12700" tIns="0" rIns="12700" bIns="0" rtlCol="0" anchor="ctr"/>
          <a:lstStyle/>
          <a:p>
            <a:pPr algn="ctr">
              <a:lnSpc>
                <a:spcPct val="92000"/>
              </a:lnSpc>
              <a:spcAft>
                <a:spcPts val="300"/>
              </a:spcAft>
            </a:pPr>
            <a:r>
              <a:rPr sz="850" b="0">
                <a:solidFill>
                  <a:srgbClr val="22262B"/>
                </a:solidFill>
                <a:latin typeface="Arial"/>
              </a:rPr>
              <a:t>NFC Proximity
Comm Service</a:t>
            </a:r>
          </a:p>
        </p:txBody>
      </p:sp>
      <p:sp>
        <p:nvSpPr>
          <p:cNvPr id="25" name="Rounded Rectangle 24"/>
          <p:cNvSpPr/>
          <p:nvPr/>
        </p:nvSpPr>
        <p:spPr>
          <a:xfrm>
            <a:off x="4821710" y="1828800"/>
            <a:ext cx="749098" cy="309410"/>
          </a:xfrm>
          <a:prstGeom prst="roundRect">
            <a:avLst>
              <a:gd name="adj" fmla="val 7000"/>
            </a:avLst>
          </a:prstGeom>
          <a:solidFill>
            <a:srgbClr val="D7ECF7"/>
          </a:solidFill>
          <a:ln w="9525">
            <a:solidFill>
              <a:srgbClr val="4E97BE"/>
            </a:solidFill>
          </a:ln>
          <a:effectLst/>
        </p:spPr>
        <p:style>
          <a:lnRef idx="1">
            <a:schemeClr val="accent1"/>
          </a:lnRef>
          <a:fillRef idx="3">
            <a:schemeClr val="accent1"/>
          </a:fillRef>
          <a:effectRef idx="2">
            <a:schemeClr val="accent1"/>
          </a:effectRef>
          <a:fontRef idx="minor">
            <a:schemeClr val="lt1"/>
          </a:fontRef>
        </p:style>
        <p:txBody>
          <a:bodyPr wrap="square" lIns="12700" tIns="0" rIns="12700" bIns="0" rtlCol="0" anchor="ctr"/>
          <a:lstStyle/>
          <a:p>
            <a:pPr algn="ctr">
              <a:lnSpc>
                <a:spcPct val="92000"/>
              </a:lnSpc>
              <a:spcAft>
                <a:spcPts val="300"/>
              </a:spcAft>
            </a:pPr>
            <a:r>
              <a:rPr sz="850" b="0">
                <a:solidFill>
                  <a:srgbClr val="22262B"/>
                </a:solidFill>
                <a:latin typeface="Arial"/>
              </a:rPr>
              <a:t>Access Control
Management</a:t>
            </a:r>
          </a:p>
        </p:txBody>
      </p:sp>
      <p:sp>
        <p:nvSpPr>
          <p:cNvPr id="2" name="Freeform 1"/>
          <p:cNvSpPr/>
          <p:nvPr/>
        </p:nvSpPr>
        <p:spPr>
          <a:xfrm>
            <a:off x="3497728" y="3302308"/>
            <a:ext cx="191932" cy="213558"/>
          </a:xfrm>
          <a:custGeom>
            <a:avLst/>
            <a:gdLst/>
            <a:ahLst/>
            <a:cxnLst/>
            <a:rect l="l" t="t" r="r" b="b"/>
            <a:pathLst>
              <a:path w="191932" h="213558">
                <a:moveTo>
                  <a:pt x="191932" y="213558"/>
                </a:moveTo>
                <a:lnTo>
                  <a:pt x="132688" y="147638"/>
                </a:lnTo>
                <a:lnTo>
                  <a:pt x="62598" y="69666"/>
                </a:lnTo>
                <a:lnTo>
                  <a:pt x="0" y="0"/>
                </a:lnTo>
              </a:path>
            </a:pathLst>
          </a:custGeom>
          <a:noFill/>
          <a:ln w="11430">
            <a:solidFill>
              <a:srgbClr val="76808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361909" y="3317159"/>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assoc</a:t>
            </a:r>
          </a:p>
        </p:txBody>
      </p:sp>
      <p:sp>
        <p:nvSpPr>
          <p:cNvPr id="27" name="Freeform 26"/>
          <p:cNvSpPr/>
          <p:nvPr/>
        </p:nvSpPr>
        <p:spPr>
          <a:xfrm>
            <a:off x="3961582" y="3302308"/>
            <a:ext cx="191932" cy="213558"/>
          </a:xfrm>
          <a:custGeom>
            <a:avLst/>
            <a:gdLst/>
            <a:ahLst/>
            <a:cxnLst/>
            <a:rect l="l" t="t" r="r" b="b"/>
            <a:pathLst>
              <a:path w="191932" h="213558">
                <a:moveTo>
                  <a:pt x="0" y="213558"/>
                </a:moveTo>
                <a:lnTo>
                  <a:pt x="59244" y="147638"/>
                </a:lnTo>
                <a:lnTo>
                  <a:pt x="129301" y="69666"/>
                </a:lnTo>
                <a:lnTo>
                  <a:pt x="191932" y="0"/>
                </a:lnTo>
              </a:path>
            </a:pathLst>
          </a:custGeom>
          <a:noFill/>
          <a:ln w="11430">
            <a:solidFill>
              <a:srgbClr val="76808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859473" y="3317159"/>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assoc</a:t>
            </a:r>
          </a:p>
        </p:txBody>
      </p:sp>
      <p:sp>
        <p:nvSpPr>
          <p:cNvPr id="29" name="Freeform 28"/>
          <p:cNvSpPr/>
          <p:nvPr/>
        </p:nvSpPr>
        <p:spPr>
          <a:xfrm>
            <a:off x="4202303" y="3271172"/>
            <a:ext cx="690929" cy="256289"/>
          </a:xfrm>
          <a:custGeom>
            <a:avLst/>
            <a:gdLst/>
            <a:ahLst/>
            <a:cxnLst/>
            <a:rect l="l" t="t" r="r" b="b"/>
            <a:pathLst>
              <a:path w="690929" h="256289">
                <a:moveTo>
                  <a:pt x="0" y="256289"/>
                </a:moveTo>
                <a:lnTo>
                  <a:pt x="210367" y="178253"/>
                </a:lnTo>
                <a:lnTo>
                  <a:pt x="473202" y="80772"/>
                </a:lnTo>
                <a:lnTo>
                  <a:pt x="690929" y="0"/>
                </a:lnTo>
              </a:path>
            </a:pathLst>
          </a:custGeom>
          <a:noFill/>
          <a:ln w="11430">
            <a:solidFill>
              <a:srgbClr val="76808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386903" y="3317159"/>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assoc</a:t>
            </a:r>
          </a:p>
        </p:txBody>
      </p:sp>
      <p:sp>
        <p:nvSpPr>
          <p:cNvPr id="31" name="Freeform 30"/>
          <p:cNvSpPr/>
          <p:nvPr/>
        </p:nvSpPr>
        <p:spPr>
          <a:xfrm>
            <a:off x="2758009" y="3271172"/>
            <a:ext cx="690929" cy="256289"/>
          </a:xfrm>
          <a:custGeom>
            <a:avLst/>
            <a:gdLst/>
            <a:ahLst/>
            <a:cxnLst/>
            <a:rect l="l" t="t" r="r" b="b"/>
            <a:pathLst>
              <a:path w="690929" h="256289">
                <a:moveTo>
                  <a:pt x="690929" y="256289"/>
                </a:moveTo>
                <a:lnTo>
                  <a:pt x="480531" y="178253"/>
                </a:lnTo>
                <a:lnTo>
                  <a:pt x="217727" y="80772"/>
                </a:lnTo>
                <a:lnTo>
                  <a:pt x="0" y="0"/>
                </a:lnTo>
              </a:path>
            </a:pathLst>
          </a:custGeom>
          <a:noFill/>
          <a:ln w="11430">
            <a:solidFill>
              <a:srgbClr val="76808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894146" y="3317159"/>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assoc</a:t>
            </a:r>
          </a:p>
        </p:txBody>
      </p:sp>
      <p:sp>
        <p:nvSpPr>
          <p:cNvPr id="33" name="Freeform 32"/>
          <p:cNvSpPr/>
          <p:nvPr/>
        </p:nvSpPr>
        <p:spPr>
          <a:xfrm>
            <a:off x="5318492" y="2753219"/>
            <a:ext cx="0" cy="199912"/>
          </a:xfrm>
          <a:custGeom>
            <a:avLst/>
            <a:gdLst/>
            <a:ahLst/>
            <a:cxnLst/>
            <a:rect l="l" t="t" r="r" b="b"/>
            <a:pathLst>
              <a:path h="199912">
                <a:moveTo>
                  <a:pt x="0" y="199912"/>
                </a:moveTo>
                <a:lnTo>
                  <a:pt x="0" y="138258"/>
                </a:lnTo>
                <a:lnTo>
                  <a:pt x="0" y="66084"/>
                </a:lnTo>
                <a:lnTo>
                  <a:pt x="0" y="0"/>
                </a:lnTo>
              </a:path>
            </a:pathLst>
          </a:custGeom>
          <a:noFill/>
          <a:ln w="11430">
            <a:solidFill>
              <a:srgbClr val="76808B"/>
            </a:solidFill>
            <a:tailEnd type="diamond"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085161" y="2754456"/>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comp</a:t>
            </a:r>
          </a:p>
        </p:txBody>
      </p:sp>
      <p:sp>
        <p:nvSpPr>
          <p:cNvPr id="35" name="Freeform 34"/>
          <p:cNvSpPr/>
          <p:nvPr/>
        </p:nvSpPr>
        <p:spPr>
          <a:xfrm>
            <a:off x="4640982" y="2727555"/>
            <a:ext cx="404154" cy="224859"/>
          </a:xfrm>
          <a:custGeom>
            <a:avLst/>
            <a:gdLst/>
            <a:ahLst/>
            <a:cxnLst/>
            <a:rect l="l" t="t" r="r" b="b"/>
            <a:pathLst>
              <a:path w="404154" h="224859">
                <a:moveTo>
                  <a:pt x="404154" y="224859"/>
                </a:moveTo>
                <a:lnTo>
                  <a:pt x="279055" y="155258"/>
                </a:lnTo>
                <a:lnTo>
                  <a:pt x="130082" y="72369"/>
                </a:lnTo>
                <a:lnTo>
                  <a:pt x="0" y="0"/>
                </a:lnTo>
              </a:path>
            </a:pathLst>
          </a:custGeom>
          <a:noFill/>
          <a:ln w="11430">
            <a:solidFill>
              <a:srgbClr val="76808B"/>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598735" y="2754456"/>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real</a:t>
            </a:r>
          </a:p>
        </p:txBody>
      </p:sp>
      <p:sp>
        <p:nvSpPr>
          <p:cNvPr id="37" name="Freeform 36"/>
          <p:cNvSpPr/>
          <p:nvPr/>
        </p:nvSpPr>
        <p:spPr>
          <a:xfrm>
            <a:off x="2708797" y="2662253"/>
            <a:ext cx="1188884" cy="327453"/>
          </a:xfrm>
          <a:custGeom>
            <a:avLst/>
            <a:gdLst/>
            <a:ahLst/>
            <a:cxnLst/>
            <a:rect l="l" t="t" r="r" b="b"/>
            <a:pathLst>
              <a:path w="1188884" h="327453">
                <a:moveTo>
                  <a:pt x="0" y="327453"/>
                </a:moveTo>
                <a:lnTo>
                  <a:pt x="41005" y="315305"/>
                </a:lnTo>
                <a:lnTo>
                  <a:pt x="82173" y="303287"/>
                </a:lnTo>
                <a:lnTo>
                  <a:pt x="121647" y="291985"/>
                </a:lnTo>
                <a:lnTo>
                  <a:pt x="480432" y="189391"/>
                </a:lnTo>
                <a:lnTo>
                  <a:pt x="889733" y="79241"/>
                </a:lnTo>
                <a:lnTo>
                  <a:pt x="1188884" y="0"/>
                </a:lnTo>
              </a:path>
            </a:pathLst>
          </a:custGeom>
          <a:noFill/>
          <a:ln w="11430">
            <a:solidFill>
              <a:srgbClr val="76808B"/>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111026" y="2754456"/>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real</a:t>
            </a:r>
          </a:p>
        </p:txBody>
      </p:sp>
      <p:sp>
        <p:nvSpPr>
          <p:cNvPr id="39" name="Freeform 38"/>
          <p:cNvSpPr/>
          <p:nvPr/>
        </p:nvSpPr>
        <p:spPr>
          <a:xfrm>
            <a:off x="5506092" y="3300387"/>
            <a:ext cx="216588" cy="215479"/>
          </a:xfrm>
          <a:custGeom>
            <a:avLst/>
            <a:gdLst/>
            <a:ahLst/>
            <a:cxnLst/>
            <a:rect l="l" t="t" r="r" b="b"/>
            <a:pathLst>
              <a:path w="216588" h="215479">
                <a:moveTo>
                  <a:pt x="216588" y="215479"/>
                </a:moveTo>
                <a:lnTo>
                  <a:pt x="149820" y="148940"/>
                </a:lnTo>
                <a:lnTo>
                  <a:pt x="70676" y="70154"/>
                </a:lnTo>
                <a:lnTo>
                  <a:pt x="0" y="0"/>
                </a:lnTo>
              </a:path>
            </a:pathLst>
          </a:custGeom>
          <a:noFill/>
          <a:ln w="11430">
            <a:solidFill>
              <a:srgbClr val="76808B"/>
            </a:solidFill>
            <a:tailEnd type="diamond"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379914" y="3317159"/>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comp</a:t>
            </a:r>
          </a:p>
        </p:txBody>
      </p:sp>
      <p:sp>
        <p:nvSpPr>
          <p:cNvPr id="41" name="Freeform 40"/>
          <p:cNvSpPr/>
          <p:nvPr/>
        </p:nvSpPr>
        <p:spPr>
          <a:xfrm>
            <a:off x="6131752" y="3291235"/>
            <a:ext cx="378783" cy="223915"/>
          </a:xfrm>
          <a:custGeom>
            <a:avLst/>
            <a:gdLst/>
            <a:ahLst/>
            <a:cxnLst/>
            <a:rect l="l" t="t" r="r" b="b"/>
            <a:pathLst>
              <a:path w="378783" h="223915">
                <a:moveTo>
                  <a:pt x="0" y="223915"/>
                </a:moveTo>
                <a:lnTo>
                  <a:pt x="117250" y="154607"/>
                </a:lnTo>
                <a:lnTo>
                  <a:pt x="256648" y="72141"/>
                </a:lnTo>
                <a:lnTo>
                  <a:pt x="378783" y="0"/>
                </a:lnTo>
              </a:path>
            </a:pathLst>
          </a:custGeom>
          <a:noFill/>
          <a:ln w="11430">
            <a:solidFill>
              <a:srgbClr val="76808B"/>
            </a:solidFill>
            <a:tailEnd type="diamond"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137806" y="3317159"/>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comp</a:t>
            </a:r>
          </a:p>
        </p:txBody>
      </p:sp>
      <p:sp>
        <p:nvSpPr>
          <p:cNvPr id="43" name="Freeform 42"/>
          <p:cNvSpPr/>
          <p:nvPr/>
        </p:nvSpPr>
        <p:spPr>
          <a:xfrm>
            <a:off x="5594681" y="2167978"/>
            <a:ext cx="426661" cy="1347530"/>
          </a:xfrm>
          <a:custGeom>
            <a:avLst/>
            <a:gdLst/>
            <a:ahLst/>
            <a:cxnLst/>
            <a:rect l="l" t="t" r="r" b="b"/>
            <a:pathLst>
              <a:path w="426661" h="1347530">
                <a:moveTo>
                  <a:pt x="314947" y="1347530"/>
                </a:moveTo>
                <a:lnTo>
                  <a:pt x="364127" y="1095410"/>
                </a:lnTo>
                <a:lnTo>
                  <a:pt x="426661" y="582408"/>
                </a:lnTo>
                <a:lnTo>
                  <a:pt x="221147" y="223557"/>
                </a:lnTo>
                <a:lnTo>
                  <a:pt x="169362" y="132591"/>
                </a:lnTo>
                <a:lnTo>
                  <a:pt x="87287" y="58593"/>
                </a:lnTo>
                <a:lnTo>
                  <a:pt x="0" y="0"/>
                </a:lnTo>
              </a:path>
            </a:pathLst>
          </a:custGeom>
          <a:noFill/>
          <a:ln w="11430">
            <a:solidFill>
              <a:srgbClr val="76808B"/>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726454" y="2754456"/>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assign</a:t>
            </a:r>
          </a:p>
        </p:txBody>
      </p:sp>
      <p:sp>
        <p:nvSpPr>
          <p:cNvPr id="45" name="Freeform 44"/>
          <p:cNvSpPr/>
          <p:nvPr/>
        </p:nvSpPr>
        <p:spPr>
          <a:xfrm>
            <a:off x="2377761" y="3315076"/>
            <a:ext cx="170077" cy="763090"/>
          </a:xfrm>
          <a:custGeom>
            <a:avLst/>
            <a:gdLst/>
            <a:ahLst/>
            <a:cxnLst/>
            <a:rect l="l" t="t" r="r" b="b"/>
            <a:pathLst>
              <a:path w="170077" h="763090">
                <a:moveTo>
                  <a:pt x="170077" y="763090"/>
                </a:moveTo>
                <a:lnTo>
                  <a:pt x="126043" y="565504"/>
                </a:lnTo>
                <a:lnTo>
                  <a:pt x="48919" y="219485"/>
                </a:lnTo>
                <a:lnTo>
                  <a:pt x="0" y="0"/>
                </a:lnTo>
              </a:path>
            </a:pathLst>
          </a:custGeom>
          <a:noFill/>
          <a:ln w="11430">
            <a:solidFill>
              <a:srgbClr val="76808B"/>
            </a:solidFill>
            <a:tailEnd type="diamond"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2256826" y="3598527"/>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comp</a:t>
            </a:r>
          </a:p>
        </p:txBody>
      </p:sp>
      <p:sp>
        <p:nvSpPr>
          <p:cNvPr id="47" name="Freeform 46"/>
          <p:cNvSpPr/>
          <p:nvPr/>
        </p:nvSpPr>
        <p:spPr>
          <a:xfrm>
            <a:off x="2957791" y="3747794"/>
            <a:ext cx="2491305" cy="418853"/>
          </a:xfrm>
          <a:custGeom>
            <a:avLst/>
            <a:gdLst/>
            <a:ahLst/>
            <a:cxnLst/>
            <a:rect l="l" t="t" r="r" b="b"/>
            <a:pathLst>
              <a:path w="2491305" h="418853">
                <a:moveTo>
                  <a:pt x="0" y="418853"/>
                </a:moveTo>
                <a:lnTo>
                  <a:pt x="617615" y="315012"/>
                </a:lnTo>
                <a:lnTo>
                  <a:pt x="1842618" y="109042"/>
                </a:lnTo>
                <a:lnTo>
                  <a:pt x="2491305" y="0"/>
                </a:lnTo>
              </a:path>
            </a:pathLst>
          </a:custGeom>
          <a:noFill/>
          <a:ln w="11430">
            <a:solidFill>
              <a:srgbClr val="76808B"/>
            </a:solidFill>
            <a:tailEnd type="diamond"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093713" y="3879895"/>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comp</a:t>
            </a:r>
          </a:p>
        </p:txBody>
      </p:sp>
      <p:sp>
        <p:nvSpPr>
          <p:cNvPr id="49" name="Freeform 48"/>
          <p:cNvSpPr/>
          <p:nvPr/>
        </p:nvSpPr>
        <p:spPr>
          <a:xfrm>
            <a:off x="6811152" y="2753219"/>
            <a:ext cx="0" cy="199912"/>
          </a:xfrm>
          <a:custGeom>
            <a:avLst/>
            <a:gdLst/>
            <a:ahLst/>
            <a:cxnLst/>
            <a:rect l="l" t="t" r="r" b="b"/>
            <a:pathLst>
              <a:path h="199912">
                <a:moveTo>
                  <a:pt x="0" y="199912"/>
                </a:moveTo>
                <a:lnTo>
                  <a:pt x="0" y="138258"/>
                </a:lnTo>
                <a:lnTo>
                  <a:pt x="0" y="66084"/>
                </a:lnTo>
                <a:lnTo>
                  <a:pt x="0" y="0"/>
                </a:lnTo>
              </a:path>
            </a:pathLst>
          </a:custGeom>
          <a:noFill/>
          <a:ln w="11430">
            <a:solidFill>
              <a:srgbClr val="76808B"/>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588242" y="2754456"/>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assign</a:t>
            </a:r>
          </a:p>
        </p:txBody>
      </p:sp>
      <p:sp>
        <p:nvSpPr>
          <p:cNvPr id="51" name="Freeform 50"/>
          <p:cNvSpPr/>
          <p:nvPr/>
        </p:nvSpPr>
        <p:spPr>
          <a:xfrm>
            <a:off x="4562913" y="2166741"/>
            <a:ext cx="351555" cy="222938"/>
          </a:xfrm>
          <a:custGeom>
            <a:avLst/>
            <a:gdLst/>
            <a:ahLst/>
            <a:cxnLst/>
            <a:rect l="l" t="t" r="r" b="b"/>
            <a:pathLst>
              <a:path w="351555" h="222938">
                <a:moveTo>
                  <a:pt x="0" y="222938"/>
                </a:moveTo>
                <a:lnTo>
                  <a:pt x="108782" y="153955"/>
                </a:lnTo>
                <a:lnTo>
                  <a:pt x="238180" y="71913"/>
                </a:lnTo>
                <a:lnTo>
                  <a:pt x="351555" y="0"/>
                </a:lnTo>
              </a:path>
            </a:pathLst>
          </a:custGeom>
          <a:noFill/>
          <a:ln w="11430">
            <a:solidFill>
              <a:srgbClr val="76808B"/>
            </a:solidFill>
            <a:headEnd type="stealth"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571312" y="2191720"/>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serving</a:t>
            </a:r>
          </a:p>
        </p:txBody>
      </p:sp>
      <p:sp>
        <p:nvSpPr>
          <p:cNvPr id="53" name="TextBox 52"/>
          <p:cNvSpPr txBox="1"/>
          <p:nvPr/>
        </p:nvSpPr>
        <p:spPr>
          <a:xfrm>
            <a:off x="411480" y="4462272"/>
            <a:ext cx="8321040" cy="502920"/>
          </a:xfrm>
          <a:prstGeom prst="rect">
            <a:avLst/>
          </a:prstGeom>
          <a:noFill/>
        </p:spPr>
        <p:txBody>
          <a:bodyPr wrap="square">
            <a:spAutoFit/>
          </a:bodyPr>
          <a:lstStyle/>
          <a:p>
            <a:pPr algn="l">
              <a:lnSpc>
                <a:spcPct val="105000"/>
              </a:lnSpc>
              <a:spcAft>
                <a:spcPts val="300"/>
              </a:spcAft>
            </a:pPr>
            <a:r>
              <a:rPr sz="850" b="0">
                <a:solidFill>
                  <a:srgbClr val="595959"/>
                </a:solidFill>
                <a:latin typeface="Arial"/>
              </a:rPr>
              <a:t>Passenger taps a Go Card / mobile wallet → NFC Handshake (Path) → reader; NFC Readers realize NFC Proximity Communication Service; Station Gate ⊃ Gate Firmware → NFC Handshake Processing; gate assigned to Access Control Management (&lt; 400 ms).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2000">
                <a:solidFill>
                  <a:srgbClr val="000000"/>
                </a:solidFill>
                <a:latin typeface="Arial"/>
              </a:rPr>
              <a:t>Perspective 2 — Communication (pattern P01)</a:t>
            </a:r>
          </a:p>
        </p:txBody>
      </p:sp>
      <p:sp>
        <p:nvSpPr>
          <p:cNvPr id="4" name="Rounded Rectangle 3"/>
          <p:cNvSpPr/>
          <p:nvPr/>
        </p:nvSpPr>
        <p:spPr>
          <a:xfrm>
            <a:off x="502920" y="1481328"/>
            <a:ext cx="159105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522476"/>
            <a:ext cx="1591056" cy="219456"/>
          </a:xfrm>
          <a:prstGeom prst="rect">
            <a:avLst/>
          </a:prstGeom>
          <a:noFill/>
        </p:spPr>
        <p:txBody>
          <a:bodyPr wrap="square">
            <a:spAutoFit/>
          </a:bodyPr>
          <a:lstStyle/>
          <a:p>
            <a:pPr algn="ctr">
              <a:spcAft>
                <a:spcPts val="300"/>
              </a:spcAft>
            </a:pPr>
            <a:r>
              <a:rPr sz="850" b="1" dirty="0">
                <a:solidFill>
                  <a:srgbClr val="595959"/>
                </a:solidFill>
                <a:latin typeface="Arial"/>
              </a:rPr>
              <a:t>Overview</a:t>
            </a:r>
          </a:p>
        </p:txBody>
      </p:sp>
      <p:sp>
        <p:nvSpPr>
          <p:cNvPr id="6" name="Rounded Rectangle 5"/>
          <p:cNvSpPr/>
          <p:nvPr/>
        </p:nvSpPr>
        <p:spPr>
          <a:xfrm>
            <a:off x="2139696" y="1481328"/>
            <a:ext cx="159105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139696" y="1522476"/>
            <a:ext cx="1591056" cy="219456"/>
          </a:xfrm>
          <a:prstGeom prst="rect">
            <a:avLst/>
          </a:prstGeom>
          <a:noFill/>
        </p:spPr>
        <p:txBody>
          <a:bodyPr wrap="square">
            <a:spAutoFit/>
          </a:bodyPr>
          <a:lstStyle/>
          <a:p>
            <a:pPr algn="ctr">
              <a:spcAft>
                <a:spcPts val="300"/>
              </a:spcAft>
            </a:pPr>
            <a:r>
              <a:rPr sz="850" b="1">
                <a:solidFill>
                  <a:srgbClr val="595959"/>
                </a:solidFill>
                <a:latin typeface="Arial"/>
              </a:rPr>
              <a:t>1 Tap &amp; Gate</a:t>
            </a:r>
          </a:p>
        </p:txBody>
      </p:sp>
      <p:sp>
        <p:nvSpPr>
          <p:cNvPr id="8" name="Rounded Rectangle 7"/>
          <p:cNvSpPr/>
          <p:nvPr/>
        </p:nvSpPr>
        <p:spPr>
          <a:xfrm>
            <a:off x="3776472" y="1481328"/>
            <a:ext cx="1591056" cy="274320"/>
          </a:xfrm>
          <a:prstGeom prst="roundRect">
            <a:avLst>
              <a:gd name="adj" fmla="val 7000"/>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776472" y="1522476"/>
            <a:ext cx="1591056" cy="219456"/>
          </a:xfrm>
          <a:prstGeom prst="rect">
            <a:avLst/>
          </a:prstGeom>
          <a:noFill/>
        </p:spPr>
        <p:txBody>
          <a:bodyPr wrap="square">
            <a:spAutoFit/>
          </a:bodyPr>
          <a:lstStyle/>
          <a:p>
            <a:pPr algn="ctr">
              <a:spcAft>
                <a:spcPts val="300"/>
              </a:spcAft>
            </a:pPr>
            <a:r>
              <a:rPr sz="850" b="1">
                <a:solidFill>
                  <a:srgbClr val="FFFFFF"/>
                </a:solidFill>
                <a:latin typeface="Arial"/>
              </a:rPr>
              <a:t>2 Communication</a:t>
            </a:r>
          </a:p>
        </p:txBody>
      </p:sp>
      <p:sp>
        <p:nvSpPr>
          <p:cNvPr id="10" name="Rounded Rectangle 9"/>
          <p:cNvSpPr/>
          <p:nvPr/>
        </p:nvSpPr>
        <p:spPr>
          <a:xfrm>
            <a:off x="5413248" y="1481328"/>
            <a:ext cx="159105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13248" y="1522476"/>
            <a:ext cx="1591056" cy="219456"/>
          </a:xfrm>
          <a:prstGeom prst="rect">
            <a:avLst/>
          </a:prstGeom>
          <a:noFill/>
        </p:spPr>
        <p:txBody>
          <a:bodyPr wrap="square">
            <a:spAutoFit/>
          </a:bodyPr>
          <a:lstStyle/>
          <a:p>
            <a:pPr algn="ctr">
              <a:spcAft>
                <a:spcPts val="300"/>
              </a:spcAft>
            </a:pPr>
            <a:r>
              <a:rPr sz="850" b="1">
                <a:solidFill>
                  <a:srgbClr val="595959"/>
                </a:solidFill>
                <a:latin typeface="Arial"/>
              </a:rPr>
              <a:t>3 Storage</a:t>
            </a:r>
          </a:p>
        </p:txBody>
      </p:sp>
      <p:sp>
        <p:nvSpPr>
          <p:cNvPr id="12" name="Rounded Rectangle 11"/>
          <p:cNvSpPr/>
          <p:nvPr/>
        </p:nvSpPr>
        <p:spPr>
          <a:xfrm>
            <a:off x="7050024" y="1481328"/>
            <a:ext cx="159105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050024" y="1522476"/>
            <a:ext cx="1591056" cy="219456"/>
          </a:xfrm>
          <a:prstGeom prst="rect">
            <a:avLst/>
          </a:prstGeom>
          <a:noFill/>
        </p:spPr>
        <p:txBody>
          <a:bodyPr wrap="square">
            <a:spAutoFit/>
          </a:bodyPr>
          <a:lstStyle/>
          <a:p>
            <a:pPr algn="ctr">
              <a:spcAft>
                <a:spcPts val="300"/>
              </a:spcAft>
            </a:pPr>
            <a:r>
              <a:rPr sz="850" b="1">
                <a:solidFill>
                  <a:srgbClr val="595959"/>
                </a:solidFill>
                <a:latin typeface="Arial"/>
              </a:rPr>
              <a:t>4 Self-service</a:t>
            </a:r>
          </a:p>
        </p:txBody>
      </p:sp>
      <p:sp>
        <p:nvSpPr>
          <p:cNvPr id="14" name="Rounded Rectangle 13"/>
          <p:cNvSpPr/>
          <p:nvPr/>
        </p:nvSpPr>
        <p:spPr>
          <a:xfrm>
            <a:off x="1938990" y="3263930"/>
            <a:ext cx="986933" cy="407646"/>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wrap="square" lIns="12700" tIns="0" rIns="12700" bIns="0" rtlCol="0" anchor="ctr"/>
          <a:lstStyle/>
          <a:p>
            <a:pPr algn="ctr">
              <a:lnSpc>
                <a:spcPct val="92000"/>
              </a:lnSpc>
              <a:spcAft>
                <a:spcPts val="300"/>
              </a:spcAft>
            </a:pPr>
            <a:r>
              <a:rPr sz="850" b="0">
                <a:solidFill>
                  <a:srgbClr val="22262B"/>
                </a:solidFill>
                <a:latin typeface="Arial"/>
              </a:rPr>
              <a:t>NFC Handshake
(Path)</a:t>
            </a:r>
          </a:p>
        </p:txBody>
      </p:sp>
      <p:sp>
        <p:nvSpPr>
          <p:cNvPr id="15" name="Rounded Rectangle 14"/>
          <p:cNvSpPr/>
          <p:nvPr/>
        </p:nvSpPr>
        <p:spPr>
          <a:xfrm>
            <a:off x="1271479" y="2546386"/>
            <a:ext cx="986933" cy="407646"/>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wrap="square" lIns="12700" tIns="0" rIns="12700" bIns="0" rtlCol="0" anchor="ctr"/>
          <a:lstStyle/>
          <a:p>
            <a:pPr algn="ctr">
              <a:lnSpc>
                <a:spcPct val="92000"/>
              </a:lnSpc>
              <a:spcAft>
                <a:spcPts val="300"/>
              </a:spcAft>
            </a:pPr>
            <a:r>
              <a:rPr sz="850" b="0">
                <a:solidFill>
                  <a:srgbClr val="22262B"/>
                </a:solidFill>
                <a:latin typeface="Arial"/>
              </a:rPr>
              <a:t>Go Card</a:t>
            </a:r>
          </a:p>
        </p:txBody>
      </p:sp>
      <p:sp>
        <p:nvSpPr>
          <p:cNvPr id="16" name="Rounded Rectangle 15"/>
          <p:cNvSpPr/>
          <p:nvPr/>
        </p:nvSpPr>
        <p:spPr>
          <a:xfrm>
            <a:off x="2606457" y="2546386"/>
            <a:ext cx="986933" cy="407646"/>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wrap="square" lIns="12700" tIns="0" rIns="12700" bIns="0" rtlCol="0" anchor="ctr"/>
          <a:lstStyle/>
          <a:p>
            <a:pPr algn="ctr">
              <a:lnSpc>
                <a:spcPct val="92000"/>
              </a:lnSpc>
              <a:spcAft>
                <a:spcPts val="300"/>
              </a:spcAft>
            </a:pPr>
            <a:r>
              <a:rPr sz="850" b="0">
                <a:solidFill>
                  <a:srgbClr val="22262B"/>
                </a:solidFill>
                <a:latin typeface="Arial"/>
              </a:rPr>
              <a:t>Mobile Wallet /
Bank Card</a:t>
            </a:r>
          </a:p>
        </p:txBody>
      </p:sp>
      <p:sp>
        <p:nvSpPr>
          <p:cNvPr id="17" name="Rounded Rectangle 16"/>
          <p:cNvSpPr/>
          <p:nvPr/>
        </p:nvSpPr>
        <p:spPr>
          <a:xfrm>
            <a:off x="538445" y="1828800"/>
            <a:ext cx="986933" cy="407646"/>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wrap="square" lIns="12700" tIns="0" rIns="12700" bIns="0" rtlCol="0" anchor="ctr"/>
          <a:lstStyle/>
          <a:p>
            <a:pPr algn="ctr">
              <a:lnSpc>
                <a:spcPct val="92000"/>
              </a:lnSpc>
              <a:spcAft>
                <a:spcPts val="300"/>
              </a:spcAft>
            </a:pPr>
            <a:r>
              <a:rPr sz="850" b="0">
                <a:solidFill>
                  <a:srgbClr val="22262B"/>
                </a:solidFill>
                <a:latin typeface="Arial"/>
              </a:rPr>
              <a:t>NFC Reader
(embedded)</a:t>
            </a:r>
          </a:p>
        </p:txBody>
      </p:sp>
      <p:sp>
        <p:nvSpPr>
          <p:cNvPr id="18" name="Rounded Rectangle 17"/>
          <p:cNvSpPr/>
          <p:nvPr/>
        </p:nvSpPr>
        <p:spPr>
          <a:xfrm>
            <a:off x="3941478" y="2546386"/>
            <a:ext cx="986933" cy="407646"/>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wrap="square" lIns="12700" tIns="0" rIns="12700" bIns="0" rtlCol="0" anchor="ctr"/>
          <a:lstStyle/>
          <a:p>
            <a:pPr algn="ctr">
              <a:lnSpc>
                <a:spcPct val="92000"/>
              </a:lnSpc>
              <a:spcAft>
                <a:spcPts val="300"/>
              </a:spcAft>
            </a:pPr>
            <a:r>
              <a:rPr sz="850" b="0">
                <a:solidFill>
                  <a:srgbClr val="22262B"/>
                </a:solidFill>
                <a:latin typeface="Arial"/>
              </a:rPr>
              <a:t>Platform
NFC Reader</a:t>
            </a:r>
          </a:p>
        </p:txBody>
      </p:sp>
      <p:sp>
        <p:nvSpPr>
          <p:cNvPr id="19" name="Rounded Rectangle 18"/>
          <p:cNvSpPr/>
          <p:nvPr/>
        </p:nvSpPr>
        <p:spPr>
          <a:xfrm>
            <a:off x="5276584" y="2546386"/>
            <a:ext cx="986933" cy="407646"/>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wrap="square" lIns="12700" tIns="0" rIns="12700" bIns="0" rtlCol="0" anchor="ctr"/>
          <a:lstStyle/>
          <a:p>
            <a:pPr algn="ctr">
              <a:lnSpc>
                <a:spcPct val="92000"/>
              </a:lnSpc>
              <a:spcAft>
                <a:spcPts val="300"/>
              </a:spcAft>
            </a:pPr>
            <a:r>
              <a:rPr sz="850" b="0">
                <a:solidFill>
                  <a:srgbClr val="22262B"/>
                </a:solidFill>
                <a:latin typeface="Arial"/>
              </a:rPr>
              <a:t>Station Gate</a:t>
            </a:r>
          </a:p>
        </p:txBody>
      </p:sp>
      <p:sp>
        <p:nvSpPr>
          <p:cNvPr id="20" name="Rounded Rectangle 19"/>
          <p:cNvSpPr/>
          <p:nvPr/>
        </p:nvSpPr>
        <p:spPr>
          <a:xfrm>
            <a:off x="6611519" y="2546386"/>
            <a:ext cx="986933" cy="407646"/>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wrap="square" lIns="12700" tIns="0" rIns="12700" bIns="0" rtlCol="0" anchor="ctr"/>
          <a:lstStyle/>
          <a:p>
            <a:pPr algn="ctr">
              <a:lnSpc>
                <a:spcPct val="92000"/>
              </a:lnSpc>
              <a:spcAft>
                <a:spcPts val="300"/>
              </a:spcAft>
            </a:pPr>
            <a:r>
              <a:rPr sz="850" b="0">
                <a:solidFill>
                  <a:srgbClr val="22262B"/>
                </a:solidFill>
                <a:latin typeface="Arial"/>
              </a:rPr>
              <a:t>Journey &amp; Account
Mgmt Backend</a:t>
            </a:r>
          </a:p>
        </p:txBody>
      </p:sp>
      <p:sp>
        <p:nvSpPr>
          <p:cNvPr id="21" name="Rounded Rectangle 20"/>
          <p:cNvSpPr/>
          <p:nvPr/>
        </p:nvSpPr>
        <p:spPr>
          <a:xfrm>
            <a:off x="5425482" y="3263930"/>
            <a:ext cx="986933" cy="407646"/>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wrap="square" lIns="12700" tIns="0" rIns="12700" bIns="0" rtlCol="0" anchor="ctr"/>
          <a:lstStyle/>
          <a:p>
            <a:pPr algn="ctr">
              <a:lnSpc>
                <a:spcPct val="92000"/>
              </a:lnSpc>
              <a:spcAft>
                <a:spcPts val="300"/>
              </a:spcAft>
            </a:pPr>
            <a:r>
              <a:rPr sz="850" b="0">
                <a:solidFill>
                  <a:srgbClr val="22262B"/>
                </a:solidFill>
                <a:latin typeface="Arial"/>
              </a:rPr>
              <a:t>Gate-Backend
Link (Path)</a:t>
            </a:r>
          </a:p>
        </p:txBody>
      </p:sp>
      <p:sp>
        <p:nvSpPr>
          <p:cNvPr id="22" name="Rounded Rectangle 21"/>
          <p:cNvSpPr/>
          <p:nvPr/>
        </p:nvSpPr>
        <p:spPr>
          <a:xfrm>
            <a:off x="6313293" y="3981473"/>
            <a:ext cx="986933" cy="407646"/>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wrap="square" lIns="12700" tIns="0" rIns="12700" bIns="0" rtlCol="0" anchor="ctr"/>
          <a:lstStyle/>
          <a:p>
            <a:pPr algn="ctr">
              <a:lnSpc>
                <a:spcPct val="92000"/>
              </a:lnSpc>
              <a:spcAft>
                <a:spcPts val="300"/>
              </a:spcAft>
            </a:pPr>
            <a:r>
              <a:rPr sz="850" b="0">
                <a:solidFill>
                  <a:srgbClr val="22262B"/>
                </a:solidFill>
                <a:latin typeface="Arial"/>
              </a:rPr>
              <a:t>Private Network</a:t>
            </a:r>
          </a:p>
        </p:txBody>
      </p:sp>
      <p:sp>
        <p:nvSpPr>
          <p:cNvPr id="23" name="Rounded Rectangle 22"/>
          <p:cNvSpPr/>
          <p:nvPr/>
        </p:nvSpPr>
        <p:spPr>
          <a:xfrm>
            <a:off x="4090462" y="3263930"/>
            <a:ext cx="986933" cy="407646"/>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wrap="square" lIns="12700" tIns="0" rIns="12700" bIns="0" rtlCol="0" anchor="ctr"/>
          <a:lstStyle/>
          <a:p>
            <a:pPr algn="ctr">
              <a:lnSpc>
                <a:spcPct val="92000"/>
              </a:lnSpc>
              <a:spcAft>
                <a:spcPts val="300"/>
              </a:spcAft>
            </a:pPr>
            <a:r>
              <a:rPr sz="850" b="0">
                <a:solidFill>
                  <a:srgbClr val="22262B"/>
                </a:solidFill>
                <a:latin typeface="Arial"/>
              </a:rPr>
              <a:t>Station
Infrastructure</a:t>
            </a:r>
          </a:p>
        </p:txBody>
      </p:sp>
      <p:sp>
        <p:nvSpPr>
          <p:cNvPr id="24" name="Rounded Rectangle 23"/>
          <p:cNvSpPr/>
          <p:nvPr/>
        </p:nvSpPr>
        <p:spPr>
          <a:xfrm>
            <a:off x="7618620" y="3263930"/>
            <a:ext cx="986933" cy="407646"/>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wrap="square" lIns="12700" tIns="0" rIns="12700" bIns="0" rtlCol="0" anchor="ctr"/>
          <a:lstStyle/>
          <a:p>
            <a:pPr algn="ctr">
              <a:lnSpc>
                <a:spcPct val="92000"/>
              </a:lnSpc>
              <a:spcAft>
                <a:spcPts val="300"/>
              </a:spcAft>
            </a:pPr>
            <a:r>
              <a:rPr sz="850" b="0">
                <a:solidFill>
                  <a:srgbClr val="22262B"/>
                </a:solidFill>
                <a:latin typeface="Arial"/>
              </a:rPr>
              <a:t>Application
Server</a:t>
            </a:r>
          </a:p>
        </p:txBody>
      </p:sp>
      <p:sp>
        <p:nvSpPr>
          <p:cNvPr id="2" name="Freeform 1"/>
          <p:cNvSpPr/>
          <p:nvPr/>
        </p:nvSpPr>
        <p:spPr>
          <a:xfrm>
            <a:off x="2000609" y="3005267"/>
            <a:ext cx="242356" cy="256217"/>
          </a:xfrm>
          <a:custGeom>
            <a:avLst/>
            <a:gdLst/>
            <a:ahLst/>
            <a:cxnLst/>
            <a:rect l="l" t="t" r="r" b="b"/>
            <a:pathLst>
              <a:path w="242356" h="256217">
                <a:moveTo>
                  <a:pt x="242356" y="256217"/>
                </a:moveTo>
                <a:lnTo>
                  <a:pt x="166963" y="176490"/>
                </a:lnTo>
                <a:lnTo>
                  <a:pt x="79383" y="83932"/>
                </a:lnTo>
                <a:lnTo>
                  <a:pt x="0" y="0"/>
                </a:lnTo>
              </a:path>
            </a:pathLst>
          </a:custGeom>
          <a:noFill/>
          <a:ln w="11430">
            <a:solidFill>
              <a:srgbClr val="76808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908820" y="3035829"/>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assoc</a:t>
            </a:r>
          </a:p>
        </p:txBody>
      </p:sp>
      <p:sp>
        <p:nvSpPr>
          <p:cNvPr id="26" name="Freeform 25"/>
          <p:cNvSpPr/>
          <p:nvPr/>
        </p:nvSpPr>
        <p:spPr>
          <a:xfrm>
            <a:off x="2621948" y="3005267"/>
            <a:ext cx="242356" cy="256217"/>
          </a:xfrm>
          <a:custGeom>
            <a:avLst/>
            <a:gdLst/>
            <a:ahLst/>
            <a:cxnLst/>
            <a:rect l="l" t="t" r="r" b="b"/>
            <a:pathLst>
              <a:path w="242356" h="256217">
                <a:moveTo>
                  <a:pt x="0" y="256217"/>
                </a:moveTo>
                <a:lnTo>
                  <a:pt x="75393" y="176490"/>
                </a:lnTo>
                <a:lnTo>
                  <a:pt x="162930" y="83932"/>
                </a:lnTo>
                <a:lnTo>
                  <a:pt x="242356" y="0"/>
                </a:lnTo>
              </a:path>
            </a:pathLst>
          </a:custGeom>
          <a:noFill/>
          <a:ln w="11430">
            <a:solidFill>
              <a:srgbClr val="76808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76288" y="3035829"/>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assoc</a:t>
            </a:r>
          </a:p>
        </p:txBody>
      </p:sp>
      <p:sp>
        <p:nvSpPr>
          <p:cNvPr id="28" name="Freeform 27"/>
          <p:cNvSpPr/>
          <p:nvPr/>
        </p:nvSpPr>
        <p:spPr>
          <a:xfrm>
            <a:off x="797721" y="2302699"/>
            <a:ext cx="1138909" cy="1134974"/>
          </a:xfrm>
          <a:custGeom>
            <a:avLst/>
            <a:gdLst/>
            <a:ahLst/>
            <a:cxnLst/>
            <a:rect l="l" t="t" r="r" b="b"/>
            <a:pathLst>
              <a:path w="1138909" h="1134974">
                <a:moveTo>
                  <a:pt x="1138909" y="1134974"/>
                </a:moveTo>
                <a:lnTo>
                  <a:pt x="795627" y="1089274"/>
                </a:lnTo>
                <a:lnTo>
                  <a:pt x="361162" y="967495"/>
                </a:lnTo>
                <a:lnTo>
                  <a:pt x="134365" y="651333"/>
                </a:lnTo>
                <a:lnTo>
                  <a:pt x="0" y="463988"/>
                </a:lnTo>
                <a:lnTo>
                  <a:pt x="48678" y="197258"/>
                </a:lnTo>
                <a:lnTo>
                  <a:pt x="116823" y="0"/>
                </a:lnTo>
              </a:path>
            </a:pathLst>
          </a:custGeom>
          <a:noFill/>
          <a:ln w="11430">
            <a:solidFill>
              <a:srgbClr val="76808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22183" y="2677057"/>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assoc</a:t>
            </a:r>
          </a:p>
        </p:txBody>
      </p:sp>
      <p:sp>
        <p:nvSpPr>
          <p:cNvPr id="30" name="Freeform 29"/>
          <p:cNvSpPr/>
          <p:nvPr/>
        </p:nvSpPr>
        <p:spPr>
          <a:xfrm>
            <a:off x="2927425" y="2953689"/>
            <a:ext cx="946855" cy="333669"/>
          </a:xfrm>
          <a:custGeom>
            <a:avLst/>
            <a:gdLst/>
            <a:ahLst/>
            <a:cxnLst/>
            <a:rect l="l" t="t" r="r" b="b"/>
            <a:pathLst>
              <a:path w="946855" h="333669">
                <a:moveTo>
                  <a:pt x="0" y="333669"/>
                </a:moveTo>
                <a:lnTo>
                  <a:pt x="287026" y="232530"/>
                </a:lnTo>
                <a:lnTo>
                  <a:pt x="649359" y="104830"/>
                </a:lnTo>
                <a:lnTo>
                  <a:pt x="946855" y="0"/>
                </a:lnTo>
              </a:path>
            </a:pathLst>
          </a:custGeom>
          <a:noFill/>
          <a:ln w="11430">
            <a:solidFill>
              <a:srgbClr val="76808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283833" y="3035829"/>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assoc</a:t>
            </a:r>
          </a:p>
        </p:txBody>
      </p:sp>
      <p:sp>
        <p:nvSpPr>
          <p:cNvPr id="32" name="Freeform 31"/>
          <p:cNvSpPr/>
          <p:nvPr/>
        </p:nvSpPr>
        <p:spPr>
          <a:xfrm>
            <a:off x="1595408" y="2079481"/>
            <a:ext cx="3679460" cy="508185"/>
          </a:xfrm>
          <a:custGeom>
            <a:avLst/>
            <a:gdLst/>
            <a:ahLst/>
            <a:cxnLst/>
            <a:rect l="l" t="t" r="r" b="b"/>
            <a:pathLst>
              <a:path w="3679460" h="508185">
                <a:moveTo>
                  <a:pt x="3679460" y="508185"/>
                </a:moveTo>
                <a:lnTo>
                  <a:pt x="3621531" y="492823"/>
                </a:lnTo>
                <a:lnTo>
                  <a:pt x="3563173" y="478619"/>
                </a:lnTo>
                <a:lnTo>
                  <a:pt x="3506961" y="466905"/>
                </a:lnTo>
                <a:lnTo>
                  <a:pt x="2269175" y="208028"/>
                </a:lnTo>
                <a:lnTo>
                  <a:pt x="790062" y="63979"/>
                </a:lnTo>
                <a:lnTo>
                  <a:pt x="0" y="0"/>
                </a:lnTo>
              </a:path>
            </a:pathLst>
          </a:custGeom>
          <a:noFill/>
          <a:ln w="11430">
            <a:solidFill>
              <a:srgbClr val="76808B"/>
            </a:solidFill>
            <a:tailEnd type="diamond"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228758" y="2318242"/>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comp</a:t>
            </a:r>
          </a:p>
        </p:txBody>
      </p:sp>
      <p:sp>
        <p:nvSpPr>
          <p:cNvPr id="34" name="Freeform 33"/>
          <p:cNvSpPr/>
          <p:nvPr/>
        </p:nvSpPr>
        <p:spPr>
          <a:xfrm>
            <a:off x="5825834" y="3021830"/>
            <a:ext cx="50634" cy="239654"/>
          </a:xfrm>
          <a:custGeom>
            <a:avLst/>
            <a:gdLst/>
            <a:ahLst/>
            <a:cxnLst/>
            <a:rect l="l" t="t" r="r" b="b"/>
            <a:pathLst>
              <a:path w="50634" h="239654">
                <a:moveTo>
                  <a:pt x="50634" y="239654"/>
                </a:moveTo>
                <a:lnTo>
                  <a:pt x="35186" y="165162"/>
                </a:lnTo>
                <a:lnTo>
                  <a:pt x="16735" y="79427"/>
                </a:lnTo>
                <a:lnTo>
                  <a:pt x="0" y="0"/>
                </a:lnTo>
              </a:path>
            </a:pathLst>
          </a:custGeom>
          <a:noFill/>
          <a:ln w="11430">
            <a:solidFill>
              <a:srgbClr val="76808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638785" y="3035829"/>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assoc</a:t>
            </a:r>
          </a:p>
        </p:txBody>
      </p:sp>
      <p:sp>
        <p:nvSpPr>
          <p:cNvPr id="36" name="Freeform 35"/>
          <p:cNvSpPr/>
          <p:nvPr/>
        </p:nvSpPr>
        <p:spPr>
          <a:xfrm>
            <a:off x="6255794" y="2991193"/>
            <a:ext cx="453989" cy="270291"/>
          </a:xfrm>
          <a:custGeom>
            <a:avLst/>
            <a:gdLst/>
            <a:ahLst/>
            <a:cxnLst/>
            <a:rect l="l" t="t" r="r" b="b"/>
            <a:pathLst>
              <a:path w="453989" h="270291">
                <a:moveTo>
                  <a:pt x="0" y="270291"/>
                </a:moveTo>
                <a:lnTo>
                  <a:pt x="141174" y="186101"/>
                </a:lnTo>
                <a:lnTo>
                  <a:pt x="306807" y="87579"/>
                </a:lnTo>
                <a:lnTo>
                  <a:pt x="453989" y="0"/>
                </a:lnTo>
              </a:path>
            </a:pathLst>
          </a:custGeom>
          <a:noFill/>
          <a:ln w="11430">
            <a:solidFill>
              <a:srgbClr val="76808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337362" y="3035829"/>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assoc</a:t>
            </a:r>
          </a:p>
        </p:txBody>
      </p:sp>
      <p:sp>
        <p:nvSpPr>
          <p:cNvPr id="38" name="Freeform 37"/>
          <p:cNvSpPr/>
          <p:nvPr/>
        </p:nvSpPr>
        <p:spPr>
          <a:xfrm>
            <a:off x="6848812" y="3021959"/>
            <a:ext cx="200391" cy="957991"/>
          </a:xfrm>
          <a:custGeom>
            <a:avLst/>
            <a:gdLst/>
            <a:ahLst/>
            <a:cxnLst/>
            <a:rect l="l" t="t" r="r" b="b"/>
            <a:pathLst>
              <a:path w="200391" h="957991">
                <a:moveTo>
                  <a:pt x="0" y="957991"/>
                </a:moveTo>
                <a:lnTo>
                  <a:pt x="52351" y="707803"/>
                </a:lnTo>
                <a:lnTo>
                  <a:pt x="142033" y="277929"/>
                </a:lnTo>
                <a:lnTo>
                  <a:pt x="200391" y="0"/>
                </a:lnTo>
              </a:path>
            </a:pathLst>
          </a:custGeom>
          <a:noFill/>
          <a:ln w="11430">
            <a:solidFill>
              <a:srgbClr val="76808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785344" y="3394601"/>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assoc</a:t>
            </a:r>
          </a:p>
        </p:txBody>
      </p:sp>
      <p:sp>
        <p:nvSpPr>
          <p:cNvPr id="40" name="Freeform 39"/>
          <p:cNvSpPr/>
          <p:nvPr/>
        </p:nvSpPr>
        <p:spPr>
          <a:xfrm>
            <a:off x="6223611" y="3715773"/>
            <a:ext cx="331267" cy="263246"/>
          </a:xfrm>
          <a:custGeom>
            <a:avLst/>
            <a:gdLst/>
            <a:ahLst/>
            <a:cxnLst/>
            <a:rect l="l" t="t" r="r" b="b"/>
            <a:pathLst>
              <a:path w="331267" h="263246">
                <a:moveTo>
                  <a:pt x="331267" y="263246"/>
                </a:moveTo>
                <a:lnTo>
                  <a:pt x="228282" y="181296"/>
                </a:lnTo>
                <a:lnTo>
                  <a:pt x="107705" y="85778"/>
                </a:lnTo>
                <a:lnTo>
                  <a:pt x="0" y="0"/>
                </a:lnTo>
              </a:path>
            </a:pathLst>
          </a:custGeom>
          <a:noFill/>
          <a:ln w="11430">
            <a:solidFill>
              <a:srgbClr val="76808B"/>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150703" y="3753373"/>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real</a:t>
            </a:r>
          </a:p>
        </p:txBody>
      </p:sp>
      <p:sp>
        <p:nvSpPr>
          <p:cNvPr id="42" name="Freeform 41"/>
          <p:cNvSpPr/>
          <p:nvPr/>
        </p:nvSpPr>
        <p:spPr>
          <a:xfrm>
            <a:off x="5142275" y="3650893"/>
            <a:ext cx="1168444" cy="370963"/>
          </a:xfrm>
          <a:custGeom>
            <a:avLst/>
            <a:gdLst/>
            <a:ahLst/>
            <a:cxnLst/>
            <a:rect l="l" t="t" r="r" b="b"/>
            <a:pathLst>
              <a:path w="1168444" h="370963">
                <a:moveTo>
                  <a:pt x="1168444" y="370963"/>
                </a:moveTo>
                <a:lnTo>
                  <a:pt x="822159" y="260980"/>
                </a:lnTo>
                <a:lnTo>
                  <a:pt x="359158" y="114055"/>
                </a:lnTo>
                <a:lnTo>
                  <a:pt x="0" y="0"/>
                </a:lnTo>
              </a:path>
            </a:pathLst>
          </a:custGeom>
          <a:noFill/>
          <a:ln w="11430">
            <a:solidFill>
              <a:srgbClr val="76808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552107" y="3753373"/>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assoc</a:t>
            </a:r>
          </a:p>
        </p:txBody>
      </p:sp>
      <p:sp>
        <p:nvSpPr>
          <p:cNvPr id="44" name="Freeform 43"/>
          <p:cNvSpPr/>
          <p:nvPr/>
        </p:nvSpPr>
        <p:spPr>
          <a:xfrm>
            <a:off x="7177504" y="3706419"/>
            <a:ext cx="504194" cy="272600"/>
          </a:xfrm>
          <a:custGeom>
            <a:avLst/>
            <a:gdLst/>
            <a:ahLst/>
            <a:cxnLst/>
            <a:rect l="l" t="t" r="r" b="b"/>
            <a:pathLst>
              <a:path w="504194" h="272600">
                <a:moveTo>
                  <a:pt x="0" y="272600"/>
                </a:moveTo>
                <a:lnTo>
                  <a:pt x="157051" y="187689"/>
                </a:lnTo>
                <a:lnTo>
                  <a:pt x="341136" y="88180"/>
                </a:lnTo>
                <a:lnTo>
                  <a:pt x="504194" y="0"/>
                </a:lnTo>
              </a:path>
            </a:pathLst>
          </a:custGeom>
          <a:noFill/>
          <a:ln w="11430">
            <a:solidFill>
              <a:srgbClr val="76808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288680" y="3753373"/>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assoc</a:t>
            </a:r>
          </a:p>
        </p:txBody>
      </p:sp>
      <p:sp>
        <p:nvSpPr>
          <p:cNvPr id="46" name="Freeform 45"/>
          <p:cNvSpPr/>
          <p:nvPr/>
        </p:nvSpPr>
        <p:spPr>
          <a:xfrm>
            <a:off x="4491028" y="3021830"/>
            <a:ext cx="50591" cy="239654"/>
          </a:xfrm>
          <a:custGeom>
            <a:avLst/>
            <a:gdLst/>
            <a:ahLst/>
            <a:cxnLst/>
            <a:rect l="l" t="t" r="r" b="b"/>
            <a:pathLst>
              <a:path w="50591" h="239654">
                <a:moveTo>
                  <a:pt x="50591" y="239654"/>
                </a:moveTo>
                <a:lnTo>
                  <a:pt x="34886" y="165162"/>
                </a:lnTo>
                <a:lnTo>
                  <a:pt x="16778" y="79427"/>
                </a:lnTo>
                <a:lnTo>
                  <a:pt x="0" y="0"/>
                </a:lnTo>
              </a:path>
            </a:pathLst>
          </a:custGeom>
          <a:noFill/>
          <a:ln w="11430">
            <a:solidFill>
              <a:srgbClr val="76808B"/>
            </a:solidFill>
            <a:tailEnd type="diamond"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299516" y="3035829"/>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comp</a:t>
            </a:r>
          </a:p>
        </p:txBody>
      </p:sp>
      <p:sp>
        <p:nvSpPr>
          <p:cNvPr id="48" name="Freeform 47"/>
          <p:cNvSpPr/>
          <p:nvPr/>
        </p:nvSpPr>
        <p:spPr>
          <a:xfrm>
            <a:off x="4920430" y="2991193"/>
            <a:ext cx="454418" cy="270291"/>
          </a:xfrm>
          <a:custGeom>
            <a:avLst/>
            <a:gdLst/>
            <a:ahLst/>
            <a:cxnLst/>
            <a:rect l="l" t="t" r="r" b="b"/>
            <a:pathLst>
              <a:path w="454418" h="270291">
                <a:moveTo>
                  <a:pt x="0" y="270291"/>
                </a:moveTo>
                <a:lnTo>
                  <a:pt x="141603" y="186101"/>
                </a:lnTo>
                <a:lnTo>
                  <a:pt x="307237" y="87579"/>
                </a:lnTo>
                <a:lnTo>
                  <a:pt x="454418" y="0"/>
                </a:lnTo>
              </a:path>
            </a:pathLst>
          </a:custGeom>
          <a:noFill/>
          <a:ln w="11430">
            <a:solidFill>
              <a:srgbClr val="76808B"/>
            </a:solidFill>
            <a:tailEnd type="diamond"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998137" y="3035829"/>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comp</a:t>
            </a:r>
          </a:p>
        </p:txBody>
      </p:sp>
      <p:sp>
        <p:nvSpPr>
          <p:cNvPr id="50" name="TextBox 49"/>
          <p:cNvSpPr txBox="1"/>
          <p:nvPr/>
        </p:nvSpPr>
        <p:spPr>
          <a:xfrm>
            <a:off x="411480" y="4462272"/>
            <a:ext cx="8321040" cy="502920"/>
          </a:xfrm>
          <a:prstGeom prst="rect">
            <a:avLst/>
          </a:prstGeom>
          <a:noFill/>
        </p:spPr>
        <p:txBody>
          <a:bodyPr wrap="square">
            <a:spAutoFit/>
          </a:bodyPr>
          <a:lstStyle/>
          <a:p>
            <a:pPr algn="l">
              <a:lnSpc>
                <a:spcPct val="105000"/>
              </a:lnSpc>
              <a:spcAft>
                <a:spcPts val="300"/>
              </a:spcAft>
            </a:pPr>
            <a:r>
              <a:rPr sz="850" b="0">
                <a:solidFill>
                  <a:srgbClr val="595959"/>
                </a:solidFill>
                <a:latin typeface="Arial"/>
              </a:rPr>
              <a:t>Card ↔ reader uses NFC Handshake (Path); Gate-Backend Link (Path) is realized by the Private Network (Communication Network) — course pattern P01; the network connects Station Infrastructure, the backend and the Application Server.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2000">
                <a:solidFill>
                  <a:srgbClr val="000000"/>
                </a:solidFill>
                <a:latin typeface="Arial"/>
              </a:rPr>
              <a:t>Perspective 3 — Backend storage &amp; data</a:t>
            </a:r>
          </a:p>
        </p:txBody>
      </p:sp>
      <p:sp>
        <p:nvSpPr>
          <p:cNvPr id="4" name="Rounded Rectangle 3"/>
          <p:cNvSpPr/>
          <p:nvPr/>
        </p:nvSpPr>
        <p:spPr>
          <a:xfrm>
            <a:off x="502920" y="1481328"/>
            <a:ext cx="159105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522476"/>
            <a:ext cx="1591056" cy="219456"/>
          </a:xfrm>
          <a:prstGeom prst="rect">
            <a:avLst/>
          </a:prstGeom>
          <a:noFill/>
        </p:spPr>
        <p:txBody>
          <a:bodyPr wrap="square">
            <a:spAutoFit/>
          </a:bodyPr>
          <a:lstStyle/>
          <a:p>
            <a:pPr algn="ctr">
              <a:spcAft>
                <a:spcPts val="300"/>
              </a:spcAft>
            </a:pPr>
            <a:r>
              <a:rPr sz="850" b="1">
                <a:solidFill>
                  <a:srgbClr val="595959"/>
                </a:solidFill>
                <a:latin typeface="Arial"/>
              </a:rPr>
              <a:t>Overview</a:t>
            </a:r>
          </a:p>
        </p:txBody>
      </p:sp>
      <p:sp>
        <p:nvSpPr>
          <p:cNvPr id="6" name="Rounded Rectangle 5"/>
          <p:cNvSpPr/>
          <p:nvPr/>
        </p:nvSpPr>
        <p:spPr>
          <a:xfrm>
            <a:off x="2139696" y="1481328"/>
            <a:ext cx="159105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139696" y="1522476"/>
            <a:ext cx="1591056" cy="219456"/>
          </a:xfrm>
          <a:prstGeom prst="rect">
            <a:avLst/>
          </a:prstGeom>
          <a:noFill/>
        </p:spPr>
        <p:txBody>
          <a:bodyPr wrap="square">
            <a:spAutoFit/>
          </a:bodyPr>
          <a:lstStyle/>
          <a:p>
            <a:pPr algn="ctr">
              <a:spcAft>
                <a:spcPts val="300"/>
              </a:spcAft>
            </a:pPr>
            <a:r>
              <a:rPr sz="850" b="1">
                <a:solidFill>
                  <a:srgbClr val="595959"/>
                </a:solidFill>
                <a:latin typeface="Arial"/>
              </a:rPr>
              <a:t>1 Tap &amp; Gate</a:t>
            </a:r>
          </a:p>
        </p:txBody>
      </p:sp>
      <p:sp>
        <p:nvSpPr>
          <p:cNvPr id="8" name="Rounded Rectangle 7"/>
          <p:cNvSpPr/>
          <p:nvPr/>
        </p:nvSpPr>
        <p:spPr>
          <a:xfrm>
            <a:off x="3776472" y="1481328"/>
            <a:ext cx="159105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776472" y="1522476"/>
            <a:ext cx="1591056" cy="219456"/>
          </a:xfrm>
          <a:prstGeom prst="rect">
            <a:avLst/>
          </a:prstGeom>
          <a:noFill/>
        </p:spPr>
        <p:txBody>
          <a:bodyPr wrap="square">
            <a:spAutoFit/>
          </a:bodyPr>
          <a:lstStyle/>
          <a:p>
            <a:pPr algn="ctr">
              <a:spcAft>
                <a:spcPts val="300"/>
              </a:spcAft>
            </a:pPr>
            <a:r>
              <a:rPr sz="850" b="1">
                <a:solidFill>
                  <a:srgbClr val="595959"/>
                </a:solidFill>
                <a:latin typeface="Arial"/>
              </a:rPr>
              <a:t>2 Communication</a:t>
            </a:r>
          </a:p>
        </p:txBody>
      </p:sp>
      <p:sp>
        <p:nvSpPr>
          <p:cNvPr id="10" name="Rounded Rectangle 9"/>
          <p:cNvSpPr/>
          <p:nvPr/>
        </p:nvSpPr>
        <p:spPr>
          <a:xfrm>
            <a:off x="5413248" y="1481328"/>
            <a:ext cx="1591056" cy="274320"/>
          </a:xfrm>
          <a:prstGeom prst="roundRect">
            <a:avLst>
              <a:gd name="adj" fmla="val 7000"/>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13248" y="1522476"/>
            <a:ext cx="1591056" cy="219456"/>
          </a:xfrm>
          <a:prstGeom prst="rect">
            <a:avLst/>
          </a:prstGeom>
          <a:noFill/>
        </p:spPr>
        <p:txBody>
          <a:bodyPr wrap="square">
            <a:spAutoFit/>
          </a:bodyPr>
          <a:lstStyle/>
          <a:p>
            <a:pPr algn="ctr">
              <a:spcAft>
                <a:spcPts val="300"/>
              </a:spcAft>
            </a:pPr>
            <a:r>
              <a:rPr sz="850" b="1">
                <a:solidFill>
                  <a:srgbClr val="FFFFFF"/>
                </a:solidFill>
                <a:latin typeface="Arial"/>
              </a:rPr>
              <a:t>3 Storage</a:t>
            </a:r>
          </a:p>
        </p:txBody>
      </p:sp>
      <p:sp>
        <p:nvSpPr>
          <p:cNvPr id="12" name="Rounded Rectangle 11"/>
          <p:cNvSpPr/>
          <p:nvPr/>
        </p:nvSpPr>
        <p:spPr>
          <a:xfrm>
            <a:off x="7050024" y="1481328"/>
            <a:ext cx="159105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050024" y="1522476"/>
            <a:ext cx="1591056" cy="219456"/>
          </a:xfrm>
          <a:prstGeom prst="rect">
            <a:avLst/>
          </a:prstGeom>
          <a:noFill/>
        </p:spPr>
        <p:txBody>
          <a:bodyPr wrap="square">
            <a:spAutoFit/>
          </a:bodyPr>
          <a:lstStyle/>
          <a:p>
            <a:pPr algn="ctr">
              <a:spcAft>
                <a:spcPts val="300"/>
              </a:spcAft>
            </a:pPr>
            <a:r>
              <a:rPr sz="850" b="1">
                <a:solidFill>
                  <a:srgbClr val="595959"/>
                </a:solidFill>
                <a:latin typeface="Arial"/>
              </a:rPr>
              <a:t>4 Self-service</a:t>
            </a:r>
          </a:p>
        </p:txBody>
      </p:sp>
      <p:sp>
        <p:nvSpPr>
          <p:cNvPr id="14" name="Rounded Rectangle 13"/>
          <p:cNvSpPr/>
          <p:nvPr/>
        </p:nvSpPr>
        <p:spPr>
          <a:xfrm>
            <a:off x="4686025" y="4079709"/>
            <a:ext cx="749098" cy="309410"/>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wrap="square" lIns="12700" tIns="0" rIns="12700" bIns="0" rtlCol="0" anchor="ctr"/>
          <a:lstStyle/>
          <a:p>
            <a:pPr algn="ctr">
              <a:lnSpc>
                <a:spcPct val="92000"/>
              </a:lnSpc>
              <a:spcAft>
                <a:spcPts val="300"/>
              </a:spcAft>
            </a:pPr>
            <a:r>
              <a:rPr sz="850" b="0">
                <a:solidFill>
                  <a:srgbClr val="22262B"/>
                </a:solidFill>
                <a:latin typeface="Arial"/>
              </a:rPr>
              <a:t>Journey &amp; Account
Mgmt Backend</a:t>
            </a:r>
          </a:p>
        </p:txBody>
      </p:sp>
      <p:sp>
        <p:nvSpPr>
          <p:cNvPr id="15" name="Rounded Rectangle 14"/>
          <p:cNvSpPr/>
          <p:nvPr/>
        </p:nvSpPr>
        <p:spPr>
          <a:xfrm>
            <a:off x="3324458" y="3516974"/>
            <a:ext cx="749098" cy="309410"/>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wrap="square" lIns="12700" tIns="0" rIns="12700" bIns="0" rtlCol="0" anchor="ctr"/>
          <a:lstStyle/>
          <a:p>
            <a:pPr algn="ctr">
              <a:lnSpc>
                <a:spcPct val="92000"/>
              </a:lnSpc>
              <a:spcAft>
                <a:spcPts val="300"/>
              </a:spcAft>
            </a:pPr>
            <a:r>
              <a:rPr sz="850" b="0">
                <a:solidFill>
                  <a:srgbClr val="22262B"/>
                </a:solidFill>
                <a:latin typeface="Arial"/>
              </a:rPr>
              <a:t>Database (DBMS)</a:t>
            </a:r>
          </a:p>
        </p:txBody>
      </p:sp>
      <p:sp>
        <p:nvSpPr>
          <p:cNvPr id="16" name="Rounded Rectangle 15"/>
          <p:cNvSpPr/>
          <p:nvPr/>
        </p:nvSpPr>
        <p:spPr>
          <a:xfrm>
            <a:off x="3324458" y="2954238"/>
            <a:ext cx="749098" cy="309410"/>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wrap="square" lIns="12700" tIns="0" rIns="12700" bIns="0" rtlCol="0" anchor="ctr"/>
          <a:lstStyle/>
          <a:p>
            <a:pPr algn="ctr">
              <a:lnSpc>
                <a:spcPct val="92000"/>
              </a:lnSpc>
              <a:spcAft>
                <a:spcPts val="300"/>
              </a:spcAft>
            </a:pPr>
            <a:r>
              <a:rPr sz="850" b="0">
                <a:solidFill>
                  <a:srgbClr val="22262B"/>
                </a:solidFill>
                <a:latin typeface="Arial"/>
              </a:rPr>
              <a:t>Store Journey
&amp; Account Data</a:t>
            </a:r>
          </a:p>
        </p:txBody>
      </p:sp>
      <p:sp>
        <p:nvSpPr>
          <p:cNvPr id="17" name="Rounded Rectangle 16"/>
          <p:cNvSpPr/>
          <p:nvPr/>
        </p:nvSpPr>
        <p:spPr>
          <a:xfrm>
            <a:off x="3699886" y="2391535"/>
            <a:ext cx="749098" cy="309410"/>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wrap="square" lIns="12700" tIns="0" rIns="12700" bIns="0" rtlCol="0" anchor="ctr"/>
          <a:lstStyle/>
          <a:p>
            <a:pPr algn="ctr">
              <a:lnSpc>
                <a:spcPct val="92000"/>
              </a:lnSpc>
              <a:spcAft>
                <a:spcPts val="300"/>
              </a:spcAft>
            </a:pPr>
            <a:r>
              <a:rPr sz="850" b="0">
                <a:solidFill>
                  <a:srgbClr val="22262B"/>
                </a:solidFill>
                <a:latin typeface="Arial"/>
              </a:rPr>
              <a:t>Journey &amp; Account
Database</a:t>
            </a:r>
          </a:p>
        </p:txBody>
      </p:sp>
      <p:sp>
        <p:nvSpPr>
          <p:cNvPr id="18" name="Rounded Rectangle 17"/>
          <p:cNvSpPr/>
          <p:nvPr/>
        </p:nvSpPr>
        <p:spPr>
          <a:xfrm>
            <a:off x="5445839" y="3516974"/>
            <a:ext cx="749098" cy="309410"/>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wrap="square" lIns="12700" tIns="0" rIns="12700" bIns="0" rtlCol="0" anchor="ctr"/>
          <a:lstStyle/>
          <a:p>
            <a:pPr algn="ctr">
              <a:lnSpc>
                <a:spcPct val="92000"/>
              </a:lnSpc>
              <a:spcAft>
                <a:spcPts val="300"/>
              </a:spcAft>
            </a:pPr>
            <a:r>
              <a:rPr sz="850" b="0">
                <a:solidFill>
                  <a:srgbClr val="22262B"/>
                </a:solidFill>
                <a:latin typeface="Arial"/>
              </a:rPr>
              <a:t>Data Storage
Service</a:t>
            </a:r>
          </a:p>
        </p:txBody>
      </p:sp>
      <p:sp>
        <p:nvSpPr>
          <p:cNvPr id="19" name="Rounded Rectangle 18"/>
          <p:cNvSpPr/>
          <p:nvPr/>
        </p:nvSpPr>
        <p:spPr>
          <a:xfrm>
            <a:off x="4943878" y="2954238"/>
            <a:ext cx="749098" cy="309410"/>
          </a:xfrm>
          <a:prstGeom prst="roundRect">
            <a:avLst>
              <a:gd name="adj" fmla="val 7000"/>
            </a:avLst>
          </a:prstGeom>
          <a:solidFill>
            <a:srgbClr val="D7ECF7"/>
          </a:solidFill>
          <a:ln w="9525">
            <a:solidFill>
              <a:srgbClr val="4E97BE"/>
            </a:solidFill>
          </a:ln>
          <a:effectLst/>
        </p:spPr>
        <p:style>
          <a:lnRef idx="1">
            <a:schemeClr val="accent1"/>
          </a:lnRef>
          <a:fillRef idx="3">
            <a:schemeClr val="accent1"/>
          </a:fillRef>
          <a:effectRef idx="2">
            <a:schemeClr val="accent1"/>
          </a:effectRef>
          <a:fontRef idx="minor">
            <a:schemeClr val="lt1"/>
          </a:fontRef>
        </p:style>
        <p:txBody>
          <a:bodyPr wrap="square" lIns="12700" tIns="0" rIns="12700" bIns="0" rtlCol="0" anchor="ctr"/>
          <a:lstStyle/>
          <a:p>
            <a:pPr algn="ctr">
              <a:lnSpc>
                <a:spcPct val="92000"/>
              </a:lnSpc>
              <a:spcAft>
                <a:spcPts val="300"/>
              </a:spcAft>
            </a:pPr>
            <a:r>
              <a:rPr sz="850" b="0">
                <a:solidFill>
                  <a:srgbClr val="22262B"/>
                </a:solidFill>
                <a:latin typeface="Arial"/>
              </a:rPr>
              <a:t>Journey &amp; Account
Mgmt System</a:t>
            </a:r>
          </a:p>
        </p:txBody>
      </p:sp>
      <p:sp>
        <p:nvSpPr>
          <p:cNvPr id="20" name="Rounded Rectangle 19"/>
          <p:cNvSpPr/>
          <p:nvPr/>
        </p:nvSpPr>
        <p:spPr>
          <a:xfrm>
            <a:off x="6187772" y="2954238"/>
            <a:ext cx="749098" cy="309410"/>
          </a:xfrm>
          <a:prstGeom prst="roundRect">
            <a:avLst>
              <a:gd name="adj" fmla="val 7000"/>
            </a:avLst>
          </a:prstGeom>
          <a:solidFill>
            <a:srgbClr val="D7ECF7"/>
          </a:solidFill>
          <a:ln w="9525">
            <a:solidFill>
              <a:srgbClr val="4E97BE"/>
            </a:solidFill>
          </a:ln>
          <a:effectLst/>
        </p:spPr>
        <p:style>
          <a:lnRef idx="1">
            <a:schemeClr val="accent1"/>
          </a:lnRef>
          <a:fillRef idx="3">
            <a:schemeClr val="accent1"/>
          </a:fillRef>
          <a:effectRef idx="2">
            <a:schemeClr val="accent1"/>
          </a:effectRef>
          <a:fontRef idx="minor">
            <a:schemeClr val="lt1"/>
          </a:fontRef>
        </p:style>
        <p:txBody>
          <a:bodyPr wrap="square" lIns="12700" tIns="0" rIns="12700" bIns="0" rtlCol="0" anchor="ctr"/>
          <a:lstStyle/>
          <a:p>
            <a:pPr algn="ctr">
              <a:lnSpc>
                <a:spcPct val="92000"/>
              </a:lnSpc>
              <a:spcAft>
                <a:spcPts val="300"/>
              </a:spcAft>
            </a:pPr>
            <a:r>
              <a:rPr sz="850" b="0">
                <a:solidFill>
                  <a:srgbClr val="22262B"/>
                </a:solidFill>
                <a:latin typeface="Arial"/>
              </a:rPr>
              <a:t>Fare Management
System</a:t>
            </a:r>
          </a:p>
        </p:txBody>
      </p:sp>
      <p:sp>
        <p:nvSpPr>
          <p:cNvPr id="21" name="Rounded Rectangle 20"/>
          <p:cNvSpPr/>
          <p:nvPr/>
        </p:nvSpPr>
        <p:spPr>
          <a:xfrm>
            <a:off x="2207129" y="1828800"/>
            <a:ext cx="749098" cy="309410"/>
          </a:xfrm>
          <a:prstGeom prst="roundRect">
            <a:avLst>
              <a:gd name="adj" fmla="val 7000"/>
            </a:avLst>
          </a:prstGeom>
          <a:solidFill>
            <a:srgbClr val="D7ECF7"/>
          </a:solidFill>
          <a:ln w="9525">
            <a:solidFill>
              <a:srgbClr val="4E97BE"/>
            </a:solidFill>
          </a:ln>
          <a:effectLst/>
        </p:spPr>
        <p:style>
          <a:lnRef idx="1">
            <a:schemeClr val="accent1"/>
          </a:lnRef>
          <a:fillRef idx="3">
            <a:schemeClr val="accent1"/>
          </a:fillRef>
          <a:effectRef idx="2">
            <a:schemeClr val="accent1"/>
          </a:effectRef>
          <a:fontRef idx="minor">
            <a:schemeClr val="lt1"/>
          </a:fontRef>
        </p:style>
        <p:txBody>
          <a:bodyPr wrap="square" lIns="12700" tIns="0" rIns="12700" bIns="0" rtlCol="0" anchor="ctr"/>
          <a:lstStyle/>
          <a:p>
            <a:pPr algn="ctr">
              <a:lnSpc>
                <a:spcPct val="92000"/>
              </a:lnSpc>
              <a:spcAft>
                <a:spcPts val="300"/>
              </a:spcAft>
            </a:pPr>
            <a:r>
              <a:rPr sz="850" b="0">
                <a:solidFill>
                  <a:srgbClr val="22262B"/>
                </a:solidFill>
                <a:latin typeface="Arial"/>
              </a:rPr>
              <a:t>Tap Event
Data</a:t>
            </a:r>
          </a:p>
        </p:txBody>
      </p:sp>
      <p:sp>
        <p:nvSpPr>
          <p:cNvPr id="22" name="Rounded Rectangle 21"/>
          <p:cNvSpPr/>
          <p:nvPr/>
        </p:nvSpPr>
        <p:spPr>
          <a:xfrm>
            <a:off x="3202322" y="1828800"/>
            <a:ext cx="749098" cy="309410"/>
          </a:xfrm>
          <a:prstGeom prst="roundRect">
            <a:avLst>
              <a:gd name="adj" fmla="val 7000"/>
            </a:avLst>
          </a:prstGeom>
          <a:solidFill>
            <a:srgbClr val="D7ECF7"/>
          </a:solidFill>
          <a:ln w="9525">
            <a:solidFill>
              <a:srgbClr val="4E97BE"/>
            </a:solidFill>
          </a:ln>
          <a:effectLst/>
        </p:spPr>
        <p:style>
          <a:lnRef idx="1">
            <a:schemeClr val="accent1"/>
          </a:lnRef>
          <a:fillRef idx="3">
            <a:schemeClr val="accent1"/>
          </a:fillRef>
          <a:effectRef idx="2">
            <a:schemeClr val="accent1"/>
          </a:effectRef>
          <a:fontRef idx="minor">
            <a:schemeClr val="lt1"/>
          </a:fontRef>
        </p:style>
        <p:txBody>
          <a:bodyPr wrap="square" lIns="12700" tIns="0" rIns="12700" bIns="0" rtlCol="0" anchor="ctr"/>
          <a:lstStyle/>
          <a:p>
            <a:pPr algn="ctr">
              <a:lnSpc>
                <a:spcPct val="92000"/>
              </a:lnSpc>
              <a:spcAft>
                <a:spcPts val="300"/>
              </a:spcAft>
            </a:pPr>
            <a:r>
              <a:rPr sz="850" b="0">
                <a:solidFill>
                  <a:srgbClr val="22262B"/>
                </a:solidFill>
                <a:latin typeface="Arial"/>
              </a:rPr>
              <a:t>Go Card
Account Data</a:t>
            </a:r>
          </a:p>
        </p:txBody>
      </p:sp>
      <p:sp>
        <p:nvSpPr>
          <p:cNvPr id="23" name="Rounded Rectangle 22"/>
          <p:cNvSpPr/>
          <p:nvPr/>
        </p:nvSpPr>
        <p:spPr>
          <a:xfrm>
            <a:off x="4197483" y="1828800"/>
            <a:ext cx="749098" cy="309410"/>
          </a:xfrm>
          <a:prstGeom prst="roundRect">
            <a:avLst>
              <a:gd name="adj" fmla="val 7000"/>
            </a:avLst>
          </a:prstGeom>
          <a:solidFill>
            <a:srgbClr val="D7ECF7"/>
          </a:solidFill>
          <a:ln w="9525">
            <a:solidFill>
              <a:srgbClr val="4E97BE"/>
            </a:solidFill>
          </a:ln>
          <a:effectLst/>
        </p:spPr>
        <p:style>
          <a:lnRef idx="1">
            <a:schemeClr val="accent1"/>
          </a:lnRef>
          <a:fillRef idx="3">
            <a:schemeClr val="accent1"/>
          </a:fillRef>
          <a:effectRef idx="2">
            <a:schemeClr val="accent1"/>
          </a:effectRef>
          <a:fontRef idx="minor">
            <a:schemeClr val="lt1"/>
          </a:fontRef>
        </p:style>
        <p:txBody>
          <a:bodyPr wrap="square" lIns="12700" tIns="0" rIns="12700" bIns="0" rtlCol="0" anchor="ctr"/>
          <a:lstStyle/>
          <a:p>
            <a:pPr algn="ctr">
              <a:lnSpc>
                <a:spcPct val="92000"/>
              </a:lnSpc>
              <a:spcAft>
                <a:spcPts val="300"/>
              </a:spcAft>
            </a:pPr>
            <a:r>
              <a:rPr sz="850" b="0">
                <a:solidFill>
                  <a:srgbClr val="22262B"/>
                </a:solidFill>
                <a:latin typeface="Arial"/>
              </a:rPr>
              <a:t>Fare &amp; Zone
Data</a:t>
            </a:r>
          </a:p>
        </p:txBody>
      </p:sp>
      <p:sp>
        <p:nvSpPr>
          <p:cNvPr id="24" name="Rounded Rectangle 23"/>
          <p:cNvSpPr/>
          <p:nvPr/>
        </p:nvSpPr>
        <p:spPr>
          <a:xfrm>
            <a:off x="5192774" y="1828800"/>
            <a:ext cx="749098" cy="309410"/>
          </a:xfrm>
          <a:prstGeom prst="roundRect">
            <a:avLst>
              <a:gd name="adj" fmla="val 7000"/>
            </a:avLst>
          </a:prstGeom>
          <a:solidFill>
            <a:srgbClr val="D7ECF7"/>
          </a:solidFill>
          <a:ln w="9525">
            <a:solidFill>
              <a:srgbClr val="4E97BE"/>
            </a:solidFill>
          </a:ln>
          <a:effectLst/>
        </p:spPr>
        <p:style>
          <a:lnRef idx="1">
            <a:schemeClr val="accent1"/>
          </a:lnRef>
          <a:fillRef idx="3">
            <a:schemeClr val="accent1"/>
          </a:fillRef>
          <a:effectRef idx="2">
            <a:schemeClr val="accent1"/>
          </a:effectRef>
          <a:fontRef idx="minor">
            <a:schemeClr val="lt1"/>
          </a:fontRef>
        </p:style>
        <p:txBody>
          <a:bodyPr wrap="square" lIns="12700" tIns="0" rIns="12700" bIns="0" rtlCol="0" anchor="ctr"/>
          <a:lstStyle/>
          <a:p>
            <a:pPr algn="ctr">
              <a:lnSpc>
                <a:spcPct val="92000"/>
              </a:lnSpc>
              <a:spcAft>
                <a:spcPts val="300"/>
              </a:spcAft>
            </a:pPr>
            <a:r>
              <a:rPr sz="850" b="0">
                <a:solidFill>
                  <a:srgbClr val="22262B"/>
                </a:solidFill>
                <a:latin typeface="Arial"/>
              </a:rPr>
              <a:t>Digital Ticket</a:t>
            </a:r>
          </a:p>
        </p:txBody>
      </p:sp>
      <p:sp>
        <p:nvSpPr>
          <p:cNvPr id="2" name="Freeform 1"/>
          <p:cNvSpPr/>
          <p:nvPr/>
        </p:nvSpPr>
        <p:spPr>
          <a:xfrm>
            <a:off x="3930413" y="3856869"/>
            <a:ext cx="755515" cy="301440"/>
          </a:xfrm>
          <a:custGeom>
            <a:avLst/>
            <a:gdLst/>
            <a:ahLst/>
            <a:cxnLst/>
            <a:rect l="l" t="t" r="r" b="b"/>
            <a:pathLst>
              <a:path w="755515" h="301440">
                <a:moveTo>
                  <a:pt x="755515" y="301440"/>
                </a:moveTo>
                <a:lnTo>
                  <a:pt x="584655" y="261259"/>
                </a:lnTo>
                <a:lnTo>
                  <a:pt x="382594" y="202908"/>
                </a:lnTo>
                <a:lnTo>
                  <a:pt x="210757" y="123308"/>
                </a:lnTo>
                <a:lnTo>
                  <a:pt x="138648" y="89924"/>
                </a:lnTo>
                <a:lnTo>
                  <a:pt x="65497" y="45011"/>
                </a:lnTo>
                <a:lnTo>
                  <a:pt x="0" y="0"/>
                </a:lnTo>
              </a:path>
            </a:pathLst>
          </a:custGeom>
          <a:noFill/>
          <a:ln w="11430">
            <a:solidFill>
              <a:srgbClr val="76808B"/>
            </a:solidFill>
            <a:tailEnd type="diamond"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07936" y="3879895"/>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comp</a:t>
            </a:r>
          </a:p>
        </p:txBody>
      </p:sp>
      <p:sp>
        <p:nvSpPr>
          <p:cNvPr id="26" name="Freeform 25"/>
          <p:cNvSpPr/>
          <p:nvPr/>
        </p:nvSpPr>
        <p:spPr>
          <a:xfrm>
            <a:off x="4188950" y="2745761"/>
            <a:ext cx="782384" cy="1332157"/>
          </a:xfrm>
          <a:custGeom>
            <a:avLst/>
            <a:gdLst/>
            <a:ahLst/>
            <a:cxnLst/>
            <a:rect l="l" t="t" r="r" b="b"/>
            <a:pathLst>
              <a:path w="782384" h="1332157">
                <a:moveTo>
                  <a:pt x="782384" y="1332157"/>
                </a:moveTo>
                <a:lnTo>
                  <a:pt x="602926" y="1026590"/>
                </a:lnTo>
                <a:lnTo>
                  <a:pt x="198641" y="338201"/>
                </a:lnTo>
                <a:lnTo>
                  <a:pt x="0" y="0"/>
                </a:lnTo>
              </a:path>
            </a:pathLst>
          </a:custGeom>
          <a:noFill/>
          <a:ln w="11430">
            <a:solidFill>
              <a:srgbClr val="76808B"/>
            </a:solidFill>
            <a:tailEnd type="diamond"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345638" y="3317159"/>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comp</a:t>
            </a:r>
          </a:p>
        </p:txBody>
      </p:sp>
      <p:sp>
        <p:nvSpPr>
          <p:cNvPr id="28" name="Freeform 27"/>
          <p:cNvSpPr/>
          <p:nvPr/>
        </p:nvSpPr>
        <p:spPr>
          <a:xfrm>
            <a:off x="5268237" y="3858204"/>
            <a:ext cx="302343" cy="220391"/>
          </a:xfrm>
          <a:custGeom>
            <a:avLst/>
            <a:gdLst/>
            <a:ahLst/>
            <a:cxnLst/>
            <a:rect l="l" t="t" r="r" b="b"/>
            <a:pathLst>
              <a:path w="302343" h="220391">
                <a:moveTo>
                  <a:pt x="0" y="220391"/>
                </a:moveTo>
                <a:lnTo>
                  <a:pt x="93442" y="152328"/>
                </a:lnTo>
                <a:lnTo>
                  <a:pt x="204635" y="71393"/>
                </a:lnTo>
                <a:lnTo>
                  <a:pt x="302343" y="0"/>
                </a:lnTo>
              </a:path>
            </a:pathLst>
          </a:custGeom>
          <a:noFill/>
          <a:ln w="11430">
            <a:solidFill>
              <a:srgbClr val="76808B"/>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211530" y="3879895"/>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real</a:t>
            </a:r>
          </a:p>
        </p:txBody>
      </p:sp>
      <p:sp>
        <p:nvSpPr>
          <p:cNvPr id="30" name="Freeform 29"/>
          <p:cNvSpPr/>
          <p:nvPr/>
        </p:nvSpPr>
        <p:spPr>
          <a:xfrm>
            <a:off x="5080018" y="3312796"/>
            <a:ext cx="165323" cy="765506"/>
          </a:xfrm>
          <a:custGeom>
            <a:avLst/>
            <a:gdLst/>
            <a:ahLst/>
            <a:cxnLst/>
            <a:rect l="l" t="t" r="r" b="b"/>
            <a:pathLst>
              <a:path w="165323" h="765506">
                <a:moveTo>
                  <a:pt x="0" y="765506"/>
                </a:moveTo>
                <a:lnTo>
                  <a:pt x="20226" y="620220"/>
                </a:lnTo>
                <a:lnTo>
                  <a:pt x="55694" y="395426"/>
                </a:lnTo>
                <a:lnTo>
                  <a:pt x="103832" y="204178"/>
                </a:lnTo>
                <a:lnTo>
                  <a:pt x="120768" y="136857"/>
                </a:lnTo>
                <a:lnTo>
                  <a:pt x="143436" y="64552"/>
                </a:lnTo>
                <a:lnTo>
                  <a:pt x="165323" y="0"/>
                </a:lnTo>
              </a:path>
            </a:pathLst>
          </a:custGeom>
          <a:noFill/>
          <a:ln w="11430">
            <a:solidFill>
              <a:srgbClr val="76808B"/>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960778" y="3598527"/>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assign</a:t>
            </a:r>
          </a:p>
        </p:txBody>
      </p:sp>
      <p:sp>
        <p:nvSpPr>
          <p:cNvPr id="32" name="Freeform 31"/>
          <p:cNvSpPr/>
          <p:nvPr/>
        </p:nvSpPr>
        <p:spPr>
          <a:xfrm>
            <a:off x="5436687" y="3316802"/>
            <a:ext cx="1105441" cy="881711"/>
          </a:xfrm>
          <a:custGeom>
            <a:avLst/>
            <a:gdLst/>
            <a:ahLst/>
            <a:cxnLst/>
            <a:rect l="l" t="t" r="r" b="b"/>
            <a:pathLst>
              <a:path w="1105441" h="881711">
                <a:moveTo>
                  <a:pt x="0" y="881711"/>
                </a:moveTo>
                <a:lnTo>
                  <a:pt x="277199" y="839530"/>
                </a:lnTo>
                <a:lnTo>
                  <a:pt x="645560" y="740760"/>
                </a:lnTo>
                <a:lnTo>
                  <a:pt x="881363" y="509582"/>
                </a:lnTo>
                <a:lnTo>
                  <a:pt x="1019132" y="374614"/>
                </a:lnTo>
                <a:lnTo>
                  <a:pt x="1079060" y="158841"/>
                </a:lnTo>
                <a:lnTo>
                  <a:pt x="1105441" y="0"/>
                </a:lnTo>
              </a:path>
            </a:pathLst>
          </a:custGeom>
          <a:noFill/>
          <a:ln w="11430">
            <a:solidFill>
              <a:srgbClr val="76808B"/>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68084" y="3598527"/>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assign</a:t>
            </a:r>
          </a:p>
        </p:txBody>
      </p:sp>
      <p:sp>
        <p:nvSpPr>
          <p:cNvPr id="34" name="Freeform 33"/>
          <p:cNvSpPr/>
          <p:nvPr/>
        </p:nvSpPr>
        <p:spPr>
          <a:xfrm>
            <a:off x="3699007" y="3315955"/>
            <a:ext cx="0" cy="199911"/>
          </a:xfrm>
          <a:custGeom>
            <a:avLst/>
            <a:gdLst/>
            <a:ahLst/>
            <a:cxnLst/>
            <a:rect l="l" t="t" r="r" b="b"/>
            <a:pathLst>
              <a:path h="199911">
                <a:moveTo>
                  <a:pt x="0" y="199911"/>
                </a:moveTo>
                <a:lnTo>
                  <a:pt x="0" y="138257"/>
                </a:lnTo>
                <a:lnTo>
                  <a:pt x="0" y="66083"/>
                </a:lnTo>
                <a:lnTo>
                  <a:pt x="0" y="0"/>
                </a:lnTo>
              </a:path>
            </a:pathLst>
          </a:custGeom>
          <a:noFill/>
          <a:ln w="11430">
            <a:solidFill>
              <a:srgbClr val="76808B"/>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475935" y="3317159"/>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assign</a:t>
            </a:r>
          </a:p>
        </p:txBody>
      </p:sp>
      <p:sp>
        <p:nvSpPr>
          <p:cNvPr id="36" name="Freeform 35"/>
          <p:cNvSpPr/>
          <p:nvPr/>
        </p:nvSpPr>
        <p:spPr>
          <a:xfrm>
            <a:off x="3801601" y="2743481"/>
            <a:ext cx="142166" cy="209650"/>
          </a:xfrm>
          <a:custGeom>
            <a:avLst/>
            <a:gdLst/>
            <a:ahLst/>
            <a:cxnLst/>
            <a:rect l="l" t="t" r="r" b="b"/>
            <a:pathLst>
              <a:path w="142166" h="209650">
                <a:moveTo>
                  <a:pt x="0" y="209650"/>
                </a:moveTo>
                <a:lnTo>
                  <a:pt x="43871" y="144967"/>
                </a:lnTo>
                <a:lnTo>
                  <a:pt x="95591" y="68656"/>
                </a:lnTo>
                <a:lnTo>
                  <a:pt x="142166" y="0"/>
                </a:lnTo>
              </a:path>
            </a:pathLst>
          </a:custGeom>
          <a:noFill/>
          <a:ln w="11430">
            <a:solidFill>
              <a:srgbClr val="76808B"/>
            </a:solidFill>
            <a:headEnd type="arrow"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680015" y="2754456"/>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access</a:t>
            </a:r>
          </a:p>
        </p:txBody>
      </p:sp>
      <p:sp>
        <p:nvSpPr>
          <p:cNvPr id="38" name="Freeform 37"/>
          <p:cNvSpPr/>
          <p:nvPr/>
        </p:nvSpPr>
        <p:spPr>
          <a:xfrm>
            <a:off x="3006840" y="2145733"/>
            <a:ext cx="690929" cy="256257"/>
          </a:xfrm>
          <a:custGeom>
            <a:avLst/>
            <a:gdLst/>
            <a:ahLst/>
            <a:cxnLst/>
            <a:rect l="l" t="t" r="r" b="b"/>
            <a:pathLst>
              <a:path w="690929" h="256257">
                <a:moveTo>
                  <a:pt x="690929" y="256257"/>
                </a:moveTo>
                <a:lnTo>
                  <a:pt x="480530" y="178220"/>
                </a:lnTo>
                <a:lnTo>
                  <a:pt x="217727" y="80740"/>
                </a:lnTo>
                <a:lnTo>
                  <a:pt x="0" y="0"/>
                </a:lnTo>
              </a:path>
            </a:pathLst>
          </a:custGeom>
          <a:noFill/>
          <a:ln w="11430">
            <a:solidFill>
              <a:srgbClr val="76808B"/>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120927" y="2191720"/>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real</a:t>
            </a:r>
          </a:p>
        </p:txBody>
      </p:sp>
      <p:sp>
        <p:nvSpPr>
          <p:cNvPr id="40" name="Freeform 39"/>
          <p:cNvSpPr/>
          <p:nvPr/>
        </p:nvSpPr>
        <p:spPr>
          <a:xfrm>
            <a:off x="3746558" y="2176870"/>
            <a:ext cx="191932" cy="213525"/>
          </a:xfrm>
          <a:custGeom>
            <a:avLst/>
            <a:gdLst/>
            <a:ahLst/>
            <a:cxnLst/>
            <a:rect l="l" t="t" r="r" b="b"/>
            <a:pathLst>
              <a:path w="191932" h="213525">
                <a:moveTo>
                  <a:pt x="191932" y="213525"/>
                </a:moveTo>
                <a:lnTo>
                  <a:pt x="132688" y="147637"/>
                </a:lnTo>
                <a:lnTo>
                  <a:pt x="62599" y="69666"/>
                </a:lnTo>
                <a:lnTo>
                  <a:pt x="0" y="0"/>
                </a:lnTo>
              </a:path>
            </a:pathLst>
          </a:custGeom>
          <a:noFill/>
          <a:ln w="11430">
            <a:solidFill>
              <a:srgbClr val="76808B"/>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588690" y="2191720"/>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real</a:t>
            </a:r>
          </a:p>
        </p:txBody>
      </p:sp>
      <p:sp>
        <p:nvSpPr>
          <p:cNvPr id="42" name="Freeform 41"/>
          <p:cNvSpPr/>
          <p:nvPr/>
        </p:nvSpPr>
        <p:spPr>
          <a:xfrm>
            <a:off x="4210413" y="2176870"/>
            <a:ext cx="191932" cy="213525"/>
          </a:xfrm>
          <a:custGeom>
            <a:avLst/>
            <a:gdLst/>
            <a:ahLst/>
            <a:cxnLst/>
            <a:rect l="l" t="t" r="r" b="b"/>
            <a:pathLst>
              <a:path w="191932" h="213525">
                <a:moveTo>
                  <a:pt x="0" y="213525"/>
                </a:moveTo>
                <a:lnTo>
                  <a:pt x="59244" y="147637"/>
                </a:lnTo>
                <a:lnTo>
                  <a:pt x="129301" y="69666"/>
                </a:lnTo>
                <a:lnTo>
                  <a:pt x="191932" y="0"/>
                </a:lnTo>
              </a:path>
            </a:pathLst>
          </a:custGeom>
          <a:noFill/>
          <a:ln w="11430">
            <a:solidFill>
              <a:srgbClr val="76808B"/>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086254" y="2191720"/>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real</a:t>
            </a:r>
          </a:p>
        </p:txBody>
      </p:sp>
      <p:sp>
        <p:nvSpPr>
          <p:cNvPr id="44" name="Freeform 43"/>
          <p:cNvSpPr/>
          <p:nvPr/>
        </p:nvSpPr>
        <p:spPr>
          <a:xfrm>
            <a:off x="4451134" y="2145733"/>
            <a:ext cx="690929" cy="256257"/>
          </a:xfrm>
          <a:custGeom>
            <a:avLst/>
            <a:gdLst/>
            <a:ahLst/>
            <a:cxnLst/>
            <a:rect l="l" t="t" r="r" b="b"/>
            <a:pathLst>
              <a:path w="690929" h="256257">
                <a:moveTo>
                  <a:pt x="0" y="256257"/>
                </a:moveTo>
                <a:lnTo>
                  <a:pt x="210366" y="178220"/>
                </a:lnTo>
                <a:lnTo>
                  <a:pt x="473202" y="80740"/>
                </a:lnTo>
                <a:lnTo>
                  <a:pt x="690929" y="0"/>
                </a:lnTo>
              </a:path>
            </a:pathLst>
          </a:custGeom>
          <a:noFill/>
          <a:ln w="11430">
            <a:solidFill>
              <a:srgbClr val="76808B"/>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613685" y="2191720"/>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real</a:t>
            </a:r>
          </a:p>
        </p:txBody>
      </p:sp>
      <p:sp>
        <p:nvSpPr>
          <p:cNvPr id="46" name="Freeform 45"/>
          <p:cNvSpPr/>
          <p:nvPr/>
        </p:nvSpPr>
        <p:spPr>
          <a:xfrm>
            <a:off x="5489808" y="3302308"/>
            <a:ext cx="193462" cy="213558"/>
          </a:xfrm>
          <a:custGeom>
            <a:avLst/>
            <a:gdLst/>
            <a:ahLst/>
            <a:cxnLst/>
            <a:rect l="l" t="t" r="r" b="b"/>
            <a:pathLst>
              <a:path w="193462" h="213558">
                <a:moveTo>
                  <a:pt x="193462" y="213558"/>
                </a:moveTo>
                <a:lnTo>
                  <a:pt x="133860" y="147638"/>
                </a:lnTo>
                <a:lnTo>
                  <a:pt x="63184" y="69666"/>
                </a:lnTo>
                <a:lnTo>
                  <a:pt x="0" y="0"/>
                </a:lnTo>
              </a:path>
            </a:pathLst>
          </a:custGeom>
          <a:noFill/>
          <a:ln w="11430">
            <a:solidFill>
              <a:srgbClr val="76808B"/>
            </a:solidFill>
            <a:headEnd type="stealth"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369818" y="3317159"/>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serving</a:t>
            </a:r>
          </a:p>
        </p:txBody>
      </p:sp>
      <p:sp>
        <p:nvSpPr>
          <p:cNvPr id="48" name="Freeform 47"/>
          <p:cNvSpPr/>
          <p:nvPr/>
        </p:nvSpPr>
        <p:spPr>
          <a:xfrm>
            <a:off x="6023296" y="3296446"/>
            <a:ext cx="294102" cy="219420"/>
          </a:xfrm>
          <a:custGeom>
            <a:avLst/>
            <a:gdLst/>
            <a:ahLst/>
            <a:cxnLst/>
            <a:rect l="l" t="t" r="r" b="b"/>
            <a:pathLst>
              <a:path w="294102" h="219420">
                <a:moveTo>
                  <a:pt x="0" y="219420"/>
                </a:moveTo>
                <a:lnTo>
                  <a:pt x="90869" y="151643"/>
                </a:lnTo>
                <a:lnTo>
                  <a:pt x="198674" y="71132"/>
                </a:lnTo>
                <a:lnTo>
                  <a:pt x="294102" y="0"/>
                </a:lnTo>
              </a:path>
            </a:pathLst>
          </a:custGeom>
          <a:noFill/>
          <a:ln w="11430">
            <a:solidFill>
              <a:srgbClr val="76808B"/>
            </a:solidFill>
            <a:headEnd type="stealth"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999060" y="3317159"/>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serving</a:t>
            </a:r>
          </a:p>
        </p:txBody>
      </p:sp>
      <p:sp>
        <p:nvSpPr>
          <p:cNvPr id="50" name="TextBox 49"/>
          <p:cNvSpPr txBox="1"/>
          <p:nvPr/>
        </p:nvSpPr>
        <p:spPr>
          <a:xfrm>
            <a:off x="411480" y="4462272"/>
            <a:ext cx="8321040" cy="502920"/>
          </a:xfrm>
          <a:prstGeom prst="rect">
            <a:avLst/>
          </a:prstGeom>
          <a:noFill/>
        </p:spPr>
        <p:txBody>
          <a:bodyPr wrap="square">
            <a:spAutoFit/>
          </a:bodyPr>
          <a:lstStyle/>
          <a:p>
            <a:pPr algn="l">
              <a:lnSpc>
                <a:spcPct val="105000"/>
              </a:lnSpc>
              <a:spcAft>
                <a:spcPts val="300"/>
              </a:spcAft>
            </a:pPr>
            <a:r>
              <a:rPr sz="850" b="0">
                <a:solidFill>
                  <a:srgbClr val="595959"/>
                </a:solidFill>
                <a:latin typeface="Arial"/>
              </a:rPr>
              <a:t>Journey &amp; Account Mgmt Backend ⊃ Database (DBMS) + Journey &amp; Account Database (Artifact); the backend realizes the Data Storage Service serving JAMS &amp; FMS; the artifact realizes Tap Event, Go Card Account, Fare &amp; Zone and Digital Ticket data objects.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2000">
                <a:solidFill>
                  <a:srgbClr val="000000"/>
                </a:solidFill>
                <a:latin typeface="Arial"/>
              </a:rPr>
              <a:t>Perspective 4 — Self-service &amp; bank settlement</a:t>
            </a:r>
          </a:p>
        </p:txBody>
      </p:sp>
      <p:sp>
        <p:nvSpPr>
          <p:cNvPr id="4" name="Rounded Rectangle 3"/>
          <p:cNvSpPr/>
          <p:nvPr/>
        </p:nvSpPr>
        <p:spPr>
          <a:xfrm>
            <a:off x="502920" y="1481328"/>
            <a:ext cx="159105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522476"/>
            <a:ext cx="1591056" cy="219456"/>
          </a:xfrm>
          <a:prstGeom prst="rect">
            <a:avLst/>
          </a:prstGeom>
          <a:noFill/>
        </p:spPr>
        <p:txBody>
          <a:bodyPr wrap="square">
            <a:spAutoFit/>
          </a:bodyPr>
          <a:lstStyle/>
          <a:p>
            <a:pPr algn="ctr">
              <a:spcAft>
                <a:spcPts val="300"/>
              </a:spcAft>
            </a:pPr>
            <a:r>
              <a:rPr sz="850" b="1">
                <a:solidFill>
                  <a:srgbClr val="595959"/>
                </a:solidFill>
                <a:latin typeface="Arial"/>
              </a:rPr>
              <a:t>Overview</a:t>
            </a:r>
          </a:p>
        </p:txBody>
      </p:sp>
      <p:sp>
        <p:nvSpPr>
          <p:cNvPr id="6" name="Rounded Rectangle 5"/>
          <p:cNvSpPr/>
          <p:nvPr/>
        </p:nvSpPr>
        <p:spPr>
          <a:xfrm>
            <a:off x="2139696" y="1481328"/>
            <a:ext cx="159105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139696" y="1522476"/>
            <a:ext cx="1591056" cy="219456"/>
          </a:xfrm>
          <a:prstGeom prst="rect">
            <a:avLst/>
          </a:prstGeom>
          <a:noFill/>
        </p:spPr>
        <p:txBody>
          <a:bodyPr wrap="square">
            <a:spAutoFit/>
          </a:bodyPr>
          <a:lstStyle/>
          <a:p>
            <a:pPr algn="ctr">
              <a:spcAft>
                <a:spcPts val="300"/>
              </a:spcAft>
            </a:pPr>
            <a:r>
              <a:rPr sz="850" b="1">
                <a:solidFill>
                  <a:srgbClr val="595959"/>
                </a:solidFill>
                <a:latin typeface="Arial"/>
              </a:rPr>
              <a:t>1 Tap &amp; Gate</a:t>
            </a:r>
          </a:p>
        </p:txBody>
      </p:sp>
      <p:sp>
        <p:nvSpPr>
          <p:cNvPr id="8" name="Rounded Rectangle 7"/>
          <p:cNvSpPr/>
          <p:nvPr/>
        </p:nvSpPr>
        <p:spPr>
          <a:xfrm>
            <a:off x="3776472" y="1481328"/>
            <a:ext cx="159105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776472" y="1522476"/>
            <a:ext cx="1591056" cy="219456"/>
          </a:xfrm>
          <a:prstGeom prst="rect">
            <a:avLst/>
          </a:prstGeom>
          <a:noFill/>
        </p:spPr>
        <p:txBody>
          <a:bodyPr wrap="square">
            <a:spAutoFit/>
          </a:bodyPr>
          <a:lstStyle/>
          <a:p>
            <a:pPr algn="ctr">
              <a:spcAft>
                <a:spcPts val="300"/>
              </a:spcAft>
            </a:pPr>
            <a:r>
              <a:rPr sz="850" b="1">
                <a:solidFill>
                  <a:srgbClr val="595959"/>
                </a:solidFill>
                <a:latin typeface="Arial"/>
              </a:rPr>
              <a:t>2 Communication</a:t>
            </a:r>
          </a:p>
        </p:txBody>
      </p:sp>
      <p:sp>
        <p:nvSpPr>
          <p:cNvPr id="10" name="Rounded Rectangle 9"/>
          <p:cNvSpPr/>
          <p:nvPr/>
        </p:nvSpPr>
        <p:spPr>
          <a:xfrm>
            <a:off x="5413248" y="1481328"/>
            <a:ext cx="1591056" cy="274320"/>
          </a:xfrm>
          <a:prstGeom prst="roundRect">
            <a:avLst>
              <a:gd name="adj" fmla="val 7000"/>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13248" y="1522476"/>
            <a:ext cx="1591056" cy="219456"/>
          </a:xfrm>
          <a:prstGeom prst="rect">
            <a:avLst/>
          </a:prstGeom>
          <a:noFill/>
        </p:spPr>
        <p:txBody>
          <a:bodyPr wrap="square">
            <a:spAutoFit/>
          </a:bodyPr>
          <a:lstStyle/>
          <a:p>
            <a:pPr algn="ctr">
              <a:spcAft>
                <a:spcPts val="300"/>
              </a:spcAft>
            </a:pPr>
            <a:r>
              <a:rPr sz="850" b="1">
                <a:solidFill>
                  <a:srgbClr val="595959"/>
                </a:solidFill>
                <a:latin typeface="Arial"/>
              </a:rPr>
              <a:t>3 Storage</a:t>
            </a:r>
          </a:p>
        </p:txBody>
      </p:sp>
      <p:sp>
        <p:nvSpPr>
          <p:cNvPr id="12" name="Rounded Rectangle 11"/>
          <p:cNvSpPr/>
          <p:nvPr/>
        </p:nvSpPr>
        <p:spPr>
          <a:xfrm>
            <a:off x="7050024" y="1481328"/>
            <a:ext cx="1591056" cy="274320"/>
          </a:xfrm>
          <a:prstGeom prst="roundRect">
            <a:avLst>
              <a:gd name="adj" fmla="val 7000"/>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050024" y="1522476"/>
            <a:ext cx="1591056" cy="219456"/>
          </a:xfrm>
          <a:prstGeom prst="rect">
            <a:avLst/>
          </a:prstGeom>
          <a:noFill/>
        </p:spPr>
        <p:txBody>
          <a:bodyPr wrap="square">
            <a:spAutoFit/>
          </a:bodyPr>
          <a:lstStyle/>
          <a:p>
            <a:pPr algn="ctr">
              <a:spcAft>
                <a:spcPts val="300"/>
              </a:spcAft>
            </a:pPr>
            <a:r>
              <a:rPr sz="850" b="1">
                <a:solidFill>
                  <a:srgbClr val="FFFFFF"/>
                </a:solidFill>
                <a:latin typeface="Arial"/>
              </a:rPr>
              <a:t>4 Self-service</a:t>
            </a:r>
          </a:p>
        </p:txBody>
      </p:sp>
      <p:sp>
        <p:nvSpPr>
          <p:cNvPr id="14" name="Rounded Rectangle 13"/>
          <p:cNvSpPr/>
          <p:nvPr/>
        </p:nvSpPr>
        <p:spPr>
          <a:xfrm>
            <a:off x="3230997" y="3271283"/>
            <a:ext cx="960125" cy="396573"/>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wrap="square" lIns="12700" tIns="0" rIns="12700" bIns="0" rtlCol="0" anchor="ctr"/>
          <a:lstStyle/>
          <a:p>
            <a:pPr algn="ctr">
              <a:lnSpc>
                <a:spcPct val="92000"/>
              </a:lnSpc>
              <a:spcAft>
                <a:spcPts val="300"/>
              </a:spcAft>
            </a:pPr>
            <a:r>
              <a:rPr sz="850" b="0">
                <a:solidFill>
                  <a:srgbClr val="22262B"/>
                </a:solidFill>
                <a:latin typeface="Arial"/>
              </a:rPr>
              <a:t>Application
Server</a:t>
            </a:r>
          </a:p>
        </p:txBody>
      </p:sp>
      <p:sp>
        <p:nvSpPr>
          <p:cNvPr id="15" name="Rounded Rectangle 14"/>
          <p:cNvSpPr/>
          <p:nvPr/>
        </p:nvSpPr>
        <p:spPr>
          <a:xfrm>
            <a:off x="2401908" y="2550021"/>
            <a:ext cx="960125" cy="396573"/>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wrap="square" lIns="12700" tIns="0" rIns="12700" bIns="0" rtlCol="0" anchor="ctr"/>
          <a:lstStyle/>
          <a:p>
            <a:pPr algn="ctr">
              <a:lnSpc>
                <a:spcPct val="92000"/>
              </a:lnSpc>
              <a:spcAft>
                <a:spcPts val="300"/>
              </a:spcAft>
            </a:pPr>
            <a:r>
              <a:rPr sz="850" b="0">
                <a:solidFill>
                  <a:srgbClr val="22262B"/>
                </a:solidFill>
                <a:latin typeface="Arial"/>
              </a:rPr>
              <a:t>Website
Deployment</a:t>
            </a:r>
          </a:p>
        </p:txBody>
      </p:sp>
      <p:sp>
        <p:nvSpPr>
          <p:cNvPr id="16" name="Rounded Rectangle 15"/>
          <p:cNvSpPr/>
          <p:nvPr/>
        </p:nvSpPr>
        <p:spPr>
          <a:xfrm>
            <a:off x="2952686" y="1828800"/>
            <a:ext cx="960125" cy="396573"/>
          </a:xfrm>
          <a:prstGeom prst="roundRect">
            <a:avLst>
              <a:gd name="adj" fmla="val 7000"/>
            </a:avLst>
          </a:prstGeom>
          <a:solidFill>
            <a:srgbClr val="D7ECF7"/>
          </a:solidFill>
          <a:ln w="9525">
            <a:solidFill>
              <a:srgbClr val="4E97BE"/>
            </a:solidFill>
          </a:ln>
          <a:effectLst/>
        </p:spPr>
        <p:style>
          <a:lnRef idx="1">
            <a:schemeClr val="accent1"/>
          </a:lnRef>
          <a:fillRef idx="3">
            <a:schemeClr val="accent1"/>
          </a:fillRef>
          <a:effectRef idx="2">
            <a:schemeClr val="accent1"/>
          </a:effectRef>
          <a:fontRef idx="minor">
            <a:schemeClr val="lt1"/>
          </a:fontRef>
        </p:style>
        <p:txBody>
          <a:bodyPr wrap="square" lIns="12700" tIns="0" rIns="12700" bIns="0" rtlCol="0" anchor="ctr"/>
          <a:lstStyle/>
          <a:p>
            <a:pPr algn="ctr">
              <a:lnSpc>
                <a:spcPct val="92000"/>
              </a:lnSpc>
              <a:spcAft>
                <a:spcPts val="300"/>
              </a:spcAft>
            </a:pPr>
            <a:r>
              <a:rPr sz="850" b="0">
                <a:solidFill>
                  <a:srgbClr val="22262B"/>
                </a:solidFill>
                <a:latin typeface="Arial"/>
              </a:rPr>
              <a:t>ArchiTrain
Website</a:t>
            </a:r>
          </a:p>
        </p:txBody>
      </p:sp>
      <p:sp>
        <p:nvSpPr>
          <p:cNvPr id="17" name="Rounded Rectangle 16"/>
          <p:cNvSpPr/>
          <p:nvPr/>
        </p:nvSpPr>
        <p:spPr>
          <a:xfrm>
            <a:off x="3862968" y="3992546"/>
            <a:ext cx="960125" cy="396573"/>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wrap="square" lIns="12700" tIns="0" rIns="12700" bIns="0" rtlCol="0" anchor="ctr"/>
          <a:lstStyle/>
          <a:p>
            <a:pPr algn="ctr">
              <a:lnSpc>
                <a:spcPct val="92000"/>
              </a:lnSpc>
              <a:spcAft>
                <a:spcPts val="300"/>
              </a:spcAft>
            </a:pPr>
            <a:r>
              <a:rPr sz="850" b="0">
                <a:solidFill>
                  <a:srgbClr val="22262B"/>
                </a:solidFill>
                <a:latin typeface="Arial"/>
              </a:rPr>
              <a:t>Private Network</a:t>
            </a:r>
          </a:p>
        </p:txBody>
      </p:sp>
      <p:sp>
        <p:nvSpPr>
          <p:cNvPr id="18" name="Rounded Rectangle 17"/>
          <p:cNvSpPr/>
          <p:nvPr/>
        </p:nvSpPr>
        <p:spPr>
          <a:xfrm>
            <a:off x="4506544" y="3271283"/>
            <a:ext cx="960125" cy="396573"/>
          </a:xfrm>
          <a:prstGeom prst="roundRect">
            <a:avLst>
              <a:gd name="adj" fmla="val 7000"/>
            </a:avLst>
          </a:prstGeom>
          <a:solidFill>
            <a:srgbClr val="C9E7B8"/>
          </a:solidFill>
          <a:ln w="9525">
            <a:solidFill>
              <a:srgbClr val="7FA968"/>
            </a:solidFill>
          </a:ln>
          <a:effectLst/>
        </p:spPr>
        <p:style>
          <a:lnRef idx="1">
            <a:schemeClr val="accent1"/>
          </a:lnRef>
          <a:fillRef idx="3">
            <a:schemeClr val="accent1"/>
          </a:fillRef>
          <a:effectRef idx="2">
            <a:schemeClr val="accent1"/>
          </a:effectRef>
          <a:fontRef idx="minor">
            <a:schemeClr val="lt1"/>
          </a:fontRef>
        </p:style>
        <p:txBody>
          <a:bodyPr wrap="square" lIns="12700" tIns="0" rIns="12700" bIns="0" rtlCol="0" anchor="ctr"/>
          <a:lstStyle/>
          <a:p>
            <a:pPr algn="ctr">
              <a:lnSpc>
                <a:spcPct val="92000"/>
              </a:lnSpc>
              <a:spcAft>
                <a:spcPts val="300"/>
              </a:spcAft>
            </a:pPr>
            <a:r>
              <a:rPr sz="850" b="0">
                <a:solidFill>
                  <a:srgbClr val="22262B"/>
                </a:solidFill>
                <a:latin typeface="Arial"/>
              </a:rPr>
              <a:t>Journey &amp; Account
Mgmt Backend</a:t>
            </a:r>
          </a:p>
        </p:txBody>
      </p:sp>
      <p:sp>
        <p:nvSpPr>
          <p:cNvPr id="19" name="Rounded Rectangle 18"/>
          <p:cNvSpPr/>
          <p:nvPr/>
        </p:nvSpPr>
        <p:spPr>
          <a:xfrm>
            <a:off x="5782049" y="3271283"/>
            <a:ext cx="960125" cy="396573"/>
          </a:xfrm>
          <a:prstGeom prst="roundRect">
            <a:avLst>
              <a:gd name="adj" fmla="val 7000"/>
            </a:avLst>
          </a:prstGeom>
          <a:solidFill>
            <a:srgbClr val="D7ECF7"/>
          </a:solidFill>
          <a:ln w="9525">
            <a:solidFill>
              <a:srgbClr val="4E97BE"/>
            </a:solidFill>
          </a:ln>
          <a:effectLst/>
        </p:spPr>
        <p:style>
          <a:lnRef idx="1">
            <a:schemeClr val="accent1"/>
          </a:lnRef>
          <a:fillRef idx="3">
            <a:schemeClr val="accent1"/>
          </a:fillRef>
          <a:effectRef idx="2">
            <a:schemeClr val="accent1"/>
          </a:effectRef>
          <a:fontRef idx="minor">
            <a:schemeClr val="lt1"/>
          </a:fontRef>
        </p:style>
        <p:txBody>
          <a:bodyPr wrap="square" lIns="12700" tIns="0" rIns="12700" bIns="0" rtlCol="0" anchor="ctr"/>
          <a:lstStyle/>
          <a:p>
            <a:pPr algn="ctr">
              <a:lnSpc>
                <a:spcPct val="92000"/>
              </a:lnSpc>
              <a:spcAft>
                <a:spcPts val="300"/>
              </a:spcAft>
            </a:pPr>
            <a:r>
              <a:rPr sz="850" b="0">
                <a:solidFill>
                  <a:srgbClr val="22262B"/>
                </a:solidFill>
                <a:latin typeface="Arial"/>
              </a:rPr>
              <a:t>Bank Payment
Service (ext)</a:t>
            </a:r>
          </a:p>
        </p:txBody>
      </p:sp>
      <p:sp>
        <p:nvSpPr>
          <p:cNvPr id="20" name="Rounded Rectangle 19"/>
          <p:cNvSpPr/>
          <p:nvPr/>
        </p:nvSpPr>
        <p:spPr>
          <a:xfrm>
            <a:off x="5335633" y="2550021"/>
            <a:ext cx="960125" cy="396573"/>
          </a:xfrm>
          <a:prstGeom prst="roundRect">
            <a:avLst>
              <a:gd name="adj" fmla="val 7000"/>
            </a:avLst>
          </a:prstGeom>
          <a:solidFill>
            <a:srgbClr val="D7ECF7"/>
          </a:solidFill>
          <a:ln w="9525">
            <a:solidFill>
              <a:srgbClr val="4E97BE"/>
            </a:solidFill>
          </a:ln>
          <a:effectLst/>
        </p:spPr>
        <p:style>
          <a:lnRef idx="1">
            <a:schemeClr val="accent1"/>
          </a:lnRef>
          <a:fillRef idx="3">
            <a:schemeClr val="accent1"/>
          </a:fillRef>
          <a:effectRef idx="2">
            <a:schemeClr val="accent1"/>
          </a:effectRef>
          <a:fontRef idx="minor">
            <a:schemeClr val="lt1"/>
          </a:fontRef>
        </p:style>
        <p:txBody>
          <a:bodyPr wrap="square" lIns="12700" tIns="0" rIns="12700" bIns="0" rtlCol="0" anchor="ctr"/>
          <a:lstStyle/>
          <a:p>
            <a:pPr algn="ctr">
              <a:lnSpc>
                <a:spcPct val="92000"/>
              </a:lnSpc>
              <a:spcAft>
                <a:spcPts val="300"/>
              </a:spcAft>
            </a:pPr>
            <a:r>
              <a:rPr sz="850" b="0">
                <a:solidFill>
                  <a:srgbClr val="22262B"/>
                </a:solidFill>
                <a:latin typeface="Arial"/>
              </a:rPr>
              <a:t>Fare Management
System</a:t>
            </a:r>
          </a:p>
        </p:txBody>
      </p:sp>
      <p:sp>
        <p:nvSpPr>
          <p:cNvPr id="2" name="Freeform 1"/>
          <p:cNvSpPr/>
          <p:nvPr/>
        </p:nvSpPr>
        <p:spPr>
          <a:xfrm>
            <a:off x="3158946" y="2991219"/>
            <a:ext cx="325566" cy="278645"/>
          </a:xfrm>
          <a:custGeom>
            <a:avLst/>
            <a:gdLst/>
            <a:ahLst/>
            <a:cxnLst/>
            <a:rect l="l" t="t" r="r" b="b"/>
            <a:pathLst>
              <a:path w="325566" h="278645">
                <a:moveTo>
                  <a:pt x="325566" y="278645"/>
                </a:moveTo>
                <a:lnTo>
                  <a:pt x="225045" y="192609"/>
                </a:lnTo>
                <a:lnTo>
                  <a:pt x="105780" y="90502"/>
                </a:lnTo>
                <a:lnTo>
                  <a:pt x="0" y="0"/>
                </a:lnTo>
              </a:path>
            </a:pathLst>
          </a:custGeom>
          <a:noFill/>
          <a:ln w="11430">
            <a:solidFill>
              <a:srgbClr val="76808B"/>
            </a:solidFill>
            <a:tailEnd type="diamond"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104866" y="3035787"/>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comp</a:t>
            </a:r>
          </a:p>
        </p:txBody>
      </p:sp>
      <p:sp>
        <p:nvSpPr>
          <p:cNvPr id="22" name="Freeform 21"/>
          <p:cNvSpPr/>
          <p:nvPr/>
        </p:nvSpPr>
        <p:spPr>
          <a:xfrm>
            <a:off x="3483009" y="2291246"/>
            <a:ext cx="190230" cy="978075"/>
          </a:xfrm>
          <a:custGeom>
            <a:avLst/>
            <a:gdLst/>
            <a:ahLst/>
            <a:cxnLst/>
            <a:rect l="l" t="t" r="r" b="b"/>
            <a:pathLst>
              <a:path w="190230" h="978075">
                <a:moveTo>
                  <a:pt x="190230" y="978075"/>
                </a:moveTo>
                <a:lnTo>
                  <a:pt x="140971" y="724811"/>
                </a:lnTo>
                <a:lnTo>
                  <a:pt x="54727" y="281317"/>
                </a:lnTo>
                <a:lnTo>
                  <a:pt x="0" y="0"/>
                </a:lnTo>
              </a:path>
            </a:pathLst>
          </a:custGeom>
          <a:noFill/>
          <a:ln w="11430">
            <a:solidFill>
              <a:srgbClr val="76808B"/>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05177" y="2675155"/>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assign</a:t>
            </a:r>
          </a:p>
        </p:txBody>
      </p:sp>
      <p:sp>
        <p:nvSpPr>
          <p:cNvPr id="24" name="Freeform 23"/>
          <p:cNvSpPr/>
          <p:nvPr/>
        </p:nvSpPr>
        <p:spPr>
          <a:xfrm>
            <a:off x="3032460" y="2277387"/>
            <a:ext cx="210517" cy="271214"/>
          </a:xfrm>
          <a:custGeom>
            <a:avLst/>
            <a:gdLst/>
            <a:ahLst/>
            <a:cxnLst/>
            <a:rect l="l" t="t" r="r" b="b"/>
            <a:pathLst>
              <a:path w="210517" h="271214">
                <a:moveTo>
                  <a:pt x="0" y="271214"/>
                </a:moveTo>
                <a:lnTo>
                  <a:pt x="64996" y="187516"/>
                </a:lnTo>
                <a:lnTo>
                  <a:pt x="141722" y="88665"/>
                </a:lnTo>
                <a:lnTo>
                  <a:pt x="210517" y="0"/>
                </a:lnTo>
              </a:path>
            </a:pathLst>
          </a:custGeom>
          <a:noFill/>
          <a:ln w="11430">
            <a:solidFill>
              <a:srgbClr val="76808B"/>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933463" y="2314566"/>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real</a:t>
            </a:r>
          </a:p>
        </p:txBody>
      </p:sp>
      <p:sp>
        <p:nvSpPr>
          <p:cNvPr id="26" name="Freeform 25"/>
          <p:cNvSpPr/>
          <p:nvPr/>
        </p:nvSpPr>
        <p:spPr>
          <a:xfrm>
            <a:off x="3926587" y="3717408"/>
            <a:ext cx="243746" cy="273710"/>
          </a:xfrm>
          <a:custGeom>
            <a:avLst/>
            <a:gdLst/>
            <a:ahLst/>
            <a:cxnLst/>
            <a:rect l="l" t="t" r="r" b="b"/>
            <a:pathLst>
              <a:path w="243746" h="273710">
                <a:moveTo>
                  <a:pt x="243746" y="273710"/>
                </a:moveTo>
                <a:lnTo>
                  <a:pt x="168522" y="189228"/>
                </a:lnTo>
                <a:lnTo>
                  <a:pt x="79523" y="89291"/>
                </a:lnTo>
                <a:lnTo>
                  <a:pt x="0" y="0"/>
                </a:lnTo>
              </a:path>
            </a:pathLst>
          </a:custGeom>
          <a:noFill/>
          <a:ln w="11430">
            <a:solidFill>
              <a:srgbClr val="76808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833852" y="3757049"/>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assoc</a:t>
            </a:r>
          </a:p>
        </p:txBody>
      </p:sp>
      <p:sp>
        <p:nvSpPr>
          <p:cNvPr id="28" name="Freeform 27"/>
          <p:cNvSpPr/>
          <p:nvPr/>
        </p:nvSpPr>
        <p:spPr>
          <a:xfrm>
            <a:off x="4518900" y="3717408"/>
            <a:ext cx="248214" cy="273710"/>
          </a:xfrm>
          <a:custGeom>
            <a:avLst/>
            <a:gdLst/>
            <a:ahLst/>
            <a:cxnLst/>
            <a:rect l="l" t="t" r="r" b="b"/>
            <a:pathLst>
              <a:path w="248214" h="273710">
                <a:moveTo>
                  <a:pt x="0" y="273710"/>
                </a:moveTo>
                <a:lnTo>
                  <a:pt x="76602" y="189228"/>
                </a:lnTo>
                <a:lnTo>
                  <a:pt x="167229" y="89291"/>
                </a:lnTo>
                <a:lnTo>
                  <a:pt x="248214" y="0"/>
                </a:lnTo>
              </a:path>
            </a:pathLst>
          </a:custGeom>
          <a:noFill/>
          <a:ln w="11430">
            <a:solidFill>
              <a:srgbClr val="76808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471959" y="3757049"/>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assoc</a:t>
            </a:r>
          </a:p>
        </p:txBody>
      </p:sp>
      <p:sp>
        <p:nvSpPr>
          <p:cNvPr id="30" name="Freeform 29"/>
          <p:cNvSpPr/>
          <p:nvPr/>
        </p:nvSpPr>
        <p:spPr>
          <a:xfrm>
            <a:off x="5213154" y="2991219"/>
            <a:ext cx="325566" cy="278645"/>
          </a:xfrm>
          <a:custGeom>
            <a:avLst/>
            <a:gdLst/>
            <a:ahLst/>
            <a:cxnLst/>
            <a:rect l="l" t="t" r="r" b="b"/>
            <a:pathLst>
              <a:path w="325566" h="278645">
                <a:moveTo>
                  <a:pt x="0" y="278645"/>
                </a:moveTo>
                <a:lnTo>
                  <a:pt x="100521" y="192609"/>
                </a:lnTo>
                <a:lnTo>
                  <a:pt x="219786" y="90502"/>
                </a:lnTo>
                <a:lnTo>
                  <a:pt x="325566" y="0"/>
                </a:lnTo>
              </a:path>
            </a:pathLst>
          </a:custGeom>
          <a:noFill/>
          <a:ln w="11430">
            <a:solidFill>
              <a:srgbClr val="76808B"/>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222527" y="3035787"/>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assign</a:t>
            </a:r>
          </a:p>
        </p:txBody>
      </p:sp>
      <p:sp>
        <p:nvSpPr>
          <p:cNvPr id="32" name="Freeform 31"/>
          <p:cNvSpPr/>
          <p:nvPr/>
        </p:nvSpPr>
        <p:spPr>
          <a:xfrm>
            <a:off x="5972655" y="3003617"/>
            <a:ext cx="167479" cy="266247"/>
          </a:xfrm>
          <a:custGeom>
            <a:avLst/>
            <a:gdLst/>
            <a:ahLst/>
            <a:cxnLst/>
            <a:rect l="l" t="t" r="r" b="b"/>
            <a:pathLst>
              <a:path w="167479" h="266247">
                <a:moveTo>
                  <a:pt x="167479" y="266247"/>
                </a:moveTo>
                <a:lnTo>
                  <a:pt x="115800" y="184094"/>
                </a:lnTo>
                <a:lnTo>
                  <a:pt x="54936" y="87371"/>
                </a:lnTo>
                <a:lnTo>
                  <a:pt x="0" y="0"/>
                </a:lnTo>
              </a:path>
            </a:pathLst>
          </a:custGeom>
          <a:noFill/>
          <a:ln w="11430">
            <a:solidFill>
              <a:srgbClr val="76808B"/>
            </a:solidFill>
            <a:headEnd type="stealth"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859674" y="3035787"/>
            <a:ext cx="585216" cy="146304"/>
          </a:xfrm>
          <a:prstGeom prst="rect">
            <a:avLst/>
          </a:prstGeom>
          <a:solidFill>
            <a:srgbClr val="FFFFFF"/>
          </a:solidFill>
          <a:ln>
            <a:noFill/>
          </a:ln>
          <a:effectLst/>
        </p:spPr>
        <p:txBody>
          <a:bodyPr wrap="none" lIns="0" tIns="0" rIns="0" bIns="0">
            <a:spAutoFit/>
          </a:bodyPr>
          <a:lstStyle/>
          <a:p>
            <a:pPr algn="ctr">
              <a:spcAft>
                <a:spcPts val="300"/>
              </a:spcAft>
            </a:pPr>
            <a:r>
              <a:rPr sz="700" b="0">
                <a:solidFill>
                  <a:srgbClr val="6A727C"/>
                </a:solidFill>
                <a:latin typeface="Arial"/>
              </a:rPr>
              <a:t>serving</a:t>
            </a:r>
          </a:p>
        </p:txBody>
      </p:sp>
      <p:sp>
        <p:nvSpPr>
          <p:cNvPr id="34" name="TextBox 33"/>
          <p:cNvSpPr txBox="1"/>
          <p:nvPr/>
        </p:nvSpPr>
        <p:spPr>
          <a:xfrm>
            <a:off x="411480" y="4462272"/>
            <a:ext cx="8321040" cy="502920"/>
          </a:xfrm>
          <a:prstGeom prst="rect">
            <a:avLst/>
          </a:prstGeom>
          <a:noFill/>
        </p:spPr>
        <p:txBody>
          <a:bodyPr wrap="square">
            <a:spAutoFit/>
          </a:bodyPr>
          <a:lstStyle/>
          <a:p>
            <a:pPr algn="l">
              <a:lnSpc>
                <a:spcPct val="105000"/>
              </a:lnSpc>
              <a:spcAft>
                <a:spcPts val="300"/>
              </a:spcAft>
            </a:pPr>
            <a:r>
              <a:rPr sz="850" b="0">
                <a:solidFill>
                  <a:srgbClr val="595959"/>
                </a:solidFill>
                <a:latin typeface="Arial"/>
              </a:rPr>
              <a:t>Application Server ⊃ Website Deployment → realizes the ArchiTrain Website; the app server reads Go Card balances over the Private Network; Bank Payment Service (external) serves the Fare Management System for settlement.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3   Reflection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2000">
                <a:solidFill>
                  <a:srgbClr val="000000"/>
                </a:solidFill>
                <a:latin typeface="Arial"/>
              </a:rPr>
              <a:t>Reflection</a:t>
            </a:r>
          </a:p>
        </p:txBody>
      </p:sp>
      <p:sp>
        <p:nvSpPr>
          <p:cNvPr id="4" name="Rounded Rectangle 3"/>
          <p:cNvSpPr/>
          <p:nvPr/>
        </p:nvSpPr>
        <p:spPr>
          <a:xfrm>
            <a:off x="502920" y="1481328"/>
            <a:ext cx="3977639" cy="1234440"/>
          </a:xfrm>
          <a:prstGeom prst="roundRect">
            <a:avLst>
              <a:gd name="adj" fmla="val 7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481328"/>
            <a:ext cx="64008" cy="1234440"/>
          </a:xfrm>
          <a:prstGeom prst="rect">
            <a:avLst/>
          </a:prstGeom>
          <a:solidFill>
            <a:srgbClr val="7FA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609344"/>
            <a:ext cx="3657599" cy="365760"/>
          </a:xfrm>
          <a:prstGeom prst="rect">
            <a:avLst/>
          </a:prstGeom>
          <a:noFill/>
        </p:spPr>
        <p:txBody>
          <a:bodyPr wrap="square">
            <a:spAutoFit/>
          </a:bodyPr>
          <a:lstStyle/>
          <a:p>
            <a:pPr algn="l">
              <a:spcAft>
                <a:spcPts val="300"/>
              </a:spcAft>
            </a:pPr>
            <a:r>
              <a:rPr sz="1250" b="1">
                <a:solidFill>
                  <a:srgbClr val="072A4A"/>
                </a:solidFill>
                <a:latin typeface="Arial"/>
              </a:rPr>
              <a:t>Business value</a:t>
            </a:r>
          </a:p>
        </p:txBody>
      </p:sp>
      <p:sp>
        <p:nvSpPr>
          <p:cNvPr id="7" name="TextBox 6"/>
          <p:cNvSpPr txBox="1"/>
          <p:nvPr/>
        </p:nvSpPr>
        <p:spPr>
          <a:xfrm>
            <a:off x="685800" y="2029968"/>
            <a:ext cx="3657599" cy="548640"/>
          </a:xfrm>
          <a:prstGeom prst="rect">
            <a:avLst/>
          </a:prstGeom>
          <a:noFill/>
        </p:spPr>
        <p:txBody>
          <a:bodyPr wrap="square">
            <a:spAutoFit/>
          </a:bodyPr>
          <a:lstStyle/>
          <a:p>
            <a:pPr algn="l">
              <a:spcAft>
                <a:spcPts val="300"/>
              </a:spcAft>
            </a:pPr>
            <a:r>
              <a:rPr sz="1000" b="0">
                <a:solidFill>
                  <a:srgbClr val="8A939E"/>
                </a:solidFill>
                <a:latin typeface="Arial"/>
              </a:rPr>
              <a:t>[ to be completed with the team ]</a:t>
            </a:r>
          </a:p>
        </p:txBody>
      </p:sp>
      <p:sp>
        <p:nvSpPr>
          <p:cNvPr id="8" name="Rounded Rectangle 7"/>
          <p:cNvSpPr/>
          <p:nvPr/>
        </p:nvSpPr>
        <p:spPr>
          <a:xfrm>
            <a:off x="4709159" y="1481328"/>
            <a:ext cx="3977639" cy="1234440"/>
          </a:xfrm>
          <a:prstGeom prst="roundRect">
            <a:avLst>
              <a:gd name="adj" fmla="val 7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709159" y="1481328"/>
            <a:ext cx="64008" cy="123444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892040" y="1609344"/>
            <a:ext cx="3657599" cy="365760"/>
          </a:xfrm>
          <a:prstGeom prst="rect">
            <a:avLst/>
          </a:prstGeom>
          <a:noFill/>
        </p:spPr>
        <p:txBody>
          <a:bodyPr wrap="square">
            <a:spAutoFit/>
          </a:bodyPr>
          <a:lstStyle/>
          <a:p>
            <a:pPr algn="l">
              <a:spcAft>
                <a:spcPts val="300"/>
              </a:spcAft>
            </a:pPr>
            <a:r>
              <a:rPr sz="1250" b="1">
                <a:solidFill>
                  <a:srgbClr val="072A4A"/>
                </a:solidFill>
                <a:latin typeface="Arial"/>
              </a:rPr>
              <a:t>Limitations</a:t>
            </a:r>
          </a:p>
        </p:txBody>
      </p:sp>
      <p:sp>
        <p:nvSpPr>
          <p:cNvPr id="11" name="TextBox 10"/>
          <p:cNvSpPr txBox="1"/>
          <p:nvPr/>
        </p:nvSpPr>
        <p:spPr>
          <a:xfrm>
            <a:off x="4892040" y="2029968"/>
            <a:ext cx="3657599" cy="548640"/>
          </a:xfrm>
          <a:prstGeom prst="rect">
            <a:avLst/>
          </a:prstGeom>
          <a:noFill/>
        </p:spPr>
        <p:txBody>
          <a:bodyPr wrap="square">
            <a:spAutoFit/>
          </a:bodyPr>
          <a:lstStyle/>
          <a:p>
            <a:pPr algn="l">
              <a:spcAft>
                <a:spcPts val="300"/>
              </a:spcAft>
            </a:pPr>
            <a:r>
              <a:rPr sz="1000" b="0">
                <a:solidFill>
                  <a:srgbClr val="8A939E"/>
                </a:solidFill>
                <a:latin typeface="Arial"/>
              </a:rPr>
              <a:t>[ to be completed with the team ]</a:t>
            </a:r>
          </a:p>
        </p:txBody>
      </p:sp>
      <p:sp>
        <p:nvSpPr>
          <p:cNvPr id="12" name="Rounded Rectangle 11"/>
          <p:cNvSpPr/>
          <p:nvPr/>
        </p:nvSpPr>
        <p:spPr>
          <a:xfrm>
            <a:off x="502920" y="2880360"/>
            <a:ext cx="3977639" cy="1234440"/>
          </a:xfrm>
          <a:prstGeom prst="roundRect">
            <a:avLst>
              <a:gd name="adj" fmla="val 7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2880360"/>
            <a:ext cx="64008" cy="123444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3008376"/>
            <a:ext cx="3657599" cy="365760"/>
          </a:xfrm>
          <a:prstGeom prst="rect">
            <a:avLst/>
          </a:prstGeom>
          <a:noFill/>
        </p:spPr>
        <p:txBody>
          <a:bodyPr wrap="square">
            <a:spAutoFit/>
          </a:bodyPr>
          <a:lstStyle/>
          <a:p>
            <a:pPr algn="l">
              <a:spcAft>
                <a:spcPts val="300"/>
              </a:spcAft>
            </a:pPr>
            <a:r>
              <a:rPr sz="1250" b="1">
                <a:solidFill>
                  <a:srgbClr val="072A4A"/>
                </a:solidFill>
                <a:latin typeface="Arial"/>
              </a:rPr>
              <a:t>Missing information</a:t>
            </a:r>
          </a:p>
        </p:txBody>
      </p:sp>
      <p:sp>
        <p:nvSpPr>
          <p:cNvPr id="15" name="TextBox 14"/>
          <p:cNvSpPr txBox="1"/>
          <p:nvPr/>
        </p:nvSpPr>
        <p:spPr>
          <a:xfrm>
            <a:off x="685800" y="3429000"/>
            <a:ext cx="3657599" cy="548640"/>
          </a:xfrm>
          <a:prstGeom prst="rect">
            <a:avLst/>
          </a:prstGeom>
          <a:noFill/>
        </p:spPr>
        <p:txBody>
          <a:bodyPr wrap="square">
            <a:spAutoFit/>
          </a:bodyPr>
          <a:lstStyle/>
          <a:p>
            <a:pPr algn="l">
              <a:spcAft>
                <a:spcPts val="300"/>
              </a:spcAft>
            </a:pPr>
            <a:r>
              <a:rPr sz="1000" b="0">
                <a:solidFill>
                  <a:srgbClr val="8A939E"/>
                </a:solidFill>
                <a:latin typeface="Arial"/>
              </a:rPr>
              <a:t>[ to be completed with the team ]</a:t>
            </a:r>
          </a:p>
        </p:txBody>
      </p:sp>
      <p:sp>
        <p:nvSpPr>
          <p:cNvPr id="16" name="Rounded Rectangle 15"/>
          <p:cNvSpPr/>
          <p:nvPr/>
        </p:nvSpPr>
        <p:spPr>
          <a:xfrm>
            <a:off x="4709159" y="2880360"/>
            <a:ext cx="3977639" cy="1234440"/>
          </a:xfrm>
          <a:prstGeom prst="roundRect">
            <a:avLst>
              <a:gd name="adj" fmla="val 7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709159" y="2880360"/>
            <a:ext cx="64008" cy="1234440"/>
          </a:xfrm>
          <a:prstGeom prst="rect">
            <a:avLst/>
          </a:prstGeom>
          <a:solidFill>
            <a:srgbClr val="07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892040" y="3008376"/>
            <a:ext cx="3657599" cy="365760"/>
          </a:xfrm>
          <a:prstGeom prst="rect">
            <a:avLst/>
          </a:prstGeom>
          <a:noFill/>
        </p:spPr>
        <p:txBody>
          <a:bodyPr wrap="square">
            <a:spAutoFit/>
          </a:bodyPr>
          <a:lstStyle/>
          <a:p>
            <a:pPr algn="l">
              <a:spcAft>
                <a:spcPts val="300"/>
              </a:spcAft>
            </a:pPr>
            <a:r>
              <a:rPr sz="1250" b="1">
                <a:solidFill>
                  <a:srgbClr val="072A4A"/>
                </a:solidFill>
                <a:latin typeface="Arial"/>
              </a:rPr>
              <a:t>Modeling challenges</a:t>
            </a:r>
          </a:p>
        </p:txBody>
      </p:sp>
      <p:sp>
        <p:nvSpPr>
          <p:cNvPr id="19" name="TextBox 18"/>
          <p:cNvSpPr txBox="1"/>
          <p:nvPr/>
        </p:nvSpPr>
        <p:spPr>
          <a:xfrm>
            <a:off x="4892040" y="3429000"/>
            <a:ext cx="3657599" cy="548640"/>
          </a:xfrm>
          <a:prstGeom prst="rect">
            <a:avLst/>
          </a:prstGeom>
          <a:noFill/>
        </p:spPr>
        <p:txBody>
          <a:bodyPr wrap="square">
            <a:spAutoFit/>
          </a:bodyPr>
          <a:lstStyle/>
          <a:p>
            <a:pPr algn="l">
              <a:spcAft>
                <a:spcPts val="300"/>
              </a:spcAft>
            </a:pPr>
            <a:r>
              <a:rPr sz="1000" b="0">
                <a:solidFill>
                  <a:srgbClr val="8A939E"/>
                </a:solidFill>
                <a:latin typeface="Arial"/>
              </a:rPr>
              <a:t>[ to be completed with the team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2000">
                <a:solidFill>
                  <a:srgbClr val="000000"/>
                </a:solidFill>
                <a:latin typeface="Arial"/>
              </a:rPr>
              <a:t>Conclusion</a:t>
            </a:r>
          </a:p>
        </p:txBody>
      </p:sp>
      <p:sp>
        <p:nvSpPr>
          <p:cNvPr id="4" name="TextBox 3"/>
          <p:cNvSpPr txBox="1"/>
          <p:nvPr/>
        </p:nvSpPr>
        <p:spPr>
          <a:xfrm>
            <a:off x="548640" y="1508760"/>
            <a:ext cx="8046720" cy="2011680"/>
          </a:xfrm>
          <a:prstGeom prst="rect">
            <a:avLst/>
          </a:prstGeom>
          <a:noFill/>
        </p:spPr>
        <p:txBody>
          <a:bodyPr wrap="square">
            <a:spAutoFit/>
          </a:bodyPr>
          <a:lstStyle/>
          <a:p>
            <a:pPr algn="l">
              <a:spcAft>
                <a:spcPts val="1000"/>
              </a:spcAft>
            </a:pPr>
            <a:r>
              <a:rPr sz="1200" b="0">
                <a:solidFill>
                  <a:srgbClr val="262A30"/>
                </a:solidFill>
                <a:latin typeface="Arial"/>
              </a:rPr>
              <a:t>• The abstract model covers the whole enterprise (F1 + F2 + F3) with structure and behaviour</a:t>
            </a:r>
          </a:p>
          <a:p>
            <a:pPr algn="l">
              <a:spcAft>
                <a:spcPts val="1000"/>
              </a:spcAft>
            </a:pPr>
            <a:r>
              <a:rPr sz="1200" b="0">
                <a:solidFill>
                  <a:srgbClr val="262A30"/>
                </a:solidFill>
                <a:latin typeface="Arial"/>
              </a:rPr>
              <a:t>• The F1 detailed model is developed across business, application and technology — communication explicitly modelled</a:t>
            </a:r>
          </a:p>
          <a:p>
            <a:pPr algn="l">
              <a:spcAft>
                <a:spcPts val="1000"/>
              </a:spcAft>
            </a:pPr>
            <a:r>
              <a:rPr sz="1200" b="0">
                <a:solidFill>
                  <a:srgbClr val="262A30"/>
                </a:solidFill>
                <a:latin typeface="Arial"/>
              </a:rPr>
              <a:t>• The vertical chain Node → Component → App Service → Business Process → Business Service → Passenger is derivable</a:t>
            </a:r>
          </a:p>
        </p:txBody>
      </p:sp>
      <p:sp>
        <p:nvSpPr>
          <p:cNvPr id="5" name="Rectangle 4"/>
          <p:cNvSpPr/>
          <p:nvPr/>
        </p:nvSpPr>
        <p:spPr>
          <a:xfrm>
            <a:off x="548640" y="3840480"/>
            <a:ext cx="8046720" cy="73152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3986784"/>
            <a:ext cx="7498079" cy="457200"/>
          </a:xfrm>
          <a:prstGeom prst="rect">
            <a:avLst/>
          </a:prstGeom>
          <a:noFill/>
        </p:spPr>
        <p:txBody>
          <a:bodyPr wrap="square">
            <a:spAutoFit/>
          </a:bodyPr>
          <a:lstStyle/>
          <a:p>
            <a:pPr algn="l">
              <a:spcAft>
                <a:spcPts val="300"/>
              </a:spcAft>
            </a:pPr>
            <a:r>
              <a:rPr sz="1500" b="1">
                <a:solidFill>
                  <a:srgbClr val="FFFFFF"/>
                </a:solidFill>
                <a:latin typeface="Arial"/>
              </a:rPr>
              <a:t>Thank you — questions &amp; discussion welcome.</a:t>
            </a:r>
          </a:p>
        </p:txBody>
      </p:sp>
    </p:spTree>
  </p:cSld>
  <p:clrMapOvr>
    <a:masterClrMapping/>
  </p:clrMapOvr>
</p:sld>
</file>

<file path=ppt/theme/theme1.xml><?xml version="1.0" encoding="utf-8"?>
<a:theme xmlns:a="http://schemas.openxmlformats.org/drawingml/2006/main" name="Titel 1">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71F9E29F-9B65-4C06-A32E-848D689232B9}" vid="{1E03A00F-5A34-475F-BA84-E2EBED434790}"/>
    </a:ext>
  </a:extLst>
</a:theme>
</file>

<file path=ppt/theme/theme2.xml><?xml version="1.0" encoding="utf-8"?>
<a:theme xmlns:a="http://schemas.openxmlformats.org/drawingml/2006/main" name="Titel 2">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71F9E29F-9B65-4C06-A32E-848D689232B9}" vid="{008B5212-AD15-4DA8-AB6C-182350FFA4EA}"/>
    </a:ext>
  </a:extLst>
</a:theme>
</file>

<file path=ppt/theme/theme3.xml><?xml version="1.0" encoding="utf-8"?>
<a:theme xmlns:a="http://schemas.openxmlformats.org/drawingml/2006/main" name="Titel 3">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71F9E29F-9B65-4C06-A32E-848D689232B9}" vid="{CFAC8027-78A3-4001-93FE-AE371D2D92B1}"/>
    </a:ext>
  </a:extLst>
</a:theme>
</file>

<file path=ppt/theme/theme4.xml><?xml version="1.0" encoding="utf-8"?>
<a:theme xmlns:a="http://schemas.openxmlformats.org/drawingml/2006/main" name="Inhalt">
  <a:themeElements>
    <a:clrScheme name="TUM">
      <a:dk1>
        <a:sysClr val="windowText" lastClr="000000"/>
      </a:dk1>
      <a:lt1>
        <a:sysClr val="window" lastClr="FFFFFF"/>
      </a:lt1>
      <a:dk2>
        <a:srgbClr val="003359"/>
      </a:dk2>
      <a:lt2>
        <a:srgbClr val="0065BD"/>
      </a:lt2>
      <a:accent1>
        <a:srgbClr val="005293"/>
      </a:accent1>
      <a:accent2>
        <a:srgbClr val="64A0C8"/>
      </a:accent2>
      <a:accent3>
        <a:srgbClr val="98C6EA"/>
      </a:accent3>
      <a:accent4>
        <a:srgbClr val="A2AD00"/>
      </a:accent4>
      <a:accent5>
        <a:srgbClr val="E37222"/>
      </a:accent5>
      <a:accent6>
        <a:srgbClr val="DAD7CB"/>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71F9E29F-9B65-4C06-A32E-848D689232B9}" vid="{94C99F27-547F-408F-8FEB-51CB360826DB}"/>
    </a:ext>
  </a:extLst>
</a:theme>
</file>

<file path=ppt/theme/theme5.xml><?xml version="1.0" encoding="utf-8"?>
<a:theme xmlns:a="http://schemas.openxmlformats.org/drawingml/2006/main" name="Kapiteltrenner blau">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71F9E29F-9B65-4C06-A32E-848D689232B9}" vid="{D62E0DEB-27C1-4887-9BB6-4AC5FC555B75}"/>
    </a:ext>
  </a:extLst>
</a:theme>
</file>

<file path=ppt/theme/theme6.xml><?xml version="1.0" encoding="utf-8"?>
<a:theme xmlns:a="http://schemas.openxmlformats.org/drawingml/2006/main" name="Kapiteltrenner schwarz">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71F9E29F-9B65-4C06-A32E-848D689232B9}" vid="{D4175650-7EAE-421A-870A-005CB3789E30}"/>
    </a:ext>
  </a:extLst>
</a:theme>
</file>

<file path=ppt/theme/theme7.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1007</TotalTime>
  <Words>2024</Words>
  <Application>Microsoft Macintosh PowerPoint</Application>
  <PresentationFormat>全屏显示(16:9)</PresentationFormat>
  <Paragraphs>243</Paragraphs>
  <Slides>24</Slides>
  <Notes>20</Notes>
  <HiddenSlides>0</HiddenSlides>
  <MMClips>0</MMClips>
  <ScaleCrop>false</ScaleCrop>
  <HeadingPairs>
    <vt:vector size="6" baseType="variant">
      <vt:variant>
        <vt:lpstr>已用的字体</vt:lpstr>
      </vt:variant>
      <vt:variant>
        <vt:i4>5</vt:i4>
      </vt:variant>
      <vt:variant>
        <vt:lpstr>主题</vt:lpstr>
      </vt:variant>
      <vt:variant>
        <vt:i4>6</vt:i4>
      </vt:variant>
      <vt:variant>
        <vt:lpstr>幻灯片标题</vt:lpstr>
      </vt:variant>
      <vt:variant>
        <vt:i4>24</vt:i4>
      </vt:variant>
    </vt:vector>
  </HeadingPairs>
  <TitlesOfParts>
    <vt:vector size="35" baseType="lpstr">
      <vt:lpstr>Arial</vt:lpstr>
      <vt:lpstr>Calibri</vt:lpstr>
      <vt:lpstr>Courier New</vt:lpstr>
      <vt:lpstr>Symbol</vt:lpstr>
      <vt:lpstr>Wingdings</vt:lpstr>
      <vt:lpstr>Titel 1</vt:lpstr>
      <vt:lpstr>Titel 2</vt:lpstr>
      <vt:lpstr>Titel 3</vt:lpstr>
      <vt:lpstr>Inhalt</vt:lpstr>
      <vt:lpstr>Kapiteltrenner blau</vt:lpstr>
      <vt:lpstr>Kapiteltrenner schwarz</vt:lpstr>
      <vt:lpstr>Ticketing &amp; Train Journey Management</vt:lpstr>
      <vt:lpstr>ArchiTrain: one architecture, three focus areas</vt:lpstr>
      <vt:lpstr>Our EAM Team</vt:lpstr>
      <vt:lpstr>1   Abstract Model</vt:lpstr>
      <vt:lpstr>Abstract model: three domains × three layers</vt:lpstr>
      <vt:lpstr>Abstract Model</vt:lpstr>
      <vt:lpstr>2   Detailed Model — Focus Area F1  - Business Layer</vt:lpstr>
      <vt:lpstr>Technology layer — Element</vt:lpstr>
      <vt:lpstr>Technology layer — Element</vt:lpstr>
      <vt:lpstr>Technology layer — Element</vt:lpstr>
      <vt:lpstr>Technology layer — Ralationship</vt:lpstr>
      <vt:lpstr>Technology layer — Overview</vt:lpstr>
      <vt:lpstr>Business layer</vt:lpstr>
      <vt:lpstr>PowerPoint 演示文稿</vt:lpstr>
      <vt:lpstr>PowerPoint 演示文稿</vt:lpstr>
      <vt:lpstr>Application layer</vt:lpstr>
      <vt:lpstr>Technology layer — overview &amp; four perspectives</vt:lpstr>
      <vt:lpstr>Perspective 1 — Tap &amp; gate access</vt:lpstr>
      <vt:lpstr>Perspective 2 — Communication (pattern P01)</vt:lpstr>
      <vt:lpstr>Perspective 3 — Backend storage &amp; data</vt:lpstr>
      <vt:lpstr>Perspective 4 — Self-service &amp; bank settlement</vt:lpstr>
      <vt:lpstr>3   Reflection</vt:lpstr>
      <vt:lpstr>Reflection</vt:lpstr>
      <vt:lpstr>Conclusion</vt:lpstr>
    </vt:vector>
  </TitlesOfParts>
  <Company>TUM ZIT</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Bothe, Sonja</dc:creator>
  <cp:lastModifiedBy>Sihao Tao</cp:lastModifiedBy>
  <cp:revision>5</cp:revision>
  <cp:lastPrinted>2015-07-30T14:04:45Z</cp:lastPrinted>
  <dcterms:created xsi:type="dcterms:W3CDTF">2021-10-05T07:45:50Z</dcterms:created>
  <dcterms:modified xsi:type="dcterms:W3CDTF">2026-07-01T14:13:06Z</dcterms:modified>
</cp:coreProperties>
</file>