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29"/>
  </p:notesMasterIdLst>
  <p:handoutMasterIdLst>
    <p:handoutMasterId r:id="rId30"/>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12"/>
    <p:sldId id="273" r:id="rId11"/>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8272" autoAdjust="0"/>
  </p:normalViewPr>
  <p:slideViewPr>
    <p:cSldViewPr snapToGrid="0">
      <p:cViewPr varScale="1">
        <p:scale>
          <a:sx n="114" d="100"/>
          <a:sy n="114" d="100"/>
        </p:scale>
        <p:origin x="762" y="102"/>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11" Type="http://schemas.openxmlformats.org/officeDocument/2006/relationships/slide" Target="slides/slide18.xml"/><Relationship Id="rId12" Type="http://schemas.openxmlformats.org/officeDocument/2006/relationships/slide" Target="slides/slide17.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05/10/2021</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‹Nr.›</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05/10/2021</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‹Nr.›</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group C1F1G_. Our case is ArchiTrain and our focus area is F1 - Ticketing &amp; Train Journey Management. We start with the use case and the abstract enterprise model, then go deep into F1 across all three layers, and close with reflection.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talk has four parts: the use case and scope, the abstract model, the detailed F1 model across business, application and technology, and finally reflection.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ArchiTrain is a modern transit enterprise that integrated 14 formerly siloed systems into one architecture. Passengers tap on and off with a Go Card, mobile wallet or contactless bank card, and the gate opens in under 400 milliseconds. The case has three focus areas - F1 ticketing, F2 train localization, F3 disruption - and our team owns F1. Sources: a sequence diagram, three interviews and an incident report.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stakeholders are the Passenger, Customer Support Staff, Operations Controller and Train Operator, plus the Malfunction Management collaboration. They are served by three main business services: Ticketing &amp; Fare, Train Operation &amp; Tracking, and Passenger Information. Information sources: Elena Vasquez for F1, Dr. Marcus Chen for F2, Sarah Mitchell for F3.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abstract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abstract model covers the whole enterprise - three domains across three layers. At the abstract level we keep one generalized process per domain, components without internal structure, devices summarized as nodes, and communication shown only as networks. Everything is centered on the Passenger and the three business services.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detailed model for our focus area, F1.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defining feature of F1 is that a single tap touches all three layers. We walk through business, application and technology, linked by the two backbone relationships - serving and realization.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layer - presented by teammate.] The business layer covers Conduct Journey, Calculate Fare and Manage Go Card.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layer - presented by teammate.] Access Control Management, JAMS, the Fare Management System and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passenger taps a Go Card or mobile wallet. The NFC Handshake, modelled as a Path, links the card with the reader. Embedded and platform NFC readers realize the NFC Proximity Communication Service. The Station Gate contains the Gate Firmware that performs NFC Handshake Processing, and the gate is assigned to Access Control Management, which opens the barrier in under 400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Communication follows the course pattern P01. The card-to-reader link is a Path; the Gate-Backend Link is also a Path, realized by the Private Network, which is a Communication Network. That private network connects the station infrastructure, the backend and the application server.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&amp; Account Management Backend contains the DBMS and the Journey &amp; Account Database artifact. The backend realizes the Data Storage Service, which serves JAMS and the Fare Management System. The database artifact realizes the four application data objects: Tap Event, Go Card Account, Fare &amp; Zone, and Digital Ticket.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Server hosts the Website Deployment, which realizes the ArchiTrain Website. The app server reads Go Card balances over the private network. For payments, the external Bank Payment Service serves the Fare Management System for settlement.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reflection.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value: a single card makes the fare chain transparent end to end; we identified a single point of risk - the backend carries journey, fare and account data together; the 24-hour timeout protects revenue. Limitations and missing information: inconsistent naming, and no deployment, network topology, security or reconciliation of a late tap-off. Our main modeling challenge was the level of abstraction and representing tap-on and tap-off as handled equally.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abstract model covers the whole enterprise; the F1 detailed model is developed across all three layers with communication explicitly modelled; and the vertical chain from node to component to service to business process to the passenger is fully derivable. 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‹Nr.›</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‹Nr.›</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‹Nr.›</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‹Nr.›</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‹Nr.›</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‹Nr.›</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‹Nr.›</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r>
              <a:rPr lang="de-DE" noProof="0" dirty="0"/>
              <a:t/>
            </a: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‹Nr.›</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r>
              <a:rPr lang="de-DE" noProof="0" dirty="0"/>
              <a:t/>
            </a: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‹Nr.›</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2.jpeg"/><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image" Target="../media/image1.w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theme" Target="../theme/theme4.xml"/><Relationship Id="rId10"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5.xml"/><Relationship Id="rId3" Type="http://schemas.openxmlformats.org/officeDocument/2006/relationships/image" Target="../media/image3.e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6.xml"/><Relationship Id="rId3"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‹Nr.›</a:t>
            </a:fld>
            <a:endParaRPr lang="de-DE" dirty="0"/>
          </a:p>
        </p:txBody>
      </p:sp>
      <p:pic>
        <p:nvPicPr>
          <p:cNvPr id="5" name="Bild 8" descr="20150416 tum logo blau png final.png"/>
          <p:cNvPicPr>
            <a:picLocks noChangeAspect="1"/>
          </p:cNvPicPr>
          <p:nvPr userDrawn="1"/>
        </p:nvPicPr>
        <p:blipFill>
          <a:blip r:embed="rId3"/>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‹Nr.›</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‹Nr.›</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‹Nr.›</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smtClean="0">
                <a:solidFill>
                  <a:schemeClr val="tx2"/>
                </a:solidFill>
                <a:latin typeface="+mn-lt"/>
              </a:rPr>
              <a:t>TUM</a:t>
            </a:r>
            <a:r>
              <a:rPr lang="de-DE" sz="800" baseline="0" dirty="0" smtClean="0">
                <a:solidFill>
                  <a:schemeClr val="tx2"/>
                </a:solidFill>
                <a:latin typeface="+mn-lt"/>
              </a:rPr>
              <a:t> School </a:t>
            </a:r>
            <a:r>
              <a:rPr lang="de-DE" sz="800" baseline="0" dirty="0" err="1" smtClean="0">
                <a:solidFill>
                  <a:schemeClr val="tx2"/>
                </a:solidFill>
                <a:latin typeface="+mn-lt"/>
              </a:rPr>
              <a:t>of</a:t>
            </a:r>
            <a:r>
              <a:rPr lang="de-DE" sz="800" dirty="0" smtClean="0">
                <a:solidFill>
                  <a:schemeClr val="tx2"/>
                </a:solidFill>
                <a:latin typeface="+mn-lt"/>
              </a:rPr>
              <a:t> </a:t>
            </a:r>
            <a:r>
              <a:rPr lang="de-DE" sz="800" dirty="0">
                <a:solidFill>
                  <a:schemeClr val="tx2"/>
                </a:solidFill>
                <a:latin typeface="+mn-lt"/>
              </a:rPr>
              <a:t>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‹Nr.›</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‹Nr.›</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‹Nr.›</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Ticketing &amp; Train Journey Management</a:t>
            </a:r>
          </a:p>
        </p:txBody>
      </p:sp>
      <p:sp>
        <p:nvSpPr>
          <p:cNvPr id="3" name="Content Placeholder 2"/>
          <p:cNvSpPr>
            <a:spLocks noGrp="1"/>
          </p:cNvSpPr>
          <p:nvPr>
            <p:ph idx="10"/>
          </p:nvPr>
        </p:nvSpPr>
        <p:spPr/>
        <p:txBody>
          <a:bodyPr/>
          <a:lstStyle/>
          <a:p>
            <a:pPr algn="l">
              <a:spcAft>
                <a:spcPts val="800"/>
              </a:spcAft>
            </a:pPr>
            <a:r>
              <a:rPr sz="1400" b="0">
                <a:solidFill>
                  <a:srgbClr val="0065BD"/>
                </a:solidFill>
                <a:latin typeface="Arial"/>
              </a:rPr>
              <a:t>Case Study C1 · ArchiTrain · Focus Area 1</a:t>
            </a:r>
          </a:p>
          <a:p>
            <a:pPr algn="l">
              <a:spcAft>
                <a:spcPts val="1400"/>
              </a:spcAft>
            </a:pPr>
            <a:r>
              <a:rPr sz="1200" b="0">
                <a:solidFill>
                  <a:srgbClr val="595959"/>
                </a:solidFill>
                <a:latin typeface="Arial"/>
              </a:rPr>
              <a:t>Abstract &amp; Detailed ArchiMate Model</a:t>
            </a:r>
          </a:p>
          <a:p>
            <a:pPr algn="l">
              <a:spcAft>
                <a:spcPts val="200"/>
              </a:spcAft>
            </a:pPr>
            <a:r>
              <a:rPr sz="1200" b="1">
                <a:solidFill>
                  <a:srgbClr val="000000"/>
                </a:solidFill>
                <a:latin typeface="Arial"/>
              </a:rPr>
              <a:t>Group C1F1G_</a:t>
            </a:r>
          </a:p>
          <a:p>
            <a:pPr algn="l">
              <a:spcAft>
                <a:spcPts val="200"/>
              </a:spcAft>
            </a:pPr>
            <a:r>
              <a:rPr sz="1100" b="0">
                <a:solidFill>
                  <a:srgbClr val="595959"/>
                </a:solidFill>
                <a:latin typeface="Arial"/>
              </a:rPr>
              <a:t>Team: Member 1 · Member 2 · Member 3 · …</a:t>
            </a:r>
          </a:p>
          <a:p>
            <a:pPr algn="l">
              <a:spcAft>
                <a:spcPts val="200"/>
              </a:spcAft>
            </a:pPr>
            <a:r>
              <a:rPr sz="1000" b="0">
                <a:solidFill>
                  <a:srgbClr val="8A939E"/>
                </a:solidFill>
                <a:latin typeface="Arial"/>
              </a:rPr>
              <a:t>TUM School CIT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Agenda</a:t>
            </a:r>
          </a:p>
        </p:txBody>
      </p:sp>
      <p:sp>
        <p:nvSpPr>
          <p:cNvPr id="4" name="Rectangle 3"/>
          <p:cNvSpPr/>
          <p:nvPr/>
        </p:nvSpPr>
        <p:spPr>
          <a:xfrm>
            <a:off x="548640" y="1508760"/>
            <a:ext cx="457200" cy="457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63624"/>
            <a:ext cx="457200" cy="365760"/>
          </a:xfrm>
          <a:prstGeom prst="rect">
            <a:avLst/>
          </a:prstGeom>
          <a:noFill/>
        </p:spPr>
        <p:txBody>
          <a:bodyPr wrap="square">
            <a:spAutoFit/>
          </a:bodyPr>
          <a:lstStyle/>
          <a:p>
            <a:pPr algn="ctr">
              <a:spcAft>
                <a:spcPts val="300"/>
              </a:spcAft>
            </a:pPr>
            <a:r>
              <a:rPr sz="1600" b="1">
                <a:solidFill>
                  <a:srgbClr val="FFFFFF"/>
                </a:solidFill>
                <a:latin typeface="Arial"/>
              </a:rPr>
              <a:t>1</a:t>
            </a:r>
          </a:p>
        </p:txBody>
      </p:sp>
      <p:sp>
        <p:nvSpPr>
          <p:cNvPr id="6" name="TextBox 5"/>
          <p:cNvSpPr txBox="1"/>
          <p:nvPr/>
        </p:nvSpPr>
        <p:spPr>
          <a:xfrm>
            <a:off x="1143000" y="1472184"/>
            <a:ext cx="7498079" cy="320040"/>
          </a:xfrm>
          <a:prstGeom prst="rect">
            <a:avLst/>
          </a:prstGeom>
          <a:noFill/>
        </p:spPr>
        <p:txBody>
          <a:bodyPr wrap="square">
            <a:spAutoFit/>
          </a:bodyPr>
          <a:lstStyle/>
          <a:p>
            <a:pPr algn="l">
              <a:spcAft>
                <a:spcPts val="300"/>
              </a:spcAft>
            </a:pPr>
            <a:r>
              <a:rPr sz="1400" b="1">
                <a:solidFill>
                  <a:srgbClr val="072A4A"/>
                </a:solidFill>
                <a:latin typeface="Arial"/>
              </a:rPr>
              <a:t>Use Case &amp; Scope</a:t>
            </a:r>
          </a:p>
        </p:txBody>
      </p:sp>
      <p:sp>
        <p:nvSpPr>
          <p:cNvPr id="7" name="TextBox 6"/>
          <p:cNvSpPr txBox="1"/>
          <p:nvPr/>
        </p:nvSpPr>
        <p:spPr>
          <a:xfrm>
            <a:off x="1143000" y="1801368"/>
            <a:ext cx="7498079" cy="320040"/>
          </a:xfrm>
          <a:prstGeom prst="rect">
            <a:avLst/>
          </a:prstGeom>
          <a:noFill/>
        </p:spPr>
        <p:txBody>
          <a:bodyPr wrap="square">
            <a:spAutoFit/>
          </a:bodyPr>
          <a:lstStyle/>
          <a:p>
            <a:pPr algn="l">
              <a:spcAft>
                <a:spcPts val="300"/>
              </a:spcAft>
            </a:pPr>
            <a:r>
              <a:rPr sz="1100" b="0">
                <a:solidFill>
                  <a:srgbClr val="595959"/>
                </a:solidFill>
                <a:latin typeface="Arial"/>
              </a:rPr>
              <a:t>ArchiTrain and our focus area F1</a:t>
            </a:r>
          </a:p>
        </p:txBody>
      </p:sp>
      <p:sp>
        <p:nvSpPr>
          <p:cNvPr id="8" name="Rectangle 7"/>
          <p:cNvSpPr/>
          <p:nvPr/>
        </p:nvSpPr>
        <p:spPr>
          <a:xfrm>
            <a:off x="548640" y="2295144"/>
            <a:ext cx="457200" cy="457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50008"/>
            <a:ext cx="457200" cy="365760"/>
          </a:xfrm>
          <a:prstGeom prst="rect">
            <a:avLst/>
          </a:prstGeom>
          <a:noFill/>
        </p:spPr>
        <p:txBody>
          <a:bodyPr wrap="square">
            <a:spAutoFit/>
          </a:bodyPr>
          <a:lstStyle/>
          <a:p>
            <a:pPr algn="ctr">
              <a:spcAft>
                <a:spcPts val="300"/>
              </a:spcAft>
            </a:pPr>
            <a:r>
              <a:rPr sz="1600" b="1">
                <a:solidFill>
                  <a:srgbClr val="FFFFFF"/>
                </a:solidFill>
                <a:latin typeface="Arial"/>
              </a:rPr>
              <a:t>2</a:t>
            </a:r>
          </a:p>
        </p:txBody>
      </p:sp>
      <p:sp>
        <p:nvSpPr>
          <p:cNvPr id="10" name="TextBox 9"/>
          <p:cNvSpPr txBox="1"/>
          <p:nvPr/>
        </p:nvSpPr>
        <p:spPr>
          <a:xfrm>
            <a:off x="1143000" y="2258568"/>
            <a:ext cx="7498079" cy="320040"/>
          </a:xfrm>
          <a:prstGeom prst="rect">
            <a:avLst/>
          </a:prstGeom>
          <a:noFill/>
        </p:spPr>
        <p:txBody>
          <a:bodyPr wrap="square">
            <a:spAutoFit/>
          </a:bodyPr>
          <a:lstStyle/>
          <a:p>
            <a:pPr algn="l">
              <a:spcAft>
                <a:spcPts val="300"/>
              </a:spcAft>
            </a:pPr>
            <a:r>
              <a:rPr sz="1400" b="1">
                <a:solidFill>
                  <a:srgbClr val="072A4A"/>
                </a:solidFill>
                <a:latin typeface="Arial"/>
              </a:rPr>
              <a:t>Abstract Model</a:t>
            </a:r>
          </a:p>
        </p:txBody>
      </p:sp>
      <p:sp>
        <p:nvSpPr>
          <p:cNvPr id="11" name="TextBox 10"/>
          <p:cNvSpPr txBox="1"/>
          <p:nvPr/>
        </p:nvSpPr>
        <p:spPr>
          <a:xfrm>
            <a:off x="1143000" y="2587751"/>
            <a:ext cx="7498079" cy="320040"/>
          </a:xfrm>
          <a:prstGeom prst="rect">
            <a:avLst/>
          </a:prstGeom>
          <a:noFill/>
        </p:spPr>
        <p:txBody>
          <a:bodyPr wrap="square">
            <a:spAutoFit/>
          </a:bodyPr>
          <a:lstStyle/>
          <a:p>
            <a:pPr algn="l">
              <a:spcAft>
                <a:spcPts val="300"/>
              </a:spcAft>
            </a:pPr>
            <a:r>
              <a:rPr sz="1100" b="0">
                <a:solidFill>
                  <a:srgbClr val="595959"/>
                </a:solidFill>
                <a:latin typeface="Arial"/>
              </a:rPr>
              <a:t>The whole enterprise at a glance</a:t>
            </a:r>
          </a:p>
        </p:txBody>
      </p:sp>
      <p:sp>
        <p:nvSpPr>
          <p:cNvPr id="12" name="Rectangle 11"/>
          <p:cNvSpPr/>
          <p:nvPr/>
        </p:nvSpPr>
        <p:spPr>
          <a:xfrm>
            <a:off x="548640" y="3081527"/>
            <a:ext cx="457200" cy="457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36391"/>
            <a:ext cx="457200" cy="365760"/>
          </a:xfrm>
          <a:prstGeom prst="rect">
            <a:avLst/>
          </a:prstGeom>
          <a:noFill/>
        </p:spPr>
        <p:txBody>
          <a:bodyPr wrap="square">
            <a:spAutoFit/>
          </a:bodyPr>
          <a:lstStyle/>
          <a:p>
            <a:pPr algn="ctr">
              <a:spcAft>
                <a:spcPts val="300"/>
              </a:spcAft>
            </a:pPr>
            <a:r>
              <a:rPr sz="1600" b="1">
                <a:solidFill>
                  <a:srgbClr val="FFFFFF"/>
                </a:solidFill>
                <a:latin typeface="Arial"/>
              </a:rPr>
              <a:t>3</a:t>
            </a:r>
          </a:p>
        </p:txBody>
      </p:sp>
      <p:sp>
        <p:nvSpPr>
          <p:cNvPr id="14" name="TextBox 13"/>
          <p:cNvSpPr txBox="1"/>
          <p:nvPr/>
        </p:nvSpPr>
        <p:spPr>
          <a:xfrm>
            <a:off x="1143000" y="3044951"/>
            <a:ext cx="7498079" cy="320040"/>
          </a:xfrm>
          <a:prstGeom prst="rect">
            <a:avLst/>
          </a:prstGeom>
          <a:noFill/>
        </p:spPr>
        <p:txBody>
          <a:bodyPr wrap="square">
            <a:spAutoFit/>
          </a:bodyPr>
          <a:lstStyle/>
          <a:p>
            <a:pPr algn="l">
              <a:spcAft>
                <a:spcPts val="300"/>
              </a:spcAft>
            </a:pPr>
            <a:r>
              <a:rPr sz="1400" b="1">
                <a:solidFill>
                  <a:srgbClr val="072A4A"/>
                </a:solidFill>
                <a:latin typeface="Arial"/>
              </a:rPr>
              <a:t>Detailed Model — Focus Area F1</a:t>
            </a:r>
          </a:p>
        </p:txBody>
      </p:sp>
      <p:sp>
        <p:nvSpPr>
          <p:cNvPr id="15" name="TextBox 14"/>
          <p:cNvSpPr txBox="1"/>
          <p:nvPr/>
        </p:nvSpPr>
        <p:spPr>
          <a:xfrm>
            <a:off x="1143000" y="3374135"/>
            <a:ext cx="7498079" cy="320040"/>
          </a:xfrm>
          <a:prstGeom prst="rect">
            <a:avLst/>
          </a:prstGeom>
          <a:noFill/>
        </p:spPr>
        <p:txBody>
          <a:bodyPr wrap="square">
            <a:spAutoFit/>
          </a:bodyPr>
          <a:lstStyle/>
          <a:p>
            <a:pPr algn="l">
              <a:spcAft>
                <a:spcPts val="300"/>
              </a:spcAft>
            </a:pPr>
            <a:r>
              <a:rPr sz="1100" b="0">
                <a:solidFill>
                  <a:srgbClr val="595959"/>
                </a:solidFill>
                <a:latin typeface="Arial"/>
              </a:rPr>
              <a:t>Business · Application · Technology</a:t>
            </a:r>
          </a:p>
        </p:txBody>
      </p:sp>
      <p:sp>
        <p:nvSpPr>
          <p:cNvPr id="16" name="Rectangle 15"/>
          <p:cNvSpPr/>
          <p:nvPr/>
        </p:nvSpPr>
        <p:spPr>
          <a:xfrm>
            <a:off x="548640" y="3867911"/>
            <a:ext cx="457200" cy="457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22775"/>
            <a:ext cx="457200" cy="365760"/>
          </a:xfrm>
          <a:prstGeom prst="rect">
            <a:avLst/>
          </a:prstGeom>
          <a:noFill/>
        </p:spPr>
        <p:txBody>
          <a:bodyPr wrap="square">
            <a:spAutoFit/>
          </a:bodyPr>
          <a:lstStyle/>
          <a:p>
            <a:pPr algn="ctr">
              <a:spcAft>
                <a:spcPts val="300"/>
              </a:spcAft>
            </a:pPr>
            <a:r>
              <a:rPr sz="1600" b="1">
                <a:solidFill>
                  <a:srgbClr val="FFFFFF"/>
                </a:solidFill>
                <a:latin typeface="Arial"/>
              </a:rPr>
              <a:t>4</a:t>
            </a:r>
          </a:p>
        </p:txBody>
      </p:sp>
      <p:sp>
        <p:nvSpPr>
          <p:cNvPr id="18" name="TextBox 17"/>
          <p:cNvSpPr txBox="1"/>
          <p:nvPr/>
        </p:nvSpPr>
        <p:spPr>
          <a:xfrm>
            <a:off x="1143000" y="3831335"/>
            <a:ext cx="7498079" cy="320040"/>
          </a:xfrm>
          <a:prstGeom prst="rect">
            <a:avLst/>
          </a:prstGeom>
          <a:noFill/>
        </p:spPr>
        <p:txBody>
          <a:bodyPr wrap="square">
            <a:spAutoFit/>
          </a:bodyPr>
          <a:lstStyle/>
          <a:p>
            <a:pPr algn="l">
              <a:spcAft>
                <a:spcPts val="300"/>
              </a:spcAft>
            </a:pPr>
            <a:r>
              <a:rPr sz="1400" b="1">
                <a:solidFill>
                  <a:srgbClr val="072A4A"/>
                </a:solidFill>
                <a:latin typeface="Arial"/>
              </a:rPr>
              <a:t>Reflection</a:t>
            </a:r>
          </a:p>
        </p:txBody>
      </p:sp>
      <p:sp>
        <p:nvSpPr>
          <p:cNvPr id="19" name="TextBox 18"/>
          <p:cNvSpPr txBox="1"/>
          <p:nvPr/>
        </p:nvSpPr>
        <p:spPr>
          <a:xfrm>
            <a:off x="1143000" y="4160520"/>
            <a:ext cx="7498079" cy="320040"/>
          </a:xfrm>
          <a:prstGeom prst="rect">
            <a:avLst/>
          </a:prstGeom>
          <a:noFill/>
        </p:spPr>
        <p:txBody>
          <a:bodyPr wrap="square">
            <a:spAutoFit/>
          </a:bodyPr>
          <a:lstStyle/>
          <a:p>
            <a:pPr algn="l">
              <a:spcAft>
                <a:spcPts val="300"/>
              </a:spcAft>
            </a:pPr>
            <a:r>
              <a:rPr sz="1100" b="0">
                <a:solidFill>
                  <a:srgbClr val="595959"/>
                </a:solidFill>
                <a:latin typeface="Arial"/>
              </a:rPr>
              <a:t>Value · limitations · missing information · challenges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ArchiTrain: one architecture, three focus areas</a:t>
            </a:r>
          </a:p>
        </p:txBody>
      </p:sp>
      <p:sp>
        <p:nvSpPr>
          <p:cNvPr id="4" name="TextBox 3"/>
          <p:cNvSpPr txBox="1"/>
          <p:nvPr/>
        </p:nvSpPr>
        <p:spPr>
          <a:xfrm>
            <a:off x="502920" y="1481328"/>
            <a:ext cx="8183879" cy="685800"/>
          </a:xfrm>
          <a:prstGeom prst="rect">
            <a:avLst/>
          </a:prstGeom>
          <a:noFill/>
        </p:spPr>
        <p:txBody>
          <a:bodyPr wrap="square">
            <a:spAutoFit/>
          </a:bodyPr>
          <a:lstStyle/>
          <a:p>
            <a:pPr algn="l">
              <a:lnSpc>
                <a:spcPct val="118000"/>
              </a:lnSpc>
              <a:spcAft>
                <a:spcPts val="300"/>
              </a:spcAft>
            </a:pPr>
            <a:r>
              <a:rPr sz="1200" b="0">
                <a:solidFill>
                  <a:srgbClr val="262A30"/>
                </a:solidFill>
                <a:latin typeface="Arial"/>
              </a:rPr>
              <a:t>A modern transit enterprise. Passengers </a:t>
            </a:r>
            <a:r>
              <a:rPr sz="1200" b="1">
                <a:solidFill>
                  <a:srgbClr val="072A4A"/>
                </a:solidFill>
                <a:latin typeface="Arial"/>
              </a:rPr>
              <a:t>tap on / tap off</a:t>
            </a:r>
            <a:r>
              <a:rPr sz="1200" b="0">
                <a:solidFill>
                  <a:srgbClr val="262A30"/>
                </a:solidFill>
                <a:latin typeface="Arial"/>
              </a:rPr>
              <a:t> with a Go Card, mobile wallet or contactless bank card; the gate opens in under 400 ms — a single touch spanning hardware, networks, backend and payment.</a:t>
            </a:r>
          </a:p>
        </p:txBody>
      </p:sp>
      <p:sp>
        <p:nvSpPr>
          <p:cNvPr id="5" name="Rounded Rectangle 4"/>
          <p:cNvSpPr/>
          <p:nvPr/>
        </p:nvSpPr>
        <p:spPr>
          <a:xfrm>
            <a:off x="502920" y="2286000"/>
            <a:ext cx="2670048" cy="1828800"/>
          </a:xfrm>
          <a:prstGeom prst="roundRect">
            <a:avLst>
              <a:gd name="adj" fmla="val 7000"/>
            </a:avLst>
          </a:prstGeom>
          <a:solidFill>
            <a:srgbClr val="DCF0CD"/>
          </a:solidFill>
          <a:ln w="20320">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95728"/>
            <a:ext cx="2331720" cy="411480"/>
          </a:xfrm>
          <a:prstGeom prst="rect">
            <a:avLst/>
          </a:prstGeom>
          <a:noFill/>
        </p:spPr>
        <p:txBody>
          <a:bodyPr wrap="square">
            <a:spAutoFit/>
          </a:bodyPr>
          <a:lstStyle/>
          <a:p>
            <a:pPr algn="l">
              <a:spcAft>
                <a:spcPts val="300"/>
              </a:spcAft>
            </a:pPr>
            <a:r>
              <a:rPr sz="2000" b="1">
                <a:solidFill>
                  <a:srgbClr val="072A4A"/>
                </a:solidFill>
                <a:latin typeface="Arial"/>
              </a:rPr>
              <a:t>F1</a:t>
            </a:r>
          </a:p>
        </p:txBody>
      </p:sp>
      <p:sp>
        <p:nvSpPr>
          <p:cNvPr id="7" name="TextBox 6"/>
          <p:cNvSpPr txBox="1"/>
          <p:nvPr/>
        </p:nvSpPr>
        <p:spPr>
          <a:xfrm>
            <a:off x="685800" y="2889504"/>
            <a:ext cx="2331720" cy="640080"/>
          </a:xfrm>
          <a:prstGeom prst="rect">
            <a:avLst/>
          </a:prstGeom>
          <a:noFill/>
        </p:spPr>
        <p:txBody>
          <a:bodyPr wrap="square">
            <a:spAutoFit/>
          </a:bodyPr>
          <a:lstStyle/>
          <a:p>
            <a:pPr algn="l">
              <a:lnSpc>
                <a:spcPct val="104000"/>
              </a:lnSpc>
              <a:spcAft>
                <a:spcPts val="300"/>
              </a:spcAft>
            </a:pPr>
            <a:r>
              <a:rPr sz="1250" b="1">
                <a:solidFill>
                  <a:srgbClr val="262A30"/>
                </a:solidFill>
                <a:latin typeface="Arial"/>
              </a:rPr>
              <a:t>Ticketing &amp; Train
Journey Management</a:t>
            </a:r>
          </a:p>
        </p:txBody>
      </p:sp>
      <p:sp>
        <p:nvSpPr>
          <p:cNvPr id="8" name="TextBox 7"/>
          <p:cNvSpPr txBox="1"/>
          <p:nvPr/>
        </p:nvSpPr>
        <p:spPr>
          <a:xfrm>
            <a:off x="685800" y="3611880"/>
            <a:ext cx="2331720" cy="457200"/>
          </a:xfrm>
          <a:prstGeom prst="rect">
            <a:avLst/>
          </a:prstGeom>
          <a:noFill/>
        </p:spPr>
        <p:txBody>
          <a:bodyPr wrap="square">
            <a:spAutoFit/>
          </a:bodyPr>
          <a:lstStyle/>
          <a:p>
            <a:pPr algn="l">
              <a:lnSpc>
                <a:spcPct val="104000"/>
              </a:lnSpc>
              <a:spcAft>
                <a:spcPts val="300"/>
              </a:spcAft>
            </a:pPr>
            <a:r>
              <a:rPr sz="1000" b="0">
                <a:solidFill>
                  <a:srgbClr val="595959"/>
                </a:solidFill>
                <a:latin typeface="Arial"/>
              </a:rPr>
              <a:t>Fare settlement &amp; journey closure</a:t>
            </a:r>
          </a:p>
        </p:txBody>
      </p:sp>
      <p:sp>
        <p:nvSpPr>
          <p:cNvPr id="9" name="TextBox 8"/>
          <p:cNvSpPr txBox="1"/>
          <p:nvPr/>
        </p:nvSpPr>
        <p:spPr>
          <a:xfrm>
            <a:off x="685800" y="3858768"/>
            <a:ext cx="2331720" cy="274320"/>
          </a:xfrm>
          <a:prstGeom prst="rect">
            <a:avLst/>
          </a:prstGeom>
          <a:noFill/>
        </p:spPr>
        <p:txBody>
          <a:bodyPr wrap="square">
            <a:spAutoFit/>
          </a:bodyPr>
          <a:lstStyle/>
          <a:p>
            <a:pPr algn="l">
              <a:spcAft>
                <a:spcPts val="300"/>
              </a:spcAft>
            </a:pPr>
            <a:r>
              <a:rPr sz="1000" b="1">
                <a:solidFill>
                  <a:srgbClr val="C55A11"/>
                </a:solidFill>
                <a:latin typeface="Arial"/>
              </a:rPr>
              <a:t>◀ OUR FOCUS</a:t>
            </a:r>
          </a:p>
        </p:txBody>
      </p:sp>
      <p:sp>
        <p:nvSpPr>
          <p:cNvPr id="10" name="Rounded Rectangle 9"/>
          <p:cNvSpPr/>
          <p:nvPr/>
        </p:nvSpPr>
        <p:spPr>
          <a:xfrm>
            <a:off x="3291839" y="2286000"/>
            <a:ext cx="2670048" cy="1828800"/>
          </a:xfrm>
          <a:prstGeom prst="roundRect">
            <a:avLst>
              <a:gd name="adj" fmla="val 7000"/>
            </a:avLst>
          </a:prstGeom>
          <a:solidFill>
            <a:srgbClr val="DBEEF8"/>
          </a:solidFill>
          <a:ln w="12700">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2395728"/>
            <a:ext cx="2331720" cy="411480"/>
          </a:xfrm>
          <a:prstGeom prst="rect">
            <a:avLst/>
          </a:prstGeom>
          <a:noFill/>
        </p:spPr>
        <p:txBody>
          <a:bodyPr wrap="square">
            <a:spAutoFit/>
          </a:bodyPr>
          <a:lstStyle/>
          <a:p>
            <a:pPr algn="l">
              <a:spcAft>
                <a:spcPts val="300"/>
              </a:spcAft>
            </a:pPr>
            <a:r>
              <a:rPr sz="2000" b="1">
                <a:solidFill>
                  <a:srgbClr val="072A4A"/>
                </a:solidFill>
                <a:latin typeface="Arial"/>
              </a:rPr>
              <a:t>F2</a:t>
            </a:r>
          </a:p>
        </p:txBody>
      </p:sp>
      <p:sp>
        <p:nvSpPr>
          <p:cNvPr id="12" name="TextBox 11"/>
          <p:cNvSpPr txBox="1"/>
          <p:nvPr/>
        </p:nvSpPr>
        <p:spPr>
          <a:xfrm>
            <a:off x="3474720" y="2889504"/>
            <a:ext cx="2331720" cy="640080"/>
          </a:xfrm>
          <a:prstGeom prst="rect">
            <a:avLst/>
          </a:prstGeom>
          <a:noFill/>
        </p:spPr>
        <p:txBody>
          <a:bodyPr wrap="square">
            <a:spAutoFit/>
          </a:bodyPr>
          <a:lstStyle/>
          <a:p>
            <a:pPr algn="l">
              <a:lnSpc>
                <a:spcPct val="104000"/>
              </a:lnSpc>
              <a:spcAft>
                <a:spcPts val="300"/>
              </a:spcAft>
            </a:pPr>
            <a:r>
              <a:rPr sz="1250" b="1">
                <a:solidFill>
                  <a:srgbClr val="262A30"/>
                </a:solidFill>
                <a:latin typeface="Arial"/>
              </a:rPr>
              <a:t>Train Localization
&amp; Scheduling</a:t>
            </a:r>
          </a:p>
        </p:txBody>
      </p:sp>
      <p:sp>
        <p:nvSpPr>
          <p:cNvPr id="13" name="TextBox 12"/>
          <p:cNvSpPr txBox="1"/>
          <p:nvPr/>
        </p:nvSpPr>
        <p:spPr>
          <a:xfrm>
            <a:off x="3474720" y="3611880"/>
            <a:ext cx="2331720" cy="457200"/>
          </a:xfrm>
          <a:prstGeom prst="rect">
            <a:avLst/>
          </a:prstGeom>
          <a:noFill/>
        </p:spPr>
        <p:txBody>
          <a:bodyPr wrap="square">
            <a:spAutoFit/>
          </a:bodyPr>
          <a:lstStyle/>
          <a:p>
            <a:pPr algn="l">
              <a:lnSpc>
                <a:spcPct val="104000"/>
              </a:lnSpc>
              <a:spcAft>
                <a:spcPts val="300"/>
              </a:spcAft>
            </a:pPr>
            <a:r>
              <a:rPr sz="1000" b="0">
                <a:solidFill>
                  <a:srgbClr val="595959"/>
                </a:solidFill>
                <a:latin typeface="Arial"/>
              </a:rPr>
              <a:t>GPS + odometry + track reference points</a:t>
            </a:r>
          </a:p>
        </p:txBody>
      </p:sp>
      <p:sp>
        <p:nvSpPr>
          <p:cNvPr id="14" name="Rounded Rectangle 13"/>
          <p:cNvSpPr/>
          <p:nvPr/>
        </p:nvSpPr>
        <p:spPr>
          <a:xfrm>
            <a:off x="6080759" y="2286000"/>
            <a:ext cx="2670048" cy="1828800"/>
          </a:xfrm>
          <a:prstGeom prst="roundRect">
            <a:avLst>
              <a:gd name="adj" fmla="val 7000"/>
            </a:avLst>
          </a:prstGeom>
          <a:solidFill>
            <a:srgbClr val="FDF3C4"/>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395728"/>
            <a:ext cx="2331720" cy="411480"/>
          </a:xfrm>
          <a:prstGeom prst="rect">
            <a:avLst/>
          </a:prstGeom>
          <a:noFill/>
        </p:spPr>
        <p:txBody>
          <a:bodyPr wrap="square">
            <a:spAutoFit/>
          </a:bodyPr>
          <a:lstStyle/>
          <a:p>
            <a:pPr algn="l">
              <a:spcAft>
                <a:spcPts val="300"/>
              </a:spcAft>
            </a:pPr>
            <a:r>
              <a:rPr sz="2000" b="1">
                <a:solidFill>
                  <a:srgbClr val="072A4A"/>
                </a:solidFill>
                <a:latin typeface="Arial"/>
              </a:rPr>
              <a:t>F3</a:t>
            </a:r>
          </a:p>
        </p:txBody>
      </p:sp>
      <p:sp>
        <p:nvSpPr>
          <p:cNvPr id="16" name="TextBox 15"/>
          <p:cNvSpPr txBox="1"/>
          <p:nvPr/>
        </p:nvSpPr>
        <p:spPr>
          <a:xfrm>
            <a:off x="6263640" y="2889504"/>
            <a:ext cx="2331720" cy="640080"/>
          </a:xfrm>
          <a:prstGeom prst="rect">
            <a:avLst/>
          </a:prstGeom>
          <a:noFill/>
        </p:spPr>
        <p:txBody>
          <a:bodyPr wrap="square">
            <a:spAutoFit/>
          </a:bodyPr>
          <a:lstStyle/>
          <a:p>
            <a:pPr algn="l">
              <a:lnSpc>
                <a:spcPct val="104000"/>
              </a:lnSpc>
              <a:spcAft>
                <a:spcPts val="300"/>
              </a:spcAft>
            </a:pPr>
            <a:r>
              <a:rPr sz="1250" b="1">
                <a:solidFill>
                  <a:srgbClr val="262A30"/>
                </a:solidFill>
                <a:latin typeface="Arial"/>
              </a:rPr>
              <a:t>Malfunction &amp;
Disruption Management</a:t>
            </a:r>
          </a:p>
        </p:txBody>
      </p:sp>
      <p:sp>
        <p:nvSpPr>
          <p:cNvPr id="17" name="TextBox 16"/>
          <p:cNvSpPr txBox="1"/>
          <p:nvPr/>
        </p:nvSpPr>
        <p:spPr>
          <a:xfrm>
            <a:off x="6263640" y="3611880"/>
            <a:ext cx="2331720" cy="457200"/>
          </a:xfrm>
          <a:prstGeom prst="rect">
            <a:avLst/>
          </a:prstGeom>
          <a:noFill/>
        </p:spPr>
        <p:txBody>
          <a:bodyPr wrap="square">
            <a:spAutoFit/>
          </a:bodyPr>
          <a:lstStyle/>
          <a:p>
            <a:pPr algn="l">
              <a:lnSpc>
                <a:spcPct val="104000"/>
              </a:lnSpc>
              <a:spcAft>
                <a:spcPts val="300"/>
              </a:spcAft>
            </a:pPr>
            <a:r>
              <a:rPr sz="1000" b="0">
                <a:solidFill>
                  <a:srgbClr val="595959"/>
                </a:solidFill>
                <a:latin typeface="Arial"/>
              </a:rPr>
              <a:t>Threshold detection → human handover</a:t>
            </a:r>
          </a:p>
        </p:txBody>
      </p:sp>
      <p:sp>
        <p:nvSpPr>
          <p:cNvPr id="18" name="TextBox 17"/>
          <p:cNvSpPr txBox="1"/>
          <p:nvPr/>
        </p:nvSpPr>
        <p:spPr>
          <a:xfrm>
            <a:off x="502920" y="4261104"/>
            <a:ext cx="8183879" cy="365760"/>
          </a:xfrm>
          <a:prstGeom prst="rect">
            <a:avLst/>
          </a:prstGeom>
          <a:noFill/>
        </p:spPr>
        <p:txBody>
          <a:bodyPr wrap="square">
            <a:spAutoFit/>
          </a:bodyPr>
          <a:lstStyle/>
          <a:p>
            <a:pPr algn="l">
              <a:spcAft>
                <a:spcPts val="300"/>
              </a:spcAft>
            </a:pPr>
            <a:r>
              <a:rPr sz="950" b="0">
                <a:solidFill>
                  <a:srgbClr val="8A939E"/>
                </a:solidFill>
                <a:latin typeface="Arial"/>
              </a:rPr>
              <a:t>Material: Sequence Diagram · Interviews (Dr. Marcus Chen · Elena Vasquez · Sarah Mitchell) · Incident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Key stakeholders &amp; main services</a:t>
            </a:r>
          </a:p>
        </p:txBody>
      </p:sp>
      <p:sp>
        <p:nvSpPr>
          <p:cNvPr id="4" name="Rounded Rectangle 3"/>
          <p:cNvSpPr/>
          <p:nvPr/>
        </p:nvSpPr>
        <p:spPr>
          <a:xfrm>
            <a:off x="502920" y="1481328"/>
            <a:ext cx="3931920" cy="278892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81328"/>
            <a:ext cx="64008" cy="27889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591056"/>
            <a:ext cx="3611880" cy="2743200"/>
          </a:xfrm>
          <a:prstGeom prst="rect">
            <a:avLst/>
          </a:prstGeom>
          <a:noFill/>
        </p:spPr>
        <p:txBody>
          <a:bodyPr wrap="square">
            <a:spAutoFit/>
          </a:bodyPr>
          <a:lstStyle/>
          <a:p>
            <a:pPr algn="l">
              <a:spcAft>
                <a:spcPts val="700"/>
              </a:spcAft>
            </a:pPr>
            <a:r>
              <a:rPr sz="1300" b="1">
                <a:solidFill>
                  <a:srgbClr val="072A4A"/>
                </a:solidFill>
                <a:latin typeface="Arial"/>
              </a:rPr>
              <a:t>Stakeholders</a:t>
            </a:r>
          </a:p>
          <a:p>
            <a:pPr algn="l">
              <a:spcAft>
                <a:spcPts val="600"/>
              </a:spcAft>
            </a:pPr>
            <a:r>
              <a:rPr sz="1100" b="0">
                <a:solidFill>
                  <a:srgbClr val="262A30"/>
                </a:solidFill>
                <a:latin typeface="Arial"/>
              </a:rPr>
              <a:t>• Passenger  </a:t>
            </a:r>
            <a:r>
              <a:rPr sz="1100" b="0">
                <a:solidFill>
                  <a:srgbClr val="8A939E"/>
                </a:solidFill>
                <a:latin typeface="Arial"/>
              </a:rPr>
              <a:t>(Business Actor)</a:t>
            </a:r>
          </a:p>
          <a:p>
            <a:pPr algn="l">
              <a:spcAft>
                <a:spcPts val="600"/>
              </a:spcAft>
            </a:pPr>
            <a:r>
              <a:rPr sz="1100" b="0">
                <a:solidFill>
                  <a:srgbClr val="262A30"/>
                </a:solidFill>
                <a:latin typeface="Arial"/>
              </a:rPr>
              <a:t>• Customer Support Staff  </a:t>
            </a:r>
            <a:r>
              <a:rPr sz="1100" b="0">
                <a:solidFill>
                  <a:srgbClr val="8A939E"/>
                </a:solidFill>
                <a:latin typeface="Arial"/>
              </a:rPr>
              <a:t>(Business Role)</a:t>
            </a:r>
          </a:p>
          <a:p>
            <a:pPr algn="l">
              <a:spcAft>
                <a:spcPts val="600"/>
              </a:spcAft>
            </a:pPr>
            <a:r>
              <a:rPr sz="1100" b="0">
                <a:solidFill>
                  <a:srgbClr val="262A30"/>
                </a:solidFill>
                <a:latin typeface="Arial"/>
              </a:rPr>
              <a:t>• Operations Controller  </a:t>
            </a:r>
            <a:r>
              <a:rPr sz="1100" b="0">
                <a:solidFill>
                  <a:srgbClr val="8A939E"/>
                </a:solidFill>
                <a:latin typeface="Arial"/>
              </a:rPr>
              <a:t>(Business Role)</a:t>
            </a:r>
          </a:p>
          <a:p>
            <a:pPr algn="l">
              <a:spcAft>
                <a:spcPts val="600"/>
              </a:spcAft>
            </a:pPr>
            <a:r>
              <a:rPr sz="1100" b="0">
                <a:solidFill>
                  <a:srgbClr val="262A30"/>
                </a:solidFill>
                <a:latin typeface="Arial"/>
              </a:rPr>
              <a:t>• Train Operator  </a:t>
            </a:r>
            <a:r>
              <a:rPr sz="1100" b="0">
                <a:solidFill>
                  <a:srgbClr val="8A939E"/>
                </a:solidFill>
                <a:latin typeface="Arial"/>
              </a:rPr>
              <a:t>(Business Role)</a:t>
            </a:r>
          </a:p>
          <a:p>
            <a:pPr algn="l">
              <a:spcAft>
                <a:spcPts val="600"/>
              </a:spcAft>
            </a:pPr>
            <a:r>
              <a:rPr sz="1100" b="0">
                <a:solidFill>
                  <a:srgbClr val="262A30"/>
                </a:solidFill>
                <a:latin typeface="Arial"/>
              </a:rPr>
              <a:t>• Malfunction Management  </a:t>
            </a:r>
            <a:r>
              <a:rPr sz="1100" b="0">
                <a:solidFill>
                  <a:srgbClr val="8A939E"/>
                </a:solidFill>
                <a:latin typeface="Arial"/>
              </a:rPr>
              <a:t>(Business Collaboration)</a:t>
            </a:r>
          </a:p>
        </p:txBody>
      </p:sp>
      <p:sp>
        <p:nvSpPr>
          <p:cNvPr id="7" name="Rounded Rectangle 6"/>
          <p:cNvSpPr/>
          <p:nvPr/>
        </p:nvSpPr>
        <p:spPr>
          <a:xfrm>
            <a:off x="4709160" y="1481328"/>
            <a:ext cx="3931920" cy="278892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09160" y="1481328"/>
            <a:ext cx="64008" cy="2788920"/>
          </a:xfrm>
          <a:prstGeom prst="rect">
            <a:avLst/>
          </a:prstGeom>
          <a:solidFill>
            <a:srgbClr val="7FA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19472" y="1591056"/>
            <a:ext cx="3611880" cy="2743200"/>
          </a:xfrm>
          <a:prstGeom prst="rect">
            <a:avLst/>
          </a:prstGeom>
          <a:noFill/>
        </p:spPr>
        <p:txBody>
          <a:bodyPr wrap="square">
            <a:spAutoFit/>
          </a:bodyPr>
          <a:lstStyle/>
          <a:p>
            <a:pPr algn="l">
              <a:spcAft>
                <a:spcPts val="700"/>
              </a:spcAft>
            </a:pPr>
            <a:r>
              <a:rPr sz="1300" b="1">
                <a:solidFill>
                  <a:srgbClr val="072A4A"/>
                </a:solidFill>
                <a:latin typeface="Arial"/>
              </a:rPr>
              <a:t>Main business services  </a:t>
            </a:r>
            <a:r>
              <a:rPr sz="1300" b="0">
                <a:solidFill>
                  <a:srgbClr val="8A939E"/>
                </a:solidFill>
                <a:latin typeface="Arial"/>
              </a:rPr>
              <a:t>(→ serve Passenger)</a:t>
            </a:r>
          </a:p>
          <a:p>
            <a:pPr algn="l">
              <a:spcAft>
                <a:spcPts val="600"/>
              </a:spcAft>
            </a:pPr>
            <a:r>
              <a:rPr sz="1100" b="0">
                <a:solidFill>
                  <a:srgbClr val="262A30"/>
                </a:solidFill>
                <a:latin typeface="Arial"/>
              </a:rPr>
              <a:t>• Ticketing &amp; Fare Service  </a:t>
            </a:r>
            <a:r>
              <a:rPr sz="1100" b="0">
                <a:solidFill>
                  <a:srgbClr val="0065BD"/>
                </a:solidFill>
                <a:latin typeface="Arial"/>
              </a:rPr>
              <a:t>[F1]</a:t>
            </a:r>
          </a:p>
          <a:p>
            <a:pPr algn="l">
              <a:spcAft>
                <a:spcPts val="600"/>
              </a:spcAft>
            </a:pPr>
            <a:r>
              <a:rPr sz="1100" b="0">
                <a:solidFill>
                  <a:srgbClr val="262A30"/>
                </a:solidFill>
                <a:latin typeface="Arial"/>
              </a:rPr>
              <a:t>• Go Card Self-Service  </a:t>
            </a:r>
            <a:r>
              <a:rPr sz="1100" b="0">
                <a:solidFill>
                  <a:srgbClr val="0065BD"/>
                </a:solidFill>
                <a:latin typeface="Arial"/>
              </a:rPr>
              <a:t>[F1]</a:t>
            </a:r>
          </a:p>
          <a:p>
            <a:pPr algn="l">
              <a:spcAft>
                <a:spcPts val="600"/>
              </a:spcAft>
            </a:pPr>
            <a:r>
              <a:rPr sz="1100" b="0">
                <a:solidFill>
                  <a:srgbClr val="262A30"/>
                </a:solidFill>
                <a:latin typeface="Arial"/>
              </a:rPr>
              <a:t>• On-site Support Service  </a:t>
            </a:r>
            <a:r>
              <a:rPr sz="1100" b="0">
                <a:solidFill>
                  <a:srgbClr val="0065BD"/>
                </a:solidFill>
                <a:latin typeface="Arial"/>
              </a:rPr>
              <a:t>[F1]</a:t>
            </a:r>
          </a:p>
          <a:p>
            <a:pPr algn="l">
              <a:spcAft>
                <a:spcPts val="600"/>
              </a:spcAft>
            </a:pPr>
            <a:r>
              <a:rPr sz="1100" b="0">
                <a:solidFill>
                  <a:srgbClr val="262A30"/>
                </a:solidFill>
                <a:latin typeface="Arial"/>
              </a:rPr>
              <a:t>• Train Operation &amp; Tracking Service  </a:t>
            </a:r>
            <a:r>
              <a:rPr sz="1100" b="0">
                <a:solidFill>
                  <a:srgbClr val="0065BD"/>
                </a:solidFill>
                <a:latin typeface="Arial"/>
              </a:rPr>
              <a:t>[F2]</a:t>
            </a:r>
          </a:p>
          <a:p>
            <a:pPr algn="l">
              <a:spcAft>
                <a:spcPts val="600"/>
              </a:spcAft>
            </a:pPr>
            <a:r>
              <a:rPr sz="1100" b="0">
                <a:solidFill>
                  <a:srgbClr val="262A30"/>
                </a:solidFill>
                <a:latin typeface="Arial"/>
              </a:rPr>
              <a:t>• Passenger Information Service  </a:t>
            </a:r>
            <a:r>
              <a:rPr sz="1100" b="0">
                <a:solidFill>
                  <a:srgbClr val="0065BD"/>
                </a:solidFill>
                <a:latin typeface="Arial"/>
              </a:rPr>
              <a:t>[F2 / F3]</a:t>
            </a:r>
          </a:p>
        </p:txBody>
      </p:sp>
      <p:sp>
        <p:nvSpPr>
          <p:cNvPr id="10" name="TextBox 9"/>
          <p:cNvSpPr txBox="1"/>
          <p:nvPr/>
        </p:nvSpPr>
        <p:spPr>
          <a:xfrm>
            <a:off x="502920" y="4389120"/>
            <a:ext cx="8183879" cy="365760"/>
          </a:xfrm>
          <a:prstGeom prst="rect">
            <a:avLst/>
          </a:prstGeom>
          <a:noFill/>
        </p:spPr>
        <p:txBody>
          <a:bodyPr wrap="square">
            <a:spAutoFit/>
          </a:bodyPr>
          <a:lstStyle/>
          <a:p>
            <a:pPr algn="l">
              <a:spcAft>
                <a:spcPts val="300"/>
              </a:spcAft>
            </a:pPr>
            <a:r>
              <a:rPr sz="900" b="0">
                <a:solidFill>
                  <a:srgbClr val="8A939E"/>
                </a:solidFill>
                <a:latin typeface="Arial"/>
              </a:rPr>
              <a:t>Information sources: Elena Vasquez (Head of Fare Systems, F1) · Dr. Marcus Chen (Chief Systems Architect, F2) · Sarah Mitchell (Operations Controller, F3)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Abstract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Abstract model: three domains × three layers</a:t>
            </a:r>
          </a:p>
        </p:txBody>
      </p:sp>
      <p:sp>
        <p:nvSpPr>
          <p:cNvPr id="4" name="Rectangle 3"/>
          <p:cNvSpPr/>
          <p:nvPr/>
        </p:nvSpPr>
        <p:spPr>
          <a:xfrm>
            <a:off x="502920" y="1481328"/>
            <a:ext cx="9601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36192"/>
            <a:ext cx="960120" cy="274320"/>
          </a:xfrm>
          <a:prstGeom prst="rect">
            <a:avLst/>
          </a:prstGeom>
          <a:noFill/>
        </p:spPr>
        <p:txBody>
          <a:bodyPr wrap="square">
            <a:spAutoFit/>
          </a:bodyPr>
          <a:lstStyle/>
          <a:p>
            <a:pPr algn="ctr">
              <a:spcAft>
                <a:spcPts val="300"/>
              </a:spcAft>
            </a:pPr>
            <a:r>
              <a:rPr sz="900" b="1">
                <a:solidFill>
                  <a:srgbClr val="FFFFFF"/>
                </a:solidFill>
                <a:latin typeface="Arial"/>
              </a:rPr>
              <a:t>Layer</a:t>
            </a:r>
          </a:p>
        </p:txBody>
      </p:sp>
      <p:sp>
        <p:nvSpPr>
          <p:cNvPr id="6" name="Rectangle 5"/>
          <p:cNvSpPr/>
          <p:nvPr/>
        </p:nvSpPr>
        <p:spPr>
          <a:xfrm>
            <a:off x="1463040" y="1481328"/>
            <a:ext cx="24079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99616" y="1536192"/>
            <a:ext cx="2334768" cy="274320"/>
          </a:xfrm>
          <a:prstGeom prst="rect">
            <a:avLst/>
          </a:prstGeom>
          <a:noFill/>
        </p:spPr>
        <p:txBody>
          <a:bodyPr wrap="square">
            <a:spAutoFit/>
          </a:bodyPr>
          <a:lstStyle/>
          <a:p>
            <a:pPr algn="ctr">
              <a:spcAft>
                <a:spcPts val="300"/>
              </a:spcAft>
            </a:pPr>
            <a:r>
              <a:rPr sz="850" b="1">
                <a:solidFill>
                  <a:srgbClr val="FFFFFF"/>
                </a:solidFill>
                <a:latin typeface="Arial"/>
              </a:rPr>
              <a:t>F1  Ticketing &amp; Journey</a:t>
            </a:r>
          </a:p>
        </p:txBody>
      </p:sp>
      <p:sp>
        <p:nvSpPr>
          <p:cNvPr id="8" name="Rectangle 7"/>
          <p:cNvSpPr/>
          <p:nvPr/>
        </p:nvSpPr>
        <p:spPr>
          <a:xfrm>
            <a:off x="3870960" y="1481328"/>
            <a:ext cx="24079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07536" y="1536192"/>
            <a:ext cx="2334768" cy="274320"/>
          </a:xfrm>
          <a:prstGeom prst="rect">
            <a:avLst/>
          </a:prstGeom>
          <a:noFill/>
        </p:spPr>
        <p:txBody>
          <a:bodyPr wrap="square">
            <a:spAutoFit/>
          </a:bodyPr>
          <a:lstStyle/>
          <a:p>
            <a:pPr algn="ctr">
              <a:spcAft>
                <a:spcPts val="300"/>
              </a:spcAft>
            </a:pPr>
            <a:r>
              <a:rPr sz="850" b="1">
                <a:solidFill>
                  <a:srgbClr val="FFFFFF"/>
                </a:solidFill>
                <a:latin typeface="Arial"/>
              </a:rPr>
              <a:t>F2  Train Localization</a:t>
            </a:r>
          </a:p>
        </p:txBody>
      </p:sp>
      <p:sp>
        <p:nvSpPr>
          <p:cNvPr id="10" name="Rectangle 9"/>
          <p:cNvSpPr/>
          <p:nvPr/>
        </p:nvSpPr>
        <p:spPr>
          <a:xfrm>
            <a:off x="6278880" y="1481328"/>
            <a:ext cx="24079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5456" y="1536192"/>
            <a:ext cx="2334768" cy="274320"/>
          </a:xfrm>
          <a:prstGeom prst="rect">
            <a:avLst/>
          </a:prstGeom>
          <a:noFill/>
        </p:spPr>
        <p:txBody>
          <a:bodyPr wrap="square">
            <a:spAutoFit/>
          </a:bodyPr>
          <a:lstStyle/>
          <a:p>
            <a:pPr algn="ctr">
              <a:spcAft>
                <a:spcPts val="300"/>
              </a:spcAft>
            </a:pPr>
            <a:r>
              <a:rPr sz="850" b="1">
                <a:solidFill>
                  <a:srgbClr val="FFFFFF"/>
                </a:solidFill>
                <a:latin typeface="Arial"/>
              </a:rPr>
              <a:t>F3  Disruption Mgmt</a:t>
            </a:r>
          </a:p>
        </p:txBody>
      </p:sp>
      <p:sp>
        <p:nvSpPr>
          <p:cNvPr id="12" name="Rectangle 11"/>
          <p:cNvSpPr/>
          <p:nvPr/>
        </p:nvSpPr>
        <p:spPr>
          <a:xfrm>
            <a:off x="502920" y="1792224"/>
            <a:ext cx="960120" cy="8686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061972"/>
            <a:ext cx="960120" cy="365760"/>
          </a:xfrm>
          <a:prstGeom prst="rect">
            <a:avLst/>
          </a:prstGeom>
          <a:noFill/>
        </p:spPr>
        <p:txBody>
          <a:bodyPr wrap="square">
            <a:spAutoFit/>
          </a:bodyPr>
          <a:lstStyle/>
          <a:p>
            <a:pPr algn="ctr">
              <a:spcAft>
                <a:spcPts val="300"/>
              </a:spcAft>
            </a:pPr>
            <a:r>
              <a:rPr sz="950" b="1">
                <a:solidFill>
                  <a:srgbClr val="FFFFFF"/>
                </a:solidFill>
                <a:latin typeface="Arial"/>
              </a:rPr>
              <a:t>Business</a:t>
            </a:r>
          </a:p>
        </p:txBody>
      </p:sp>
      <p:sp>
        <p:nvSpPr>
          <p:cNvPr id="14" name="Rectangle 13"/>
          <p:cNvSpPr/>
          <p:nvPr/>
        </p:nvSpPr>
        <p:spPr>
          <a:xfrm>
            <a:off x="1463040" y="1792224"/>
            <a:ext cx="2407920" cy="868680"/>
          </a:xfrm>
          <a:prstGeom prst="rect">
            <a:avLst/>
          </a:prstGeom>
          <a:solidFill>
            <a:srgbClr val="FDF3C4"/>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6192" y="186537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Passenger · Customer Support
Handle Journeys &amp; Fares
→ Ticketing &amp; Fare Service</a:t>
            </a:r>
          </a:p>
        </p:txBody>
      </p:sp>
      <p:sp>
        <p:nvSpPr>
          <p:cNvPr id="16" name="Rectangle 15"/>
          <p:cNvSpPr/>
          <p:nvPr/>
        </p:nvSpPr>
        <p:spPr>
          <a:xfrm>
            <a:off x="3870960" y="1792224"/>
            <a:ext cx="2407920" cy="868680"/>
          </a:xfrm>
          <a:prstGeom prst="rect">
            <a:avLst/>
          </a:prstGeom>
          <a:solidFill>
            <a:srgbClr val="FDF3C4"/>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4112" y="186537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Operations Controller · Train Operator
Localize &amp; Monitor Trains
→ Train Operation &amp; Tracking</a:t>
            </a:r>
          </a:p>
        </p:txBody>
      </p:sp>
      <p:sp>
        <p:nvSpPr>
          <p:cNvPr id="18" name="Rectangle 17"/>
          <p:cNvSpPr/>
          <p:nvPr/>
        </p:nvSpPr>
        <p:spPr>
          <a:xfrm>
            <a:off x="6278880" y="1792224"/>
            <a:ext cx="2407920" cy="868680"/>
          </a:xfrm>
          <a:prstGeom prst="rect">
            <a:avLst/>
          </a:prstGeom>
          <a:solidFill>
            <a:srgbClr val="FDF3C4"/>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2032" y="186537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Malfunction Mgmt (collaboration)
Handle Delays &amp; Disruptions
→ Passenger Information Service</a:t>
            </a:r>
          </a:p>
        </p:txBody>
      </p:sp>
      <p:sp>
        <p:nvSpPr>
          <p:cNvPr id="20" name="Rectangle 19"/>
          <p:cNvSpPr/>
          <p:nvPr/>
        </p:nvSpPr>
        <p:spPr>
          <a:xfrm>
            <a:off x="502920" y="2660904"/>
            <a:ext cx="960120" cy="868680"/>
          </a:xfrm>
          <a:prstGeom prst="rect">
            <a:avLst/>
          </a:prstGeom>
          <a:solidFill>
            <a:srgbClr val="4E9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930652"/>
            <a:ext cx="960120" cy="365760"/>
          </a:xfrm>
          <a:prstGeom prst="rect">
            <a:avLst/>
          </a:prstGeom>
          <a:noFill/>
        </p:spPr>
        <p:txBody>
          <a:bodyPr wrap="square">
            <a:spAutoFit/>
          </a:bodyPr>
          <a:lstStyle/>
          <a:p>
            <a:pPr algn="ctr">
              <a:spcAft>
                <a:spcPts val="300"/>
              </a:spcAft>
            </a:pPr>
            <a:r>
              <a:rPr sz="950" b="1">
                <a:solidFill>
                  <a:srgbClr val="FFFFFF"/>
                </a:solidFill>
                <a:latin typeface="Arial"/>
              </a:rPr>
              <a:t>Application</a:t>
            </a:r>
          </a:p>
        </p:txBody>
      </p:sp>
      <p:sp>
        <p:nvSpPr>
          <p:cNvPr id="22" name="Rectangle 21"/>
          <p:cNvSpPr/>
          <p:nvPr/>
        </p:nvSpPr>
        <p:spPr>
          <a:xfrm>
            <a:off x="1463040" y="2660904"/>
            <a:ext cx="2407920" cy="868680"/>
          </a:xfrm>
          <a:prstGeom prst="rect">
            <a:avLst/>
          </a:prstGeom>
          <a:solidFill>
            <a:srgbClr val="DBEEF8"/>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36192" y="273405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Access Control Mgmt · JAMS
Fare Management System · Website</a:t>
            </a:r>
          </a:p>
        </p:txBody>
      </p:sp>
      <p:sp>
        <p:nvSpPr>
          <p:cNvPr id="24" name="Rectangle 23"/>
          <p:cNvSpPr/>
          <p:nvPr/>
        </p:nvSpPr>
        <p:spPr>
          <a:xfrm>
            <a:off x="3870960" y="2660904"/>
            <a:ext cx="2407920" cy="868680"/>
          </a:xfrm>
          <a:prstGeom prst="rect">
            <a:avLst/>
          </a:prstGeom>
          <a:solidFill>
            <a:srgbClr val="DBEEF8"/>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44112" y="273405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LCCU Control Software
Operational Control Center</a:t>
            </a:r>
          </a:p>
        </p:txBody>
      </p:sp>
      <p:sp>
        <p:nvSpPr>
          <p:cNvPr id="26" name="Rectangle 25"/>
          <p:cNvSpPr/>
          <p:nvPr/>
        </p:nvSpPr>
        <p:spPr>
          <a:xfrm>
            <a:off x="6278880" y="2660904"/>
            <a:ext cx="2407920" cy="868680"/>
          </a:xfrm>
          <a:prstGeom prst="rect">
            <a:avLst/>
          </a:prstGeom>
          <a:solidFill>
            <a:srgbClr val="DBEEF8"/>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2032" y="273405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Disruption Handling System
(OCC + PIS + TMS)</a:t>
            </a:r>
          </a:p>
        </p:txBody>
      </p:sp>
      <p:sp>
        <p:nvSpPr>
          <p:cNvPr id="28" name="Rectangle 27"/>
          <p:cNvSpPr/>
          <p:nvPr/>
        </p:nvSpPr>
        <p:spPr>
          <a:xfrm>
            <a:off x="502920" y="3529584"/>
            <a:ext cx="960120" cy="868680"/>
          </a:xfrm>
          <a:prstGeom prst="rect">
            <a:avLst/>
          </a:prstGeom>
          <a:solidFill>
            <a:srgbClr val="7FA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799332"/>
            <a:ext cx="960120" cy="365760"/>
          </a:xfrm>
          <a:prstGeom prst="rect">
            <a:avLst/>
          </a:prstGeom>
          <a:noFill/>
        </p:spPr>
        <p:txBody>
          <a:bodyPr wrap="square">
            <a:spAutoFit/>
          </a:bodyPr>
          <a:lstStyle/>
          <a:p>
            <a:pPr algn="ctr">
              <a:spcAft>
                <a:spcPts val="300"/>
              </a:spcAft>
            </a:pPr>
            <a:r>
              <a:rPr sz="950" b="1">
                <a:solidFill>
                  <a:srgbClr val="FFFFFF"/>
                </a:solidFill>
                <a:latin typeface="Arial"/>
              </a:rPr>
              <a:t>Technology</a:t>
            </a:r>
          </a:p>
        </p:txBody>
      </p:sp>
      <p:sp>
        <p:nvSpPr>
          <p:cNvPr id="30" name="Rectangle 29"/>
          <p:cNvSpPr/>
          <p:nvPr/>
        </p:nvSpPr>
        <p:spPr>
          <a:xfrm>
            <a:off x="1463040" y="3529584"/>
            <a:ext cx="2407920" cy="868680"/>
          </a:xfrm>
          <a:prstGeom prst="rect">
            <a:avLst/>
          </a:prstGeom>
          <a:solidFill>
            <a:srgbClr val="DCF0CD"/>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36192" y="360273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Station Infrastructure · App Server
Journey &amp; Account Mgmt Backend</a:t>
            </a:r>
          </a:p>
        </p:txBody>
      </p:sp>
      <p:sp>
        <p:nvSpPr>
          <p:cNvPr id="32" name="Rectangle 31"/>
          <p:cNvSpPr/>
          <p:nvPr/>
        </p:nvSpPr>
        <p:spPr>
          <a:xfrm>
            <a:off x="3870960" y="3529584"/>
            <a:ext cx="2407920" cy="868680"/>
          </a:xfrm>
          <a:prstGeom prst="rect">
            <a:avLst/>
          </a:prstGeom>
          <a:solidFill>
            <a:srgbClr val="DCF0CD"/>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44112" y="360273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LCCU · Central Railway Backend
Railway Radio</a:t>
            </a:r>
          </a:p>
        </p:txBody>
      </p:sp>
      <p:sp>
        <p:nvSpPr>
          <p:cNvPr id="34" name="Rectangle 33"/>
          <p:cNvSpPr/>
          <p:nvPr/>
        </p:nvSpPr>
        <p:spPr>
          <a:xfrm>
            <a:off x="6278880" y="3529584"/>
            <a:ext cx="2407920" cy="868680"/>
          </a:xfrm>
          <a:prstGeom prst="rect">
            <a:avLst/>
          </a:prstGeom>
          <a:solidFill>
            <a:srgbClr val="DCF0CD"/>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2032" y="360273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(shared backend)
Private Network</a:t>
            </a:r>
          </a:p>
        </p:txBody>
      </p:sp>
      <p:sp>
        <p:nvSpPr>
          <p:cNvPr id="36" name="TextBox 35"/>
          <p:cNvSpPr txBox="1"/>
          <p:nvPr/>
        </p:nvSpPr>
        <p:spPr>
          <a:xfrm>
            <a:off x="502920" y="4453128"/>
            <a:ext cx="8183879" cy="365760"/>
          </a:xfrm>
          <a:prstGeom prst="rect">
            <a:avLst/>
          </a:prstGeom>
          <a:noFill/>
        </p:spPr>
        <p:txBody>
          <a:bodyPr wrap="square">
            <a:spAutoFit/>
          </a:bodyPr>
          <a:lstStyle/>
          <a:p>
            <a:pPr algn="l">
              <a:spcAft>
                <a:spcPts val="300"/>
              </a:spcAft>
            </a:pPr>
            <a:r>
              <a:rPr sz="850" b="0">
                <a:solidFill>
                  <a:srgbClr val="8A939E"/>
                </a:solidFill>
                <a:latin typeface="Arial"/>
              </a:rPr>
              <a:t>Abstract level: one generalized process per domain · components without internal structure · devices summarized as nodes · communication as networks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Detailed Model — Focus Area F1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F1 spans business, application and technology</a:t>
            </a:r>
          </a:p>
        </p:txBody>
      </p:sp>
      <p:sp>
        <p:nvSpPr>
          <p:cNvPr id="4" name="Rounded Rectangle 3"/>
          <p:cNvSpPr/>
          <p:nvPr/>
        </p:nvSpPr>
        <p:spPr>
          <a:xfrm>
            <a:off x="1005840" y="1508760"/>
            <a:ext cx="7132320" cy="868680"/>
          </a:xfrm>
          <a:prstGeom prst="roundRect">
            <a:avLst>
              <a:gd name="adj" fmla="val 7000"/>
            </a:avLst>
          </a:prstGeom>
          <a:solidFill>
            <a:srgbClr val="FDF3C4"/>
          </a:solidFill>
          <a:ln w="1524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1627631"/>
            <a:ext cx="6675120" cy="365760"/>
          </a:xfrm>
          <a:prstGeom prst="rect">
            <a:avLst/>
          </a:prstGeom>
          <a:noFill/>
        </p:spPr>
        <p:txBody>
          <a:bodyPr wrap="square">
            <a:spAutoFit/>
          </a:bodyPr>
          <a:lstStyle/>
          <a:p>
            <a:pPr algn="l">
              <a:spcAft>
                <a:spcPts val="300"/>
              </a:spcAft>
            </a:pPr>
            <a:r>
              <a:rPr sz="1400" b="1">
                <a:solidFill>
                  <a:srgbClr val="072A4A"/>
                </a:solidFill>
                <a:latin typeface="Arial"/>
              </a:rPr>
              <a:t>Business</a:t>
            </a:r>
          </a:p>
        </p:txBody>
      </p:sp>
      <p:sp>
        <p:nvSpPr>
          <p:cNvPr id="6" name="TextBox 5"/>
          <p:cNvSpPr txBox="1"/>
          <p:nvPr/>
        </p:nvSpPr>
        <p:spPr>
          <a:xfrm>
            <a:off x="1234440" y="1965960"/>
            <a:ext cx="6675120" cy="365760"/>
          </a:xfrm>
          <a:prstGeom prst="rect">
            <a:avLst/>
          </a:prstGeom>
          <a:noFill/>
        </p:spPr>
        <p:txBody>
          <a:bodyPr wrap="square">
            <a:spAutoFit/>
          </a:bodyPr>
          <a:lstStyle/>
          <a:p>
            <a:pPr algn="l">
              <a:spcAft>
                <a:spcPts val="300"/>
              </a:spcAft>
            </a:pPr>
            <a:r>
              <a:rPr sz="1100" b="0">
                <a:solidFill>
                  <a:srgbClr val="262A30"/>
                </a:solidFill>
                <a:latin typeface="Arial"/>
              </a:rPr>
              <a:t>Conduct Journey · Calculate Fare · Manage Go Card</a:t>
            </a:r>
          </a:p>
        </p:txBody>
      </p:sp>
      <p:sp>
        <p:nvSpPr>
          <p:cNvPr id="7" name="Rounded Rectangle 6"/>
          <p:cNvSpPr/>
          <p:nvPr/>
        </p:nvSpPr>
        <p:spPr>
          <a:xfrm>
            <a:off x="1005840" y="2532888"/>
            <a:ext cx="7132320" cy="868680"/>
          </a:xfrm>
          <a:prstGeom prst="roundRect">
            <a:avLst>
              <a:gd name="adj" fmla="val 7000"/>
            </a:avLst>
          </a:prstGeom>
          <a:solidFill>
            <a:srgbClr val="DBEEF8"/>
          </a:solidFill>
          <a:ln w="15240">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651760"/>
            <a:ext cx="6675120" cy="365760"/>
          </a:xfrm>
          <a:prstGeom prst="rect">
            <a:avLst/>
          </a:prstGeom>
          <a:noFill/>
        </p:spPr>
        <p:txBody>
          <a:bodyPr wrap="square">
            <a:spAutoFit/>
          </a:bodyPr>
          <a:lstStyle/>
          <a:p>
            <a:pPr algn="l">
              <a:spcAft>
                <a:spcPts val="300"/>
              </a:spcAft>
            </a:pPr>
            <a:r>
              <a:rPr sz="1400" b="1">
                <a:solidFill>
                  <a:srgbClr val="072A4A"/>
                </a:solidFill>
                <a:latin typeface="Arial"/>
              </a:rPr>
              <a:t>Application</a:t>
            </a:r>
          </a:p>
        </p:txBody>
      </p:sp>
      <p:sp>
        <p:nvSpPr>
          <p:cNvPr id="9" name="TextBox 8"/>
          <p:cNvSpPr txBox="1"/>
          <p:nvPr/>
        </p:nvSpPr>
        <p:spPr>
          <a:xfrm>
            <a:off x="1234440" y="2990088"/>
            <a:ext cx="6675120" cy="365760"/>
          </a:xfrm>
          <a:prstGeom prst="rect">
            <a:avLst/>
          </a:prstGeom>
          <a:noFill/>
        </p:spPr>
        <p:txBody>
          <a:bodyPr wrap="square">
            <a:spAutoFit/>
          </a:bodyPr>
          <a:lstStyle/>
          <a:p>
            <a:pPr algn="l">
              <a:spcAft>
                <a:spcPts val="300"/>
              </a:spcAft>
            </a:pPr>
            <a:r>
              <a:rPr sz="1100" b="0">
                <a:solidFill>
                  <a:srgbClr val="262A30"/>
                </a:solidFill>
                <a:latin typeface="Arial"/>
              </a:rPr>
              <a:t>Access Control · JAMS · Fare Management · Website</a:t>
            </a:r>
          </a:p>
        </p:txBody>
      </p:sp>
      <p:sp>
        <p:nvSpPr>
          <p:cNvPr id="10" name="Rounded Rectangle 9"/>
          <p:cNvSpPr/>
          <p:nvPr/>
        </p:nvSpPr>
        <p:spPr>
          <a:xfrm>
            <a:off x="1005840" y="3557016"/>
            <a:ext cx="7132320" cy="868680"/>
          </a:xfrm>
          <a:prstGeom prst="roundRect">
            <a:avLst>
              <a:gd name="adj" fmla="val 7000"/>
            </a:avLst>
          </a:prstGeom>
          <a:solidFill>
            <a:srgbClr val="DCF0CD"/>
          </a:solidFill>
          <a:ln w="15240">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675888"/>
            <a:ext cx="6675120" cy="365760"/>
          </a:xfrm>
          <a:prstGeom prst="rect">
            <a:avLst/>
          </a:prstGeom>
          <a:noFill/>
        </p:spPr>
        <p:txBody>
          <a:bodyPr wrap="square">
            <a:spAutoFit/>
          </a:bodyPr>
          <a:lstStyle/>
          <a:p>
            <a:pPr algn="l">
              <a:spcAft>
                <a:spcPts val="300"/>
              </a:spcAft>
            </a:pPr>
            <a:r>
              <a:rPr sz="1400" b="1">
                <a:solidFill>
                  <a:srgbClr val="072A4A"/>
                </a:solidFill>
                <a:latin typeface="Arial"/>
              </a:rPr>
              <a:t>Technology</a:t>
            </a:r>
          </a:p>
        </p:txBody>
      </p:sp>
      <p:sp>
        <p:nvSpPr>
          <p:cNvPr id="12" name="TextBox 11"/>
          <p:cNvSpPr txBox="1"/>
          <p:nvPr/>
        </p:nvSpPr>
        <p:spPr>
          <a:xfrm>
            <a:off x="1234440" y="4014216"/>
            <a:ext cx="6675120" cy="365760"/>
          </a:xfrm>
          <a:prstGeom prst="rect">
            <a:avLst/>
          </a:prstGeom>
          <a:noFill/>
        </p:spPr>
        <p:txBody>
          <a:bodyPr wrap="square">
            <a:spAutoFit/>
          </a:bodyPr>
          <a:lstStyle/>
          <a:p>
            <a:pPr algn="l">
              <a:spcAft>
                <a:spcPts val="300"/>
              </a:spcAft>
            </a:pPr>
            <a:r>
              <a:rPr sz="1100" b="0">
                <a:solidFill>
                  <a:srgbClr val="262A30"/>
                </a:solidFill>
                <a:latin typeface="Arial"/>
              </a:rPr>
              <a:t>NFC Reader · Gate · Backend · Private Network · Bank</a:t>
            </a:r>
          </a:p>
        </p:txBody>
      </p:sp>
      <p:sp>
        <p:nvSpPr>
          <p:cNvPr id="13" name="TextBox 12"/>
          <p:cNvSpPr txBox="1"/>
          <p:nvPr/>
        </p:nvSpPr>
        <p:spPr>
          <a:xfrm>
            <a:off x="1005840" y="4581144"/>
            <a:ext cx="7132320" cy="365760"/>
          </a:xfrm>
          <a:prstGeom prst="rect">
            <a:avLst/>
          </a:prstGeom>
          <a:noFill/>
        </p:spPr>
        <p:txBody>
          <a:bodyPr wrap="square">
            <a:spAutoFit/>
          </a:bodyPr>
          <a:lstStyle/>
          <a:p>
            <a:pPr algn="l">
              <a:spcAft>
                <a:spcPts val="300"/>
              </a:spcAft>
            </a:pPr>
            <a:r>
              <a:rPr sz="1100" b="0">
                <a:solidFill>
                  <a:srgbClr val="595959"/>
                </a:solidFill>
                <a:latin typeface="Arial"/>
              </a:rPr>
              <a:t>Layers are linked by the two backbone relationships: </a:t>
            </a:r>
            <a:r>
              <a:rPr sz="1100" b="1">
                <a:solidFill>
                  <a:srgbClr val="C55A11"/>
                </a:solidFill>
                <a:latin typeface="Arial"/>
              </a:rPr>
              <a:t>serving</a:t>
            </a:r>
            <a:r>
              <a:rPr sz="1100" b="0">
                <a:solidFill>
                  <a:srgbClr val="595959"/>
                </a:solidFill>
                <a:latin typeface="Arial"/>
              </a:rPr>
              <a:t> and </a:t>
            </a:r>
            <a:r>
              <a:rPr sz="1100" b="1">
                <a:solidFill>
                  <a:srgbClr val="C55A11"/>
                </a:solidFill>
                <a:latin typeface="Arial"/>
              </a:rPr>
              <a:t>realization</a:t>
            </a:r>
            <a:r>
              <a:rPr sz="1100" b="0">
                <a:solidFill>
                  <a:srgbClr val="595959"/>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Business layer</a:t>
            </a:r>
          </a:p>
        </p:txBody>
      </p:sp>
      <p:sp>
        <p:nvSpPr>
          <p:cNvPr id="4" name="Rounded Rectangle 3"/>
          <p:cNvSpPr/>
          <p:nvPr/>
        </p:nvSpPr>
        <p:spPr>
          <a:xfrm>
            <a:off x="1371600" y="1828800"/>
            <a:ext cx="6400800" cy="2286000"/>
          </a:xfrm>
          <a:prstGeom prst="roundRect">
            <a:avLst>
              <a:gd name="adj" fmla="val 7000"/>
            </a:avLst>
          </a:prstGeom>
          <a:noFill/>
          <a:ln w="19050">
            <a:solidFill>
              <a:srgbClr val="B8C2C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514600"/>
            <a:ext cx="6400800" cy="548640"/>
          </a:xfrm>
          <a:prstGeom prst="rect">
            <a:avLst/>
          </a:prstGeom>
          <a:noFill/>
        </p:spPr>
        <p:txBody>
          <a:bodyPr wrap="square">
            <a:spAutoFit/>
          </a:bodyPr>
          <a:lstStyle/>
          <a:p>
            <a:pPr algn="ctr">
              <a:spcAft>
                <a:spcPts val="300"/>
              </a:spcAft>
            </a:pPr>
            <a:r>
              <a:rPr sz="1800" b="1">
                <a:solidFill>
                  <a:srgbClr val="8A939E"/>
                </a:solidFill>
                <a:latin typeface="Arial"/>
              </a:rPr>
              <a:t>Business layer — to be added</a:t>
            </a:r>
          </a:p>
        </p:txBody>
      </p:sp>
      <p:sp>
        <p:nvSpPr>
          <p:cNvPr id="6" name="TextBox 5"/>
          <p:cNvSpPr txBox="1"/>
          <p:nvPr/>
        </p:nvSpPr>
        <p:spPr>
          <a:xfrm>
            <a:off x="1371600" y="3108960"/>
            <a:ext cx="6400800" cy="548640"/>
          </a:xfrm>
          <a:prstGeom prst="rect">
            <a:avLst/>
          </a:prstGeom>
          <a:noFill/>
        </p:spPr>
        <p:txBody>
          <a:bodyPr wrap="square">
            <a:spAutoFit/>
          </a:bodyPr>
          <a:lstStyle/>
          <a:p>
            <a:pPr algn="ctr">
              <a:spcAft>
                <a:spcPts val="300"/>
              </a:spcAft>
            </a:pPr>
            <a:r>
              <a:rPr sz="1100" b="0">
                <a:solidFill>
                  <a:srgbClr val="8A939E"/>
                </a:solidFill>
                <a:latin typeface="Arial"/>
              </a:rPr>
              <a:t>(pending teammate input: actors, processes, services, events)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Application layer</a:t>
            </a:r>
          </a:p>
        </p:txBody>
      </p:sp>
      <p:sp>
        <p:nvSpPr>
          <p:cNvPr id="4" name="Rounded Rectangle 3"/>
          <p:cNvSpPr/>
          <p:nvPr/>
        </p:nvSpPr>
        <p:spPr>
          <a:xfrm>
            <a:off x="1371600" y="1828800"/>
            <a:ext cx="6400800" cy="2286000"/>
          </a:xfrm>
          <a:prstGeom prst="roundRect">
            <a:avLst>
              <a:gd name="adj" fmla="val 7000"/>
            </a:avLst>
          </a:prstGeom>
          <a:noFill/>
          <a:ln w="19050">
            <a:solidFill>
              <a:srgbClr val="B8C2C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514600"/>
            <a:ext cx="6400800" cy="548640"/>
          </a:xfrm>
          <a:prstGeom prst="rect">
            <a:avLst/>
          </a:prstGeom>
          <a:noFill/>
        </p:spPr>
        <p:txBody>
          <a:bodyPr wrap="square">
            <a:spAutoFit/>
          </a:bodyPr>
          <a:lstStyle/>
          <a:p>
            <a:pPr algn="ctr">
              <a:spcAft>
                <a:spcPts val="300"/>
              </a:spcAft>
            </a:pPr>
            <a:r>
              <a:rPr sz="1800" b="1">
                <a:solidFill>
                  <a:srgbClr val="8A939E"/>
                </a:solidFill>
                <a:latin typeface="Arial"/>
              </a:rPr>
              <a:t>Application layer — to be added</a:t>
            </a:r>
          </a:p>
        </p:txBody>
      </p:sp>
      <p:sp>
        <p:nvSpPr>
          <p:cNvPr id="6" name="TextBox 5"/>
          <p:cNvSpPr txBox="1"/>
          <p:nvPr/>
        </p:nvSpPr>
        <p:spPr>
          <a:xfrm>
            <a:off x="1371600" y="3108960"/>
            <a:ext cx="6400800" cy="548640"/>
          </a:xfrm>
          <a:prstGeom prst="rect">
            <a:avLst/>
          </a:prstGeom>
          <a:noFill/>
        </p:spPr>
        <p:txBody>
          <a:bodyPr wrap="square">
            <a:spAutoFit/>
          </a:bodyPr>
          <a:lstStyle/>
          <a:p>
            <a:pPr algn="ctr">
              <a:spcAft>
                <a:spcPts val="300"/>
              </a:spcAft>
            </a:pPr>
            <a:r>
              <a:rPr sz="1100" b="0">
                <a:solidFill>
                  <a:srgbClr val="8A939E"/>
                </a:solidFill>
                <a:latin typeface="Arial"/>
              </a:rPr>
              <a:t>(components, application services, data objects)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Technology layer — overview &amp; four perspectives</a:t>
            </a:r>
          </a:p>
        </p:txBody>
      </p:sp>
      <p:sp>
        <p:nvSpPr>
          <p:cNvPr id="4" name="Rounded Rectangle 3"/>
          <p:cNvSpPr/>
          <p:nvPr/>
        </p:nvSpPr>
        <p:spPr>
          <a:xfrm>
            <a:off x="502920"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pic>
        <p:nvPicPr>
          <p:cNvPr id="14" name="Picture 13" descr="tech_overview_cl.png"/>
          <p:cNvPicPr>
            <a:picLocks noChangeAspect="1"/>
          </p:cNvPicPr>
          <p:nvPr/>
        </p:nvPicPr>
        <p:blipFill>
          <a:blip r:embed="rId2"/>
          <a:stretch>
            <a:fillRect/>
          </a:stretch>
        </p:blipFill>
        <p:spPr>
          <a:xfrm>
            <a:off x="1586334" y="1810512"/>
            <a:ext cx="5971330" cy="2788920"/>
          </a:xfrm>
          <a:prstGeom prst="rect">
            <a:avLst/>
          </a:prstGeom>
        </p:spPr>
      </p:pic>
      <p:sp>
        <p:nvSpPr>
          <p:cNvPr id="15" name="TextBox 14"/>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Perspective 1 — Tap &amp; gate access</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sp>
        <p:nvSpPr>
          <p:cNvPr id="14" name="Rounded Rectangle 13"/>
          <p:cNvSpPr/>
          <p:nvPr/>
        </p:nvSpPr>
        <p:spPr>
          <a:xfrm>
            <a:off x="2953491"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Go Card</a:t>
            </a:r>
          </a:p>
        </p:txBody>
      </p:sp>
      <p:sp>
        <p:nvSpPr>
          <p:cNvPr id="15" name="Rounded Rectangle 14"/>
          <p:cNvSpPr/>
          <p:nvPr/>
        </p:nvSpPr>
        <p:spPr>
          <a:xfrm>
            <a:off x="3948652"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Mobile Wallet /
Bank Card</a:t>
            </a:r>
          </a:p>
        </p:txBody>
      </p:sp>
      <p:sp>
        <p:nvSpPr>
          <p:cNvPr id="16" name="Rounded Rectangle 15"/>
          <p:cNvSpPr/>
          <p:nvPr/>
        </p:nvSpPr>
        <p:spPr>
          <a:xfrm>
            <a:off x="3451055"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Handshake
(Path)</a:t>
            </a:r>
          </a:p>
        </p:txBody>
      </p:sp>
      <p:sp>
        <p:nvSpPr>
          <p:cNvPr id="17" name="Rounded Rectangle 16"/>
          <p:cNvSpPr/>
          <p:nvPr/>
        </p:nvSpPr>
        <p:spPr>
          <a:xfrm>
            <a:off x="4943943"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Reader
(embedded)</a:t>
            </a:r>
          </a:p>
        </p:txBody>
      </p:sp>
      <p:sp>
        <p:nvSpPr>
          <p:cNvPr id="18" name="Rounded Rectangle 17"/>
          <p:cNvSpPr/>
          <p:nvPr/>
        </p:nvSpPr>
        <p:spPr>
          <a:xfrm>
            <a:off x="1958298"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Platform
NFC Reader</a:t>
            </a:r>
          </a:p>
        </p:txBody>
      </p:sp>
      <p:sp>
        <p:nvSpPr>
          <p:cNvPr id="19" name="Rounded Rectangle 18"/>
          <p:cNvSpPr/>
          <p:nvPr/>
        </p:nvSpPr>
        <p:spPr>
          <a:xfrm>
            <a:off x="4943943"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Interface</a:t>
            </a:r>
          </a:p>
        </p:txBody>
      </p:sp>
      <p:sp>
        <p:nvSpPr>
          <p:cNvPr id="20" name="Rounded Rectangle 19"/>
          <p:cNvSpPr/>
          <p:nvPr/>
        </p:nvSpPr>
        <p:spPr>
          <a:xfrm>
            <a:off x="5500230"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Station Gate</a:t>
            </a:r>
          </a:p>
        </p:txBody>
      </p:sp>
      <p:sp>
        <p:nvSpPr>
          <p:cNvPr id="21" name="Rounded Rectangle 20"/>
          <p:cNvSpPr/>
          <p:nvPr/>
        </p:nvSpPr>
        <p:spPr>
          <a:xfrm>
            <a:off x="2207096" y="4079709"/>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Station
Infrastructure</a:t>
            </a:r>
          </a:p>
        </p:txBody>
      </p:sp>
      <p:sp>
        <p:nvSpPr>
          <p:cNvPr id="22" name="Rounded Rectangle 21"/>
          <p:cNvSpPr/>
          <p:nvPr/>
        </p:nvSpPr>
        <p:spPr>
          <a:xfrm>
            <a:off x="6436603"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Gate Firmware /
Access Ctrl Client</a:t>
            </a:r>
          </a:p>
        </p:txBody>
      </p:sp>
      <p:sp>
        <p:nvSpPr>
          <p:cNvPr id="23" name="Rounded Rectangle 22"/>
          <p:cNvSpPr/>
          <p:nvPr/>
        </p:nvSpPr>
        <p:spPr>
          <a:xfrm>
            <a:off x="6436603"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Handshake
Processing</a:t>
            </a:r>
          </a:p>
        </p:txBody>
      </p:sp>
      <p:sp>
        <p:nvSpPr>
          <p:cNvPr id="24" name="Rounded Rectangle 23"/>
          <p:cNvSpPr/>
          <p:nvPr/>
        </p:nvSpPr>
        <p:spPr>
          <a:xfrm>
            <a:off x="3948652"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Proximity
Comm Service</a:t>
            </a:r>
          </a:p>
        </p:txBody>
      </p:sp>
      <p:sp>
        <p:nvSpPr>
          <p:cNvPr id="25" name="Rounded Rectangle 24"/>
          <p:cNvSpPr/>
          <p:nvPr/>
        </p:nvSpPr>
        <p:spPr>
          <a:xfrm>
            <a:off x="4821710"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Access Control
Management</a:t>
            </a:r>
          </a:p>
        </p:txBody>
      </p:sp>
      <p:sp>
        <p:nvSpPr>
          <p:cNvPr id="2" name="Freeform 1"/>
          <p:cNvSpPr/>
          <p:nvPr/>
        </p:nvSpPr>
        <p:spPr>
          <a:xfrm>
            <a:off x="3497728" y="3302308"/>
            <a:ext cx="191932" cy="213558"/>
          </a:xfrm>
          <a:custGeom>
            <a:avLst/>
            <a:gdLst/>
            <a:ahLst/>
            <a:cxnLst/>
            <a:rect l="l" t="t" r="r" b="b"/>
            <a:pathLst>
              <a:path w="191932" h="213558">
                <a:moveTo>
                  <a:pt x="191932" y="213558"/>
                </a:moveTo>
                <a:lnTo>
                  <a:pt x="132688" y="147638"/>
                </a:lnTo>
                <a:lnTo>
                  <a:pt x="62598" y="69666"/>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61909"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27" name="Freeform 26"/>
          <p:cNvSpPr/>
          <p:nvPr/>
        </p:nvSpPr>
        <p:spPr>
          <a:xfrm>
            <a:off x="3961582" y="3302308"/>
            <a:ext cx="191932" cy="213558"/>
          </a:xfrm>
          <a:custGeom>
            <a:avLst/>
            <a:gdLst/>
            <a:ahLst/>
            <a:cxnLst/>
            <a:rect l="l" t="t" r="r" b="b"/>
            <a:pathLst>
              <a:path w="191932" h="213558">
                <a:moveTo>
                  <a:pt x="0" y="213558"/>
                </a:moveTo>
                <a:lnTo>
                  <a:pt x="59244" y="147638"/>
                </a:lnTo>
                <a:lnTo>
                  <a:pt x="129301" y="69666"/>
                </a:lnTo>
                <a:lnTo>
                  <a:pt x="191932"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59473"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29" name="Freeform 28"/>
          <p:cNvSpPr/>
          <p:nvPr/>
        </p:nvSpPr>
        <p:spPr>
          <a:xfrm>
            <a:off x="4202303" y="3271172"/>
            <a:ext cx="690929" cy="256289"/>
          </a:xfrm>
          <a:custGeom>
            <a:avLst/>
            <a:gdLst/>
            <a:ahLst/>
            <a:cxnLst/>
            <a:rect l="l" t="t" r="r" b="b"/>
            <a:pathLst>
              <a:path w="690929" h="256289">
                <a:moveTo>
                  <a:pt x="0" y="256289"/>
                </a:moveTo>
                <a:lnTo>
                  <a:pt x="210367" y="178253"/>
                </a:lnTo>
                <a:lnTo>
                  <a:pt x="473202" y="80772"/>
                </a:lnTo>
                <a:lnTo>
                  <a:pt x="690929"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6903"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1" name="Freeform 30"/>
          <p:cNvSpPr/>
          <p:nvPr/>
        </p:nvSpPr>
        <p:spPr>
          <a:xfrm>
            <a:off x="2758009" y="3271172"/>
            <a:ext cx="690929" cy="256289"/>
          </a:xfrm>
          <a:custGeom>
            <a:avLst/>
            <a:gdLst/>
            <a:ahLst/>
            <a:cxnLst/>
            <a:rect l="l" t="t" r="r" b="b"/>
            <a:pathLst>
              <a:path w="690929" h="256289">
                <a:moveTo>
                  <a:pt x="690929" y="256289"/>
                </a:moveTo>
                <a:lnTo>
                  <a:pt x="480531" y="178253"/>
                </a:lnTo>
                <a:lnTo>
                  <a:pt x="217727" y="80772"/>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94146"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3" name="Freeform 32"/>
          <p:cNvSpPr/>
          <p:nvPr/>
        </p:nvSpPr>
        <p:spPr>
          <a:xfrm>
            <a:off x="5318492" y="2753219"/>
            <a:ext cx="0" cy="199912"/>
          </a:xfrm>
          <a:custGeom>
            <a:avLst/>
            <a:gdLst/>
            <a:ahLst/>
            <a:cxnLst/>
            <a:rect l="l" t="t" r="r" b="b"/>
            <a:pathLst>
              <a:path w="0" h="199912">
                <a:moveTo>
                  <a:pt x="0" y="199912"/>
                </a:moveTo>
                <a:lnTo>
                  <a:pt x="0" y="138258"/>
                </a:lnTo>
                <a:lnTo>
                  <a:pt x="0" y="66084"/>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85161" y="275445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35" name="Freeform 34"/>
          <p:cNvSpPr/>
          <p:nvPr/>
        </p:nvSpPr>
        <p:spPr>
          <a:xfrm>
            <a:off x="4640982" y="2727555"/>
            <a:ext cx="404154" cy="224859"/>
          </a:xfrm>
          <a:custGeom>
            <a:avLst/>
            <a:gdLst/>
            <a:ahLst/>
            <a:cxnLst/>
            <a:rect l="l" t="t" r="r" b="b"/>
            <a:pathLst>
              <a:path w="404154" h="224859">
                <a:moveTo>
                  <a:pt x="404154" y="224859"/>
                </a:moveTo>
                <a:lnTo>
                  <a:pt x="279055" y="155258"/>
                </a:lnTo>
                <a:lnTo>
                  <a:pt x="130082" y="72369"/>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8735" y="275445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37" name="Freeform 36"/>
          <p:cNvSpPr/>
          <p:nvPr/>
        </p:nvSpPr>
        <p:spPr>
          <a:xfrm>
            <a:off x="2708797" y="2662253"/>
            <a:ext cx="1188884" cy="327453"/>
          </a:xfrm>
          <a:custGeom>
            <a:avLst/>
            <a:gdLst/>
            <a:ahLst/>
            <a:cxnLst/>
            <a:rect l="l" t="t" r="r" b="b"/>
            <a:pathLst>
              <a:path w="1188884" h="327453">
                <a:moveTo>
                  <a:pt x="0" y="327453"/>
                </a:moveTo>
                <a:lnTo>
                  <a:pt x="41005" y="315305"/>
                </a:lnTo>
                <a:lnTo>
                  <a:pt x="82173" y="303287"/>
                </a:lnTo>
                <a:lnTo>
                  <a:pt x="121647" y="291985"/>
                </a:lnTo>
                <a:lnTo>
                  <a:pt x="480432" y="189391"/>
                </a:lnTo>
                <a:lnTo>
                  <a:pt x="889733" y="79241"/>
                </a:lnTo>
                <a:lnTo>
                  <a:pt x="1188884"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11026" y="275445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39" name="Freeform 38"/>
          <p:cNvSpPr/>
          <p:nvPr/>
        </p:nvSpPr>
        <p:spPr>
          <a:xfrm>
            <a:off x="5506092" y="3300387"/>
            <a:ext cx="216588" cy="215479"/>
          </a:xfrm>
          <a:custGeom>
            <a:avLst/>
            <a:gdLst/>
            <a:ahLst/>
            <a:cxnLst/>
            <a:rect l="l" t="t" r="r" b="b"/>
            <a:pathLst>
              <a:path w="216588" h="215479">
                <a:moveTo>
                  <a:pt x="216588" y="215479"/>
                </a:moveTo>
                <a:lnTo>
                  <a:pt x="149820" y="148940"/>
                </a:lnTo>
                <a:lnTo>
                  <a:pt x="70676" y="70154"/>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79914"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41" name="Freeform 40"/>
          <p:cNvSpPr/>
          <p:nvPr/>
        </p:nvSpPr>
        <p:spPr>
          <a:xfrm>
            <a:off x="6131752" y="3291235"/>
            <a:ext cx="378783" cy="223915"/>
          </a:xfrm>
          <a:custGeom>
            <a:avLst/>
            <a:gdLst/>
            <a:ahLst/>
            <a:cxnLst/>
            <a:rect l="l" t="t" r="r" b="b"/>
            <a:pathLst>
              <a:path w="378783" h="223915">
                <a:moveTo>
                  <a:pt x="0" y="223915"/>
                </a:moveTo>
                <a:lnTo>
                  <a:pt x="117250" y="154607"/>
                </a:lnTo>
                <a:lnTo>
                  <a:pt x="256648" y="72141"/>
                </a:lnTo>
                <a:lnTo>
                  <a:pt x="378783"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37806"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43" name="Freeform 42"/>
          <p:cNvSpPr/>
          <p:nvPr/>
        </p:nvSpPr>
        <p:spPr>
          <a:xfrm>
            <a:off x="5594681" y="2167978"/>
            <a:ext cx="426661" cy="1347530"/>
          </a:xfrm>
          <a:custGeom>
            <a:avLst/>
            <a:gdLst/>
            <a:ahLst/>
            <a:cxnLst/>
            <a:rect l="l" t="t" r="r" b="b"/>
            <a:pathLst>
              <a:path w="426661" h="1347530">
                <a:moveTo>
                  <a:pt x="314947" y="1347530"/>
                </a:moveTo>
                <a:lnTo>
                  <a:pt x="364127" y="1095410"/>
                </a:lnTo>
                <a:lnTo>
                  <a:pt x="426661" y="582408"/>
                </a:lnTo>
                <a:lnTo>
                  <a:pt x="221147" y="223557"/>
                </a:lnTo>
                <a:lnTo>
                  <a:pt x="169362" y="132591"/>
                </a:lnTo>
                <a:lnTo>
                  <a:pt x="87287" y="58593"/>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26454" y="275445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45" name="Freeform 44"/>
          <p:cNvSpPr/>
          <p:nvPr/>
        </p:nvSpPr>
        <p:spPr>
          <a:xfrm>
            <a:off x="2377761" y="3315076"/>
            <a:ext cx="170077" cy="763090"/>
          </a:xfrm>
          <a:custGeom>
            <a:avLst/>
            <a:gdLst/>
            <a:ahLst/>
            <a:cxnLst/>
            <a:rect l="l" t="t" r="r" b="b"/>
            <a:pathLst>
              <a:path w="170077" h="763090">
                <a:moveTo>
                  <a:pt x="170077" y="763090"/>
                </a:moveTo>
                <a:lnTo>
                  <a:pt x="126043" y="565504"/>
                </a:lnTo>
                <a:lnTo>
                  <a:pt x="48919" y="219485"/>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56826" y="359852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47" name="Freeform 46"/>
          <p:cNvSpPr/>
          <p:nvPr/>
        </p:nvSpPr>
        <p:spPr>
          <a:xfrm>
            <a:off x="2957791" y="3747794"/>
            <a:ext cx="2491305" cy="418853"/>
          </a:xfrm>
          <a:custGeom>
            <a:avLst/>
            <a:gdLst/>
            <a:ahLst/>
            <a:cxnLst/>
            <a:rect l="l" t="t" r="r" b="b"/>
            <a:pathLst>
              <a:path w="2491305" h="418853">
                <a:moveTo>
                  <a:pt x="0" y="418853"/>
                </a:moveTo>
                <a:lnTo>
                  <a:pt x="617615" y="315012"/>
                </a:lnTo>
                <a:lnTo>
                  <a:pt x="1842618" y="109042"/>
                </a:lnTo>
                <a:lnTo>
                  <a:pt x="2491305"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93713" y="3879895"/>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49" name="Freeform 48"/>
          <p:cNvSpPr/>
          <p:nvPr/>
        </p:nvSpPr>
        <p:spPr>
          <a:xfrm>
            <a:off x="6811152" y="2753219"/>
            <a:ext cx="0" cy="199912"/>
          </a:xfrm>
          <a:custGeom>
            <a:avLst/>
            <a:gdLst/>
            <a:ahLst/>
            <a:cxnLst/>
            <a:rect l="l" t="t" r="r" b="b"/>
            <a:pathLst>
              <a:path w="0" h="199912">
                <a:moveTo>
                  <a:pt x="0" y="199912"/>
                </a:moveTo>
                <a:lnTo>
                  <a:pt x="0" y="138258"/>
                </a:lnTo>
                <a:lnTo>
                  <a:pt x="0" y="66084"/>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8242" y="275445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51" name="Freeform 50"/>
          <p:cNvSpPr/>
          <p:nvPr/>
        </p:nvSpPr>
        <p:spPr>
          <a:xfrm>
            <a:off x="4562913" y="2166741"/>
            <a:ext cx="351555" cy="222938"/>
          </a:xfrm>
          <a:custGeom>
            <a:avLst/>
            <a:gdLst/>
            <a:ahLst/>
            <a:cxnLst/>
            <a:rect l="l" t="t" r="r" b="b"/>
            <a:pathLst>
              <a:path w="351555" h="222938">
                <a:moveTo>
                  <a:pt x="0" y="222938"/>
                </a:moveTo>
                <a:lnTo>
                  <a:pt x="108782" y="153955"/>
                </a:lnTo>
                <a:lnTo>
                  <a:pt x="238180" y="71913"/>
                </a:lnTo>
                <a:lnTo>
                  <a:pt x="351555" y="0"/>
                </a:lnTo>
              </a:path>
            </a:pathLst>
          </a:custGeom>
          <a:noFill/>
          <a:ln w="11430">
            <a:solidFill>
              <a:srgbClr val="76808B"/>
            </a:solidFill>
            <a:headEnd type="stealth" w="med" len="med"/>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1312" y="2191720"/>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serving</a:t>
            </a:r>
          </a:p>
        </p:txBody>
      </p:sp>
      <p:sp>
        <p:nvSpPr>
          <p:cNvPr id="53" name="TextBox 52"/>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Passenger taps a Go Card / mobile wallet → NFC Handshake (Path) → reader; NFC Readers realize NFC Proximity Communication Service; Station Gate ⊃ Gate Firmware → NFC Handshake Processing; gate assigned to Access Control Management (&lt; 400 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Perspective 2 — Communication (pattern P01)</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sp>
        <p:nvSpPr>
          <p:cNvPr id="14" name="Rounded Rectangle 13"/>
          <p:cNvSpPr/>
          <p:nvPr/>
        </p:nvSpPr>
        <p:spPr>
          <a:xfrm>
            <a:off x="1938990"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Handshake
(Path)</a:t>
            </a:r>
          </a:p>
        </p:txBody>
      </p:sp>
      <p:sp>
        <p:nvSpPr>
          <p:cNvPr id="15" name="Rounded Rectangle 14"/>
          <p:cNvSpPr/>
          <p:nvPr/>
        </p:nvSpPr>
        <p:spPr>
          <a:xfrm>
            <a:off x="1271479"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Go Card</a:t>
            </a:r>
          </a:p>
        </p:txBody>
      </p:sp>
      <p:sp>
        <p:nvSpPr>
          <p:cNvPr id="16" name="Rounded Rectangle 15"/>
          <p:cNvSpPr/>
          <p:nvPr/>
        </p:nvSpPr>
        <p:spPr>
          <a:xfrm>
            <a:off x="2606457"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Mobile Wallet /
Bank Card</a:t>
            </a:r>
          </a:p>
        </p:txBody>
      </p:sp>
      <p:sp>
        <p:nvSpPr>
          <p:cNvPr id="17" name="Rounded Rectangle 16"/>
          <p:cNvSpPr/>
          <p:nvPr/>
        </p:nvSpPr>
        <p:spPr>
          <a:xfrm>
            <a:off x="538445" y="182880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NFC Reader
(embedded)</a:t>
            </a:r>
          </a:p>
        </p:txBody>
      </p:sp>
      <p:sp>
        <p:nvSpPr>
          <p:cNvPr id="18" name="Rounded Rectangle 17"/>
          <p:cNvSpPr/>
          <p:nvPr/>
        </p:nvSpPr>
        <p:spPr>
          <a:xfrm>
            <a:off x="3941478"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Platform
NFC Reader</a:t>
            </a:r>
          </a:p>
        </p:txBody>
      </p:sp>
      <p:sp>
        <p:nvSpPr>
          <p:cNvPr id="19" name="Rounded Rectangle 18"/>
          <p:cNvSpPr/>
          <p:nvPr/>
        </p:nvSpPr>
        <p:spPr>
          <a:xfrm>
            <a:off x="5276584"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Station Gate</a:t>
            </a:r>
          </a:p>
        </p:txBody>
      </p:sp>
      <p:sp>
        <p:nvSpPr>
          <p:cNvPr id="20" name="Rounded Rectangle 19"/>
          <p:cNvSpPr/>
          <p:nvPr/>
        </p:nvSpPr>
        <p:spPr>
          <a:xfrm>
            <a:off x="6611519"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Journey &amp; Account
Mgmt Backend</a:t>
            </a:r>
          </a:p>
        </p:txBody>
      </p:sp>
      <p:sp>
        <p:nvSpPr>
          <p:cNvPr id="21" name="Rounded Rectangle 20"/>
          <p:cNvSpPr/>
          <p:nvPr/>
        </p:nvSpPr>
        <p:spPr>
          <a:xfrm>
            <a:off x="5425482"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Gate-Backend
Link (Path)</a:t>
            </a:r>
          </a:p>
        </p:txBody>
      </p:sp>
      <p:sp>
        <p:nvSpPr>
          <p:cNvPr id="22" name="Rounded Rectangle 21"/>
          <p:cNvSpPr/>
          <p:nvPr/>
        </p:nvSpPr>
        <p:spPr>
          <a:xfrm>
            <a:off x="6313293" y="3981473"/>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Private Network</a:t>
            </a:r>
          </a:p>
        </p:txBody>
      </p:sp>
      <p:sp>
        <p:nvSpPr>
          <p:cNvPr id="23" name="Rounded Rectangle 22"/>
          <p:cNvSpPr/>
          <p:nvPr/>
        </p:nvSpPr>
        <p:spPr>
          <a:xfrm>
            <a:off x="4090462"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Station
Infrastructure</a:t>
            </a:r>
          </a:p>
        </p:txBody>
      </p:sp>
      <p:sp>
        <p:nvSpPr>
          <p:cNvPr id="24" name="Rounded Rectangle 23"/>
          <p:cNvSpPr/>
          <p:nvPr/>
        </p:nvSpPr>
        <p:spPr>
          <a:xfrm>
            <a:off x="7618620"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Application
Server</a:t>
            </a:r>
          </a:p>
        </p:txBody>
      </p:sp>
      <p:sp>
        <p:nvSpPr>
          <p:cNvPr id="2" name="Freeform 1"/>
          <p:cNvSpPr/>
          <p:nvPr/>
        </p:nvSpPr>
        <p:spPr>
          <a:xfrm>
            <a:off x="2000609" y="3005267"/>
            <a:ext cx="242356" cy="256217"/>
          </a:xfrm>
          <a:custGeom>
            <a:avLst/>
            <a:gdLst/>
            <a:ahLst/>
            <a:cxnLst/>
            <a:rect l="l" t="t" r="r" b="b"/>
            <a:pathLst>
              <a:path w="242356" h="256217">
                <a:moveTo>
                  <a:pt x="242356" y="256217"/>
                </a:moveTo>
                <a:lnTo>
                  <a:pt x="166963" y="176490"/>
                </a:lnTo>
                <a:lnTo>
                  <a:pt x="79383" y="83932"/>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08820"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26" name="Freeform 25"/>
          <p:cNvSpPr/>
          <p:nvPr/>
        </p:nvSpPr>
        <p:spPr>
          <a:xfrm>
            <a:off x="2621948" y="3005267"/>
            <a:ext cx="242356" cy="256217"/>
          </a:xfrm>
          <a:custGeom>
            <a:avLst/>
            <a:gdLst/>
            <a:ahLst/>
            <a:cxnLst/>
            <a:rect l="l" t="t" r="r" b="b"/>
            <a:pathLst>
              <a:path w="242356" h="256217">
                <a:moveTo>
                  <a:pt x="0" y="256217"/>
                </a:moveTo>
                <a:lnTo>
                  <a:pt x="75393" y="176490"/>
                </a:lnTo>
                <a:lnTo>
                  <a:pt x="162930" y="83932"/>
                </a:lnTo>
                <a:lnTo>
                  <a:pt x="242356"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76288"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28" name="Freeform 27"/>
          <p:cNvSpPr/>
          <p:nvPr/>
        </p:nvSpPr>
        <p:spPr>
          <a:xfrm>
            <a:off x="797721" y="2302699"/>
            <a:ext cx="1138909" cy="1134974"/>
          </a:xfrm>
          <a:custGeom>
            <a:avLst/>
            <a:gdLst/>
            <a:ahLst/>
            <a:cxnLst/>
            <a:rect l="l" t="t" r="r" b="b"/>
            <a:pathLst>
              <a:path w="1138909" h="1134974">
                <a:moveTo>
                  <a:pt x="1138909" y="1134974"/>
                </a:moveTo>
                <a:lnTo>
                  <a:pt x="795627" y="1089274"/>
                </a:lnTo>
                <a:lnTo>
                  <a:pt x="361162" y="967495"/>
                </a:lnTo>
                <a:lnTo>
                  <a:pt x="134365" y="651333"/>
                </a:lnTo>
                <a:lnTo>
                  <a:pt x="0" y="463988"/>
                </a:lnTo>
                <a:lnTo>
                  <a:pt x="48678" y="197258"/>
                </a:lnTo>
                <a:lnTo>
                  <a:pt x="116823"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183" y="267705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0" name="Freeform 29"/>
          <p:cNvSpPr/>
          <p:nvPr/>
        </p:nvSpPr>
        <p:spPr>
          <a:xfrm>
            <a:off x="2927425" y="2953689"/>
            <a:ext cx="946855" cy="333669"/>
          </a:xfrm>
          <a:custGeom>
            <a:avLst/>
            <a:gdLst/>
            <a:ahLst/>
            <a:cxnLst/>
            <a:rect l="l" t="t" r="r" b="b"/>
            <a:pathLst>
              <a:path w="946855" h="333669">
                <a:moveTo>
                  <a:pt x="0" y="333669"/>
                </a:moveTo>
                <a:lnTo>
                  <a:pt x="287026" y="232530"/>
                </a:lnTo>
                <a:lnTo>
                  <a:pt x="649359" y="104830"/>
                </a:lnTo>
                <a:lnTo>
                  <a:pt x="946855"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83833"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2" name="Freeform 31"/>
          <p:cNvSpPr/>
          <p:nvPr/>
        </p:nvSpPr>
        <p:spPr>
          <a:xfrm>
            <a:off x="1595408" y="2079481"/>
            <a:ext cx="3679460" cy="508185"/>
          </a:xfrm>
          <a:custGeom>
            <a:avLst/>
            <a:gdLst/>
            <a:ahLst/>
            <a:cxnLst/>
            <a:rect l="l" t="t" r="r" b="b"/>
            <a:pathLst>
              <a:path w="3679460" h="508185">
                <a:moveTo>
                  <a:pt x="3679460" y="508185"/>
                </a:moveTo>
                <a:lnTo>
                  <a:pt x="3621531" y="492823"/>
                </a:lnTo>
                <a:lnTo>
                  <a:pt x="3563173" y="478619"/>
                </a:lnTo>
                <a:lnTo>
                  <a:pt x="3506961" y="466905"/>
                </a:lnTo>
                <a:lnTo>
                  <a:pt x="2269175" y="208028"/>
                </a:lnTo>
                <a:lnTo>
                  <a:pt x="790062" y="63979"/>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28758" y="2318242"/>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34" name="Freeform 33"/>
          <p:cNvSpPr/>
          <p:nvPr/>
        </p:nvSpPr>
        <p:spPr>
          <a:xfrm>
            <a:off x="5825834" y="3021830"/>
            <a:ext cx="50634" cy="239654"/>
          </a:xfrm>
          <a:custGeom>
            <a:avLst/>
            <a:gdLst/>
            <a:ahLst/>
            <a:cxnLst/>
            <a:rect l="l" t="t" r="r" b="b"/>
            <a:pathLst>
              <a:path w="50634" h="239654">
                <a:moveTo>
                  <a:pt x="50634" y="239654"/>
                </a:moveTo>
                <a:lnTo>
                  <a:pt x="35186" y="165162"/>
                </a:lnTo>
                <a:lnTo>
                  <a:pt x="16735" y="79427"/>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38785"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6" name="Freeform 35"/>
          <p:cNvSpPr/>
          <p:nvPr/>
        </p:nvSpPr>
        <p:spPr>
          <a:xfrm>
            <a:off x="6255794" y="2991193"/>
            <a:ext cx="453989" cy="270291"/>
          </a:xfrm>
          <a:custGeom>
            <a:avLst/>
            <a:gdLst/>
            <a:ahLst/>
            <a:cxnLst/>
            <a:rect l="l" t="t" r="r" b="b"/>
            <a:pathLst>
              <a:path w="453989" h="270291">
                <a:moveTo>
                  <a:pt x="0" y="270291"/>
                </a:moveTo>
                <a:lnTo>
                  <a:pt x="141174" y="186101"/>
                </a:lnTo>
                <a:lnTo>
                  <a:pt x="306807" y="87579"/>
                </a:lnTo>
                <a:lnTo>
                  <a:pt x="453989"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7362"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8" name="Freeform 37"/>
          <p:cNvSpPr/>
          <p:nvPr/>
        </p:nvSpPr>
        <p:spPr>
          <a:xfrm>
            <a:off x="6848812" y="3021959"/>
            <a:ext cx="200391" cy="957991"/>
          </a:xfrm>
          <a:custGeom>
            <a:avLst/>
            <a:gdLst/>
            <a:ahLst/>
            <a:cxnLst/>
            <a:rect l="l" t="t" r="r" b="b"/>
            <a:pathLst>
              <a:path w="200391" h="957991">
                <a:moveTo>
                  <a:pt x="0" y="957991"/>
                </a:moveTo>
                <a:lnTo>
                  <a:pt x="52351" y="707803"/>
                </a:lnTo>
                <a:lnTo>
                  <a:pt x="142033" y="277929"/>
                </a:lnTo>
                <a:lnTo>
                  <a:pt x="200391"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85344" y="3394601"/>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40" name="Freeform 39"/>
          <p:cNvSpPr/>
          <p:nvPr/>
        </p:nvSpPr>
        <p:spPr>
          <a:xfrm>
            <a:off x="6223611" y="3715773"/>
            <a:ext cx="331267" cy="263246"/>
          </a:xfrm>
          <a:custGeom>
            <a:avLst/>
            <a:gdLst/>
            <a:ahLst/>
            <a:cxnLst/>
            <a:rect l="l" t="t" r="r" b="b"/>
            <a:pathLst>
              <a:path w="331267" h="263246">
                <a:moveTo>
                  <a:pt x="331267" y="263246"/>
                </a:moveTo>
                <a:lnTo>
                  <a:pt x="228282" y="181296"/>
                </a:lnTo>
                <a:lnTo>
                  <a:pt x="107705" y="85778"/>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50703" y="3753373"/>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42" name="Freeform 41"/>
          <p:cNvSpPr/>
          <p:nvPr/>
        </p:nvSpPr>
        <p:spPr>
          <a:xfrm>
            <a:off x="5142275" y="3650893"/>
            <a:ext cx="1168444" cy="370963"/>
          </a:xfrm>
          <a:custGeom>
            <a:avLst/>
            <a:gdLst/>
            <a:ahLst/>
            <a:cxnLst/>
            <a:rect l="l" t="t" r="r" b="b"/>
            <a:pathLst>
              <a:path w="1168444" h="370963">
                <a:moveTo>
                  <a:pt x="1168444" y="370963"/>
                </a:moveTo>
                <a:lnTo>
                  <a:pt x="822159" y="260980"/>
                </a:lnTo>
                <a:lnTo>
                  <a:pt x="359158" y="114055"/>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2107" y="3753373"/>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44" name="Freeform 43"/>
          <p:cNvSpPr/>
          <p:nvPr/>
        </p:nvSpPr>
        <p:spPr>
          <a:xfrm>
            <a:off x="7177504" y="3706419"/>
            <a:ext cx="504194" cy="272600"/>
          </a:xfrm>
          <a:custGeom>
            <a:avLst/>
            <a:gdLst/>
            <a:ahLst/>
            <a:cxnLst/>
            <a:rect l="l" t="t" r="r" b="b"/>
            <a:pathLst>
              <a:path w="504194" h="272600">
                <a:moveTo>
                  <a:pt x="0" y="272600"/>
                </a:moveTo>
                <a:lnTo>
                  <a:pt x="157051" y="187689"/>
                </a:lnTo>
                <a:lnTo>
                  <a:pt x="341136" y="88180"/>
                </a:lnTo>
                <a:lnTo>
                  <a:pt x="504194"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88680" y="3753373"/>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46" name="Freeform 45"/>
          <p:cNvSpPr/>
          <p:nvPr/>
        </p:nvSpPr>
        <p:spPr>
          <a:xfrm>
            <a:off x="4491028" y="3021830"/>
            <a:ext cx="50591" cy="239654"/>
          </a:xfrm>
          <a:custGeom>
            <a:avLst/>
            <a:gdLst/>
            <a:ahLst/>
            <a:cxnLst/>
            <a:rect l="l" t="t" r="r" b="b"/>
            <a:pathLst>
              <a:path w="50591" h="239654">
                <a:moveTo>
                  <a:pt x="50591" y="239654"/>
                </a:moveTo>
                <a:lnTo>
                  <a:pt x="34886" y="165162"/>
                </a:lnTo>
                <a:lnTo>
                  <a:pt x="16778" y="79427"/>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99516"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48" name="Freeform 47"/>
          <p:cNvSpPr/>
          <p:nvPr/>
        </p:nvSpPr>
        <p:spPr>
          <a:xfrm>
            <a:off x="4920430" y="2991193"/>
            <a:ext cx="454418" cy="270291"/>
          </a:xfrm>
          <a:custGeom>
            <a:avLst/>
            <a:gdLst/>
            <a:ahLst/>
            <a:cxnLst/>
            <a:rect l="l" t="t" r="r" b="b"/>
            <a:pathLst>
              <a:path w="454418" h="270291">
                <a:moveTo>
                  <a:pt x="0" y="270291"/>
                </a:moveTo>
                <a:lnTo>
                  <a:pt x="141603" y="186101"/>
                </a:lnTo>
                <a:lnTo>
                  <a:pt x="307237" y="87579"/>
                </a:lnTo>
                <a:lnTo>
                  <a:pt x="454418"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98137" y="303582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50" name="TextBox 49"/>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Card ↔ reader uses NFC Handshake (Path); Gate-Backend Link (Path) is realized by the Private Network (Communication Network) — course pattern P01; the network connects Station Infrastructure, the backend and the Application Server.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Perspective 3 — Backend storage &amp; data</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sp>
        <p:nvSpPr>
          <p:cNvPr id="14" name="Rounded Rectangle 13"/>
          <p:cNvSpPr/>
          <p:nvPr/>
        </p:nvSpPr>
        <p:spPr>
          <a:xfrm>
            <a:off x="4686025" y="4079709"/>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Journey &amp; Account
Mgmt Backend</a:t>
            </a:r>
          </a:p>
        </p:txBody>
      </p:sp>
      <p:sp>
        <p:nvSpPr>
          <p:cNvPr id="15" name="Rounded Rectangle 14"/>
          <p:cNvSpPr/>
          <p:nvPr/>
        </p:nvSpPr>
        <p:spPr>
          <a:xfrm>
            <a:off x="3324458"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Database (DBMS)</a:t>
            </a:r>
          </a:p>
        </p:txBody>
      </p:sp>
      <p:sp>
        <p:nvSpPr>
          <p:cNvPr id="16" name="Rounded Rectangle 15"/>
          <p:cNvSpPr/>
          <p:nvPr/>
        </p:nvSpPr>
        <p:spPr>
          <a:xfrm>
            <a:off x="3324458"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Store Journey
&amp; Account Data</a:t>
            </a:r>
          </a:p>
        </p:txBody>
      </p:sp>
      <p:sp>
        <p:nvSpPr>
          <p:cNvPr id="17" name="Rounded Rectangle 16"/>
          <p:cNvSpPr/>
          <p:nvPr/>
        </p:nvSpPr>
        <p:spPr>
          <a:xfrm>
            <a:off x="3699886"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Journey &amp; Account
Database</a:t>
            </a:r>
          </a:p>
        </p:txBody>
      </p:sp>
      <p:sp>
        <p:nvSpPr>
          <p:cNvPr id="18" name="Rounded Rectangle 17"/>
          <p:cNvSpPr/>
          <p:nvPr/>
        </p:nvSpPr>
        <p:spPr>
          <a:xfrm>
            <a:off x="5445839"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Data Storage
Service</a:t>
            </a:r>
          </a:p>
        </p:txBody>
      </p:sp>
      <p:sp>
        <p:nvSpPr>
          <p:cNvPr id="19" name="Rounded Rectangle 18"/>
          <p:cNvSpPr/>
          <p:nvPr/>
        </p:nvSpPr>
        <p:spPr>
          <a:xfrm>
            <a:off x="4943878" y="2954238"/>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Journey &amp; Account
Mgmt System</a:t>
            </a:r>
          </a:p>
        </p:txBody>
      </p:sp>
      <p:sp>
        <p:nvSpPr>
          <p:cNvPr id="20" name="Rounded Rectangle 19"/>
          <p:cNvSpPr/>
          <p:nvPr/>
        </p:nvSpPr>
        <p:spPr>
          <a:xfrm>
            <a:off x="6187772" y="2954238"/>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Fare Management
System</a:t>
            </a:r>
          </a:p>
        </p:txBody>
      </p:sp>
      <p:sp>
        <p:nvSpPr>
          <p:cNvPr id="21" name="Rounded Rectangle 20"/>
          <p:cNvSpPr/>
          <p:nvPr/>
        </p:nvSpPr>
        <p:spPr>
          <a:xfrm>
            <a:off x="2207129"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Tap Event
Data</a:t>
            </a:r>
          </a:p>
        </p:txBody>
      </p:sp>
      <p:sp>
        <p:nvSpPr>
          <p:cNvPr id="22" name="Rounded Rectangle 21"/>
          <p:cNvSpPr/>
          <p:nvPr/>
        </p:nvSpPr>
        <p:spPr>
          <a:xfrm>
            <a:off x="3202322"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Go Card
Account Data</a:t>
            </a:r>
          </a:p>
        </p:txBody>
      </p:sp>
      <p:sp>
        <p:nvSpPr>
          <p:cNvPr id="23" name="Rounded Rectangle 22"/>
          <p:cNvSpPr/>
          <p:nvPr/>
        </p:nvSpPr>
        <p:spPr>
          <a:xfrm>
            <a:off x="4197483"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Fare &amp; Zone
Data</a:t>
            </a:r>
          </a:p>
        </p:txBody>
      </p:sp>
      <p:sp>
        <p:nvSpPr>
          <p:cNvPr id="24" name="Rounded Rectangle 23"/>
          <p:cNvSpPr/>
          <p:nvPr/>
        </p:nvSpPr>
        <p:spPr>
          <a:xfrm>
            <a:off x="5192774"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Digital Ticket</a:t>
            </a:r>
          </a:p>
        </p:txBody>
      </p:sp>
      <p:sp>
        <p:nvSpPr>
          <p:cNvPr id="2" name="Freeform 1"/>
          <p:cNvSpPr/>
          <p:nvPr/>
        </p:nvSpPr>
        <p:spPr>
          <a:xfrm>
            <a:off x="3930413" y="3856869"/>
            <a:ext cx="755515" cy="301440"/>
          </a:xfrm>
          <a:custGeom>
            <a:avLst/>
            <a:gdLst/>
            <a:ahLst/>
            <a:cxnLst/>
            <a:rect l="l" t="t" r="r" b="b"/>
            <a:pathLst>
              <a:path w="755515" h="301440">
                <a:moveTo>
                  <a:pt x="755515" y="301440"/>
                </a:moveTo>
                <a:lnTo>
                  <a:pt x="584655" y="261259"/>
                </a:lnTo>
                <a:lnTo>
                  <a:pt x="382594" y="202908"/>
                </a:lnTo>
                <a:lnTo>
                  <a:pt x="210757" y="123308"/>
                </a:lnTo>
                <a:lnTo>
                  <a:pt x="138648" y="89924"/>
                </a:lnTo>
                <a:lnTo>
                  <a:pt x="65497" y="45011"/>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07936" y="3879895"/>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26" name="Freeform 25"/>
          <p:cNvSpPr/>
          <p:nvPr/>
        </p:nvSpPr>
        <p:spPr>
          <a:xfrm>
            <a:off x="4188950" y="2745761"/>
            <a:ext cx="782384" cy="1332157"/>
          </a:xfrm>
          <a:custGeom>
            <a:avLst/>
            <a:gdLst/>
            <a:ahLst/>
            <a:cxnLst/>
            <a:rect l="l" t="t" r="r" b="b"/>
            <a:pathLst>
              <a:path w="782384" h="1332157">
                <a:moveTo>
                  <a:pt x="782384" y="1332157"/>
                </a:moveTo>
                <a:lnTo>
                  <a:pt x="602926" y="1026590"/>
                </a:lnTo>
                <a:lnTo>
                  <a:pt x="198641" y="338201"/>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5638"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28" name="Freeform 27"/>
          <p:cNvSpPr/>
          <p:nvPr/>
        </p:nvSpPr>
        <p:spPr>
          <a:xfrm>
            <a:off x="5268237" y="3858204"/>
            <a:ext cx="302343" cy="220391"/>
          </a:xfrm>
          <a:custGeom>
            <a:avLst/>
            <a:gdLst/>
            <a:ahLst/>
            <a:cxnLst/>
            <a:rect l="l" t="t" r="r" b="b"/>
            <a:pathLst>
              <a:path w="302343" h="220391">
                <a:moveTo>
                  <a:pt x="0" y="220391"/>
                </a:moveTo>
                <a:lnTo>
                  <a:pt x="93442" y="152328"/>
                </a:lnTo>
                <a:lnTo>
                  <a:pt x="204635" y="71393"/>
                </a:lnTo>
                <a:lnTo>
                  <a:pt x="302343"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1530" y="3879895"/>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30" name="Freeform 29"/>
          <p:cNvSpPr/>
          <p:nvPr/>
        </p:nvSpPr>
        <p:spPr>
          <a:xfrm>
            <a:off x="5080018" y="3312796"/>
            <a:ext cx="165323" cy="765506"/>
          </a:xfrm>
          <a:custGeom>
            <a:avLst/>
            <a:gdLst/>
            <a:ahLst/>
            <a:cxnLst/>
            <a:rect l="l" t="t" r="r" b="b"/>
            <a:pathLst>
              <a:path w="165323" h="765506">
                <a:moveTo>
                  <a:pt x="0" y="765506"/>
                </a:moveTo>
                <a:lnTo>
                  <a:pt x="20226" y="620220"/>
                </a:lnTo>
                <a:lnTo>
                  <a:pt x="55694" y="395426"/>
                </a:lnTo>
                <a:lnTo>
                  <a:pt x="103832" y="204178"/>
                </a:lnTo>
                <a:lnTo>
                  <a:pt x="120768" y="136857"/>
                </a:lnTo>
                <a:lnTo>
                  <a:pt x="143436" y="64552"/>
                </a:lnTo>
                <a:lnTo>
                  <a:pt x="165323"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60778" y="359852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32" name="Freeform 31"/>
          <p:cNvSpPr/>
          <p:nvPr/>
        </p:nvSpPr>
        <p:spPr>
          <a:xfrm>
            <a:off x="5436687" y="3316802"/>
            <a:ext cx="1105441" cy="881711"/>
          </a:xfrm>
          <a:custGeom>
            <a:avLst/>
            <a:gdLst/>
            <a:ahLst/>
            <a:cxnLst/>
            <a:rect l="l" t="t" r="r" b="b"/>
            <a:pathLst>
              <a:path w="1105441" h="881711">
                <a:moveTo>
                  <a:pt x="0" y="881711"/>
                </a:moveTo>
                <a:lnTo>
                  <a:pt x="277199" y="839530"/>
                </a:lnTo>
                <a:lnTo>
                  <a:pt x="645560" y="740760"/>
                </a:lnTo>
                <a:lnTo>
                  <a:pt x="881363" y="509582"/>
                </a:lnTo>
                <a:lnTo>
                  <a:pt x="1019132" y="374614"/>
                </a:lnTo>
                <a:lnTo>
                  <a:pt x="1079060" y="158841"/>
                </a:lnTo>
                <a:lnTo>
                  <a:pt x="1105441"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8084" y="359852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34" name="Freeform 33"/>
          <p:cNvSpPr/>
          <p:nvPr/>
        </p:nvSpPr>
        <p:spPr>
          <a:xfrm>
            <a:off x="3699007" y="3315955"/>
            <a:ext cx="0" cy="199911"/>
          </a:xfrm>
          <a:custGeom>
            <a:avLst/>
            <a:gdLst/>
            <a:ahLst/>
            <a:cxnLst/>
            <a:rect l="l" t="t" r="r" b="b"/>
            <a:pathLst>
              <a:path w="0" h="199911">
                <a:moveTo>
                  <a:pt x="0" y="199911"/>
                </a:moveTo>
                <a:lnTo>
                  <a:pt x="0" y="138257"/>
                </a:lnTo>
                <a:lnTo>
                  <a:pt x="0" y="66083"/>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75935"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36" name="Freeform 35"/>
          <p:cNvSpPr/>
          <p:nvPr/>
        </p:nvSpPr>
        <p:spPr>
          <a:xfrm>
            <a:off x="3801601" y="2743481"/>
            <a:ext cx="142166" cy="209650"/>
          </a:xfrm>
          <a:custGeom>
            <a:avLst/>
            <a:gdLst/>
            <a:ahLst/>
            <a:cxnLst/>
            <a:rect l="l" t="t" r="r" b="b"/>
            <a:pathLst>
              <a:path w="142166" h="209650">
                <a:moveTo>
                  <a:pt x="0" y="209650"/>
                </a:moveTo>
                <a:lnTo>
                  <a:pt x="43871" y="144967"/>
                </a:lnTo>
                <a:lnTo>
                  <a:pt x="95591" y="68656"/>
                </a:lnTo>
                <a:lnTo>
                  <a:pt x="142166" y="0"/>
                </a:lnTo>
              </a:path>
            </a:pathLst>
          </a:custGeom>
          <a:noFill/>
          <a:ln w="11430">
            <a:solidFill>
              <a:srgbClr val="76808B"/>
            </a:solidFill>
            <a:headEnd type="arrow" w="med" len="med"/>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80015" y="275445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access</a:t>
            </a:r>
          </a:p>
        </p:txBody>
      </p:sp>
      <p:sp>
        <p:nvSpPr>
          <p:cNvPr id="38" name="Freeform 37"/>
          <p:cNvSpPr/>
          <p:nvPr/>
        </p:nvSpPr>
        <p:spPr>
          <a:xfrm>
            <a:off x="3006840" y="2145733"/>
            <a:ext cx="690929" cy="256257"/>
          </a:xfrm>
          <a:custGeom>
            <a:avLst/>
            <a:gdLst/>
            <a:ahLst/>
            <a:cxnLst/>
            <a:rect l="l" t="t" r="r" b="b"/>
            <a:pathLst>
              <a:path w="690929" h="256257">
                <a:moveTo>
                  <a:pt x="690929" y="256257"/>
                </a:moveTo>
                <a:lnTo>
                  <a:pt x="480530" y="178220"/>
                </a:lnTo>
                <a:lnTo>
                  <a:pt x="217727" y="80740"/>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20927" y="2191720"/>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40" name="Freeform 39"/>
          <p:cNvSpPr/>
          <p:nvPr/>
        </p:nvSpPr>
        <p:spPr>
          <a:xfrm>
            <a:off x="3746558" y="2176870"/>
            <a:ext cx="191932" cy="213525"/>
          </a:xfrm>
          <a:custGeom>
            <a:avLst/>
            <a:gdLst/>
            <a:ahLst/>
            <a:cxnLst/>
            <a:rect l="l" t="t" r="r" b="b"/>
            <a:pathLst>
              <a:path w="191932" h="213525">
                <a:moveTo>
                  <a:pt x="191932" y="213525"/>
                </a:moveTo>
                <a:lnTo>
                  <a:pt x="132688" y="147637"/>
                </a:lnTo>
                <a:lnTo>
                  <a:pt x="62599" y="69666"/>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88690" y="2191720"/>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42" name="Freeform 41"/>
          <p:cNvSpPr/>
          <p:nvPr/>
        </p:nvSpPr>
        <p:spPr>
          <a:xfrm>
            <a:off x="4210413" y="2176870"/>
            <a:ext cx="191932" cy="213525"/>
          </a:xfrm>
          <a:custGeom>
            <a:avLst/>
            <a:gdLst/>
            <a:ahLst/>
            <a:cxnLst/>
            <a:rect l="l" t="t" r="r" b="b"/>
            <a:pathLst>
              <a:path w="191932" h="213525">
                <a:moveTo>
                  <a:pt x="0" y="213525"/>
                </a:moveTo>
                <a:lnTo>
                  <a:pt x="59244" y="147637"/>
                </a:lnTo>
                <a:lnTo>
                  <a:pt x="129301" y="69666"/>
                </a:lnTo>
                <a:lnTo>
                  <a:pt x="191932"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86254" y="2191720"/>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44" name="Freeform 43"/>
          <p:cNvSpPr/>
          <p:nvPr/>
        </p:nvSpPr>
        <p:spPr>
          <a:xfrm>
            <a:off x="4451134" y="2145733"/>
            <a:ext cx="690929" cy="256257"/>
          </a:xfrm>
          <a:custGeom>
            <a:avLst/>
            <a:gdLst/>
            <a:ahLst/>
            <a:cxnLst/>
            <a:rect l="l" t="t" r="r" b="b"/>
            <a:pathLst>
              <a:path w="690929" h="256257">
                <a:moveTo>
                  <a:pt x="0" y="256257"/>
                </a:moveTo>
                <a:lnTo>
                  <a:pt x="210366" y="178220"/>
                </a:lnTo>
                <a:lnTo>
                  <a:pt x="473202" y="80740"/>
                </a:lnTo>
                <a:lnTo>
                  <a:pt x="690929"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13685" y="2191720"/>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46" name="Freeform 45"/>
          <p:cNvSpPr/>
          <p:nvPr/>
        </p:nvSpPr>
        <p:spPr>
          <a:xfrm>
            <a:off x="5489808" y="3302308"/>
            <a:ext cx="193462" cy="213558"/>
          </a:xfrm>
          <a:custGeom>
            <a:avLst/>
            <a:gdLst/>
            <a:ahLst/>
            <a:cxnLst/>
            <a:rect l="l" t="t" r="r" b="b"/>
            <a:pathLst>
              <a:path w="193462" h="213558">
                <a:moveTo>
                  <a:pt x="193462" y="213558"/>
                </a:moveTo>
                <a:lnTo>
                  <a:pt x="133860" y="147638"/>
                </a:lnTo>
                <a:lnTo>
                  <a:pt x="63184" y="69666"/>
                </a:lnTo>
                <a:lnTo>
                  <a:pt x="0" y="0"/>
                </a:lnTo>
              </a:path>
            </a:pathLst>
          </a:custGeom>
          <a:noFill/>
          <a:ln w="11430">
            <a:solidFill>
              <a:srgbClr val="76808B"/>
            </a:solidFill>
            <a:headEnd type="stealth" w="med" len="med"/>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69818"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serving</a:t>
            </a:r>
          </a:p>
        </p:txBody>
      </p:sp>
      <p:sp>
        <p:nvSpPr>
          <p:cNvPr id="48" name="Freeform 47"/>
          <p:cNvSpPr/>
          <p:nvPr/>
        </p:nvSpPr>
        <p:spPr>
          <a:xfrm>
            <a:off x="6023296" y="3296446"/>
            <a:ext cx="294102" cy="219420"/>
          </a:xfrm>
          <a:custGeom>
            <a:avLst/>
            <a:gdLst/>
            <a:ahLst/>
            <a:cxnLst/>
            <a:rect l="l" t="t" r="r" b="b"/>
            <a:pathLst>
              <a:path w="294102" h="219420">
                <a:moveTo>
                  <a:pt x="0" y="219420"/>
                </a:moveTo>
                <a:lnTo>
                  <a:pt x="90869" y="151643"/>
                </a:lnTo>
                <a:lnTo>
                  <a:pt x="198674" y="71132"/>
                </a:lnTo>
                <a:lnTo>
                  <a:pt x="294102" y="0"/>
                </a:lnTo>
              </a:path>
            </a:pathLst>
          </a:custGeom>
          <a:noFill/>
          <a:ln w="11430">
            <a:solidFill>
              <a:srgbClr val="76808B"/>
            </a:solidFill>
            <a:headEnd type="stealth" w="med" len="med"/>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9060" y="331715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serving</a:t>
            </a:r>
          </a:p>
        </p:txBody>
      </p:sp>
      <p:sp>
        <p:nvSpPr>
          <p:cNvPr id="50" name="TextBox 49"/>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Journey &amp; Account Mgmt Backend ⊃ Database (DBMS) + Journey &amp; Account Database (Artifact); the backend realizes the Data Storage Service serving JAMS &amp; FMS; the artifact realizes Tap Event, Go Card Account, Fare &amp; Zone and Digital Ticket data objects.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Perspective 4 — Self-service &amp; bank settlement</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4 Self-service</a:t>
            </a:r>
          </a:p>
        </p:txBody>
      </p:sp>
      <p:sp>
        <p:nvSpPr>
          <p:cNvPr id="14" name="Rounded Rectangle 13"/>
          <p:cNvSpPr/>
          <p:nvPr/>
        </p:nvSpPr>
        <p:spPr>
          <a:xfrm>
            <a:off x="3230997" y="3271283"/>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Application
Server</a:t>
            </a:r>
          </a:p>
        </p:txBody>
      </p:sp>
      <p:sp>
        <p:nvSpPr>
          <p:cNvPr id="15" name="Rounded Rectangle 14"/>
          <p:cNvSpPr/>
          <p:nvPr/>
        </p:nvSpPr>
        <p:spPr>
          <a:xfrm>
            <a:off x="2401908" y="2550021"/>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Website
Deployment</a:t>
            </a:r>
          </a:p>
        </p:txBody>
      </p:sp>
      <p:sp>
        <p:nvSpPr>
          <p:cNvPr id="16" name="Rounded Rectangle 15"/>
          <p:cNvSpPr/>
          <p:nvPr/>
        </p:nvSpPr>
        <p:spPr>
          <a:xfrm>
            <a:off x="2952686" y="1828800"/>
            <a:ext cx="960125" cy="396573"/>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ArchiTrain
Website</a:t>
            </a:r>
          </a:p>
        </p:txBody>
      </p:sp>
      <p:sp>
        <p:nvSpPr>
          <p:cNvPr id="17" name="Rounded Rectangle 16"/>
          <p:cNvSpPr/>
          <p:nvPr/>
        </p:nvSpPr>
        <p:spPr>
          <a:xfrm>
            <a:off x="3862968" y="3992546"/>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Private Network</a:t>
            </a:r>
          </a:p>
        </p:txBody>
      </p:sp>
      <p:sp>
        <p:nvSpPr>
          <p:cNvPr id="18" name="Rounded Rectangle 17"/>
          <p:cNvSpPr/>
          <p:nvPr/>
        </p:nvSpPr>
        <p:spPr>
          <a:xfrm>
            <a:off x="4506544" y="3271283"/>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Journey &amp; Account
Mgmt Backend</a:t>
            </a:r>
          </a:p>
        </p:txBody>
      </p:sp>
      <p:sp>
        <p:nvSpPr>
          <p:cNvPr id="19" name="Rounded Rectangle 18"/>
          <p:cNvSpPr/>
          <p:nvPr/>
        </p:nvSpPr>
        <p:spPr>
          <a:xfrm>
            <a:off x="5782049" y="3271283"/>
            <a:ext cx="960125" cy="396573"/>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Bank Payment
Service (ext)</a:t>
            </a:r>
          </a:p>
        </p:txBody>
      </p:sp>
      <p:sp>
        <p:nvSpPr>
          <p:cNvPr id="20" name="Rounded Rectangle 19"/>
          <p:cNvSpPr/>
          <p:nvPr/>
        </p:nvSpPr>
        <p:spPr>
          <a:xfrm>
            <a:off x="5335633" y="2550021"/>
            <a:ext cx="960125" cy="396573"/>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 rIns="12700" tIns="0" bIns="0"/>
          <a:lstStyle/>
          <a:p>
            <a:pPr algn="ctr">
              <a:lnSpc>
                <a:spcPct val="92000"/>
              </a:lnSpc>
              <a:spcAft>
                <a:spcPts val="300"/>
              </a:spcAft>
            </a:pPr>
            <a:r>
              <a:rPr sz="850" b="0">
                <a:solidFill>
                  <a:srgbClr val="22262B"/>
                </a:solidFill>
                <a:latin typeface="Arial"/>
              </a:rPr>
              <a:t>Fare Management
System</a:t>
            </a:r>
          </a:p>
        </p:txBody>
      </p:sp>
      <p:sp>
        <p:nvSpPr>
          <p:cNvPr id="2" name="Freeform 1"/>
          <p:cNvSpPr/>
          <p:nvPr/>
        </p:nvSpPr>
        <p:spPr>
          <a:xfrm>
            <a:off x="3158946" y="2991219"/>
            <a:ext cx="325566" cy="278645"/>
          </a:xfrm>
          <a:custGeom>
            <a:avLst/>
            <a:gdLst/>
            <a:ahLst/>
            <a:cxnLst/>
            <a:rect l="l" t="t" r="r" b="b"/>
            <a:pathLst>
              <a:path w="325566" h="278645">
                <a:moveTo>
                  <a:pt x="325566" y="278645"/>
                </a:moveTo>
                <a:lnTo>
                  <a:pt x="225045" y="192609"/>
                </a:lnTo>
                <a:lnTo>
                  <a:pt x="105780" y="90502"/>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4866" y="303578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comp</a:t>
            </a:r>
          </a:p>
        </p:txBody>
      </p:sp>
      <p:sp>
        <p:nvSpPr>
          <p:cNvPr id="22" name="Freeform 21"/>
          <p:cNvSpPr/>
          <p:nvPr/>
        </p:nvSpPr>
        <p:spPr>
          <a:xfrm>
            <a:off x="3483009" y="2291246"/>
            <a:ext cx="190230" cy="978075"/>
          </a:xfrm>
          <a:custGeom>
            <a:avLst/>
            <a:gdLst/>
            <a:ahLst/>
            <a:cxnLst/>
            <a:rect l="l" t="t" r="r" b="b"/>
            <a:pathLst>
              <a:path w="190230" h="978075">
                <a:moveTo>
                  <a:pt x="190230" y="978075"/>
                </a:moveTo>
                <a:lnTo>
                  <a:pt x="140971" y="724811"/>
                </a:lnTo>
                <a:lnTo>
                  <a:pt x="54727" y="281317"/>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05177" y="2675155"/>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24" name="Freeform 23"/>
          <p:cNvSpPr/>
          <p:nvPr/>
        </p:nvSpPr>
        <p:spPr>
          <a:xfrm>
            <a:off x="3032460" y="2277387"/>
            <a:ext cx="210517" cy="271214"/>
          </a:xfrm>
          <a:custGeom>
            <a:avLst/>
            <a:gdLst/>
            <a:ahLst/>
            <a:cxnLst/>
            <a:rect l="l" t="t" r="r" b="b"/>
            <a:pathLst>
              <a:path w="210517" h="271214">
                <a:moveTo>
                  <a:pt x="0" y="271214"/>
                </a:moveTo>
                <a:lnTo>
                  <a:pt x="64996" y="187516"/>
                </a:lnTo>
                <a:lnTo>
                  <a:pt x="141722" y="88665"/>
                </a:lnTo>
                <a:lnTo>
                  <a:pt x="210517"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33463" y="2314566"/>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real</a:t>
            </a:r>
          </a:p>
        </p:txBody>
      </p:sp>
      <p:sp>
        <p:nvSpPr>
          <p:cNvPr id="26" name="Freeform 25"/>
          <p:cNvSpPr/>
          <p:nvPr/>
        </p:nvSpPr>
        <p:spPr>
          <a:xfrm>
            <a:off x="3926587" y="3717408"/>
            <a:ext cx="243746" cy="273710"/>
          </a:xfrm>
          <a:custGeom>
            <a:avLst/>
            <a:gdLst/>
            <a:ahLst/>
            <a:cxnLst/>
            <a:rect l="l" t="t" r="r" b="b"/>
            <a:pathLst>
              <a:path w="243746" h="273710">
                <a:moveTo>
                  <a:pt x="243746" y="273710"/>
                </a:moveTo>
                <a:lnTo>
                  <a:pt x="168522" y="189228"/>
                </a:lnTo>
                <a:lnTo>
                  <a:pt x="79523" y="89291"/>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33852" y="375704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28" name="Freeform 27"/>
          <p:cNvSpPr/>
          <p:nvPr/>
        </p:nvSpPr>
        <p:spPr>
          <a:xfrm>
            <a:off x="4518900" y="3717408"/>
            <a:ext cx="248214" cy="273710"/>
          </a:xfrm>
          <a:custGeom>
            <a:avLst/>
            <a:gdLst/>
            <a:ahLst/>
            <a:cxnLst/>
            <a:rect l="l" t="t" r="r" b="b"/>
            <a:pathLst>
              <a:path w="248214" h="273710">
                <a:moveTo>
                  <a:pt x="0" y="273710"/>
                </a:moveTo>
                <a:lnTo>
                  <a:pt x="76602" y="189228"/>
                </a:lnTo>
                <a:lnTo>
                  <a:pt x="167229" y="89291"/>
                </a:lnTo>
                <a:lnTo>
                  <a:pt x="248214"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71959" y="3757049"/>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assoc</a:t>
            </a:r>
          </a:p>
        </p:txBody>
      </p:sp>
      <p:sp>
        <p:nvSpPr>
          <p:cNvPr id="30" name="Freeform 29"/>
          <p:cNvSpPr/>
          <p:nvPr/>
        </p:nvSpPr>
        <p:spPr>
          <a:xfrm>
            <a:off x="5213154" y="2991219"/>
            <a:ext cx="325566" cy="278645"/>
          </a:xfrm>
          <a:custGeom>
            <a:avLst/>
            <a:gdLst/>
            <a:ahLst/>
            <a:cxnLst/>
            <a:rect l="l" t="t" r="r" b="b"/>
            <a:pathLst>
              <a:path w="325566" h="278645">
                <a:moveTo>
                  <a:pt x="0" y="278645"/>
                </a:moveTo>
                <a:lnTo>
                  <a:pt x="100521" y="192609"/>
                </a:lnTo>
                <a:lnTo>
                  <a:pt x="219786" y="90502"/>
                </a:lnTo>
                <a:lnTo>
                  <a:pt x="325566"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22527" y="303578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assign</a:t>
            </a:r>
          </a:p>
        </p:txBody>
      </p:sp>
      <p:sp>
        <p:nvSpPr>
          <p:cNvPr id="32" name="Freeform 31"/>
          <p:cNvSpPr/>
          <p:nvPr/>
        </p:nvSpPr>
        <p:spPr>
          <a:xfrm>
            <a:off x="5972655" y="3003617"/>
            <a:ext cx="167479" cy="266247"/>
          </a:xfrm>
          <a:custGeom>
            <a:avLst/>
            <a:gdLst/>
            <a:ahLst/>
            <a:cxnLst/>
            <a:rect l="l" t="t" r="r" b="b"/>
            <a:pathLst>
              <a:path w="167479" h="266247">
                <a:moveTo>
                  <a:pt x="167479" y="266247"/>
                </a:moveTo>
                <a:lnTo>
                  <a:pt x="115800" y="184094"/>
                </a:lnTo>
                <a:lnTo>
                  <a:pt x="54936" y="87371"/>
                </a:lnTo>
                <a:lnTo>
                  <a:pt x="0" y="0"/>
                </a:lnTo>
              </a:path>
            </a:pathLst>
          </a:custGeom>
          <a:noFill/>
          <a:ln w="11430">
            <a:solidFill>
              <a:srgbClr val="76808B"/>
            </a:solidFill>
            <a:headEnd type="stealth" w="med" len="med"/>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59674" y="3035787"/>
            <a:ext cx="585216" cy="146304"/>
          </a:xfrm>
          <a:prstGeom prst="rect">
            <a:avLst/>
          </a:prstGeom>
          <a:solidFill>
            <a:srgbClr val="FFFFFF"/>
          </a:solidFill>
          <a:ln>
            <a:noFill/>
          </a:ln>
          <a:effectLst/>
        </p:spPr>
        <p:txBody>
          <a:bodyPr wrap="none" lIns="0" rIns="0" tIns="0" bIns="0">
            <a:spAutoFit/>
          </a:bodyPr>
          <a:lstStyle/>
          <a:p>
            <a:pPr algn="ctr">
              <a:spcAft>
                <a:spcPts val="300"/>
              </a:spcAft>
            </a:pPr>
            <a:r>
              <a:rPr sz="700" b="0">
                <a:solidFill>
                  <a:srgbClr val="6A727C"/>
                </a:solidFill>
                <a:latin typeface="Arial"/>
              </a:rPr>
              <a:t>serving</a:t>
            </a:r>
          </a:p>
        </p:txBody>
      </p:sp>
      <p:sp>
        <p:nvSpPr>
          <p:cNvPr id="34" name="TextBox 33"/>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Application Server ⊃ Website Deployment → realizes the ArchiTrain Website; the app server reads Go Card balances over the Private Network; Bank Payment Service (external) serves the Fare Management System for settlement.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Reflection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Reflection</a:t>
            </a:r>
          </a:p>
        </p:txBody>
      </p:sp>
      <p:sp>
        <p:nvSpPr>
          <p:cNvPr id="4" name="Rounded Rectangle 3"/>
          <p:cNvSpPr/>
          <p:nvPr/>
        </p:nvSpPr>
        <p:spPr>
          <a:xfrm>
            <a:off x="502920" y="1481328"/>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81328"/>
            <a:ext cx="64008" cy="1234440"/>
          </a:xfrm>
          <a:prstGeom prst="rect">
            <a:avLst/>
          </a:prstGeom>
          <a:solidFill>
            <a:srgbClr val="7FA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9344"/>
            <a:ext cx="3657599" cy="365760"/>
          </a:xfrm>
          <a:prstGeom prst="rect">
            <a:avLst/>
          </a:prstGeom>
          <a:noFill/>
        </p:spPr>
        <p:txBody>
          <a:bodyPr wrap="square">
            <a:spAutoFit/>
          </a:bodyPr>
          <a:lstStyle/>
          <a:p>
            <a:pPr algn="l">
              <a:spcAft>
                <a:spcPts val="300"/>
              </a:spcAft>
            </a:pPr>
            <a:r>
              <a:rPr sz="1250" b="1">
                <a:solidFill>
                  <a:srgbClr val="072A4A"/>
                </a:solidFill>
                <a:latin typeface="Arial"/>
              </a:rPr>
              <a:t>Business value</a:t>
            </a:r>
          </a:p>
        </p:txBody>
      </p:sp>
      <p:sp>
        <p:nvSpPr>
          <p:cNvPr id="7" name="TextBox 6"/>
          <p:cNvSpPr txBox="1"/>
          <p:nvPr/>
        </p:nvSpPr>
        <p:spPr>
          <a:xfrm>
            <a:off x="685800" y="2029968"/>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
        <p:nvSpPr>
          <p:cNvPr id="8" name="Rounded Rectangle 7"/>
          <p:cNvSpPr/>
          <p:nvPr/>
        </p:nvSpPr>
        <p:spPr>
          <a:xfrm>
            <a:off x="4709159" y="1481328"/>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09159" y="1481328"/>
            <a:ext cx="64008" cy="123444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1609344"/>
            <a:ext cx="3657599" cy="365760"/>
          </a:xfrm>
          <a:prstGeom prst="rect">
            <a:avLst/>
          </a:prstGeom>
          <a:noFill/>
        </p:spPr>
        <p:txBody>
          <a:bodyPr wrap="square">
            <a:spAutoFit/>
          </a:bodyPr>
          <a:lstStyle/>
          <a:p>
            <a:pPr algn="l">
              <a:spcAft>
                <a:spcPts val="300"/>
              </a:spcAft>
            </a:pPr>
            <a:r>
              <a:rPr sz="1250" b="1">
                <a:solidFill>
                  <a:srgbClr val="072A4A"/>
                </a:solidFill>
                <a:latin typeface="Arial"/>
              </a:rPr>
              <a:t>Limitations</a:t>
            </a:r>
          </a:p>
        </p:txBody>
      </p:sp>
      <p:sp>
        <p:nvSpPr>
          <p:cNvPr id="11" name="TextBox 10"/>
          <p:cNvSpPr txBox="1"/>
          <p:nvPr/>
        </p:nvSpPr>
        <p:spPr>
          <a:xfrm>
            <a:off x="4892040" y="2029968"/>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
        <p:nvSpPr>
          <p:cNvPr id="12" name="Rounded Rectangle 11"/>
          <p:cNvSpPr/>
          <p:nvPr/>
        </p:nvSpPr>
        <p:spPr>
          <a:xfrm>
            <a:off x="502920" y="2880360"/>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880360"/>
            <a:ext cx="64008" cy="12344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08376"/>
            <a:ext cx="3657599" cy="365760"/>
          </a:xfrm>
          <a:prstGeom prst="rect">
            <a:avLst/>
          </a:prstGeom>
          <a:noFill/>
        </p:spPr>
        <p:txBody>
          <a:bodyPr wrap="square">
            <a:spAutoFit/>
          </a:bodyPr>
          <a:lstStyle/>
          <a:p>
            <a:pPr algn="l">
              <a:spcAft>
                <a:spcPts val="300"/>
              </a:spcAft>
            </a:pPr>
            <a:r>
              <a:rPr sz="1250" b="1">
                <a:solidFill>
                  <a:srgbClr val="072A4A"/>
                </a:solidFill>
                <a:latin typeface="Arial"/>
              </a:rPr>
              <a:t>Missing information</a:t>
            </a:r>
          </a:p>
        </p:txBody>
      </p:sp>
      <p:sp>
        <p:nvSpPr>
          <p:cNvPr id="15" name="TextBox 14"/>
          <p:cNvSpPr txBox="1"/>
          <p:nvPr/>
        </p:nvSpPr>
        <p:spPr>
          <a:xfrm>
            <a:off x="685800" y="3429000"/>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
        <p:nvSpPr>
          <p:cNvPr id="16" name="Rounded Rectangle 15"/>
          <p:cNvSpPr/>
          <p:nvPr/>
        </p:nvSpPr>
        <p:spPr>
          <a:xfrm>
            <a:off x="4709159" y="2880360"/>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09159" y="2880360"/>
            <a:ext cx="64008" cy="1234440"/>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92040" y="3008376"/>
            <a:ext cx="3657599" cy="365760"/>
          </a:xfrm>
          <a:prstGeom prst="rect">
            <a:avLst/>
          </a:prstGeom>
          <a:noFill/>
        </p:spPr>
        <p:txBody>
          <a:bodyPr wrap="square">
            <a:spAutoFit/>
          </a:bodyPr>
          <a:lstStyle/>
          <a:p>
            <a:pPr algn="l">
              <a:spcAft>
                <a:spcPts val="300"/>
              </a:spcAft>
            </a:pPr>
            <a:r>
              <a:rPr sz="1250" b="1">
                <a:solidFill>
                  <a:srgbClr val="072A4A"/>
                </a:solidFill>
                <a:latin typeface="Arial"/>
              </a:rPr>
              <a:t>Modeling challenges</a:t>
            </a:r>
          </a:p>
        </p:txBody>
      </p:sp>
      <p:sp>
        <p:nvSpPr>
          <p:cNvPr id="19" name="TextBox 18"/>
          <p:cNvSpPr txBox="1"/>
          <p:nvPr/>
        </p:nvSpPr>
        <p:spPr>
          <a:xfrm>
            <a:off x="4892040" y="3429000"/>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a:solidFill>
                  <a:srgbClr val="000000"/>
                </a:solidFill>
                <a:latin typeface="Arial"/>
              </a:rPr>
              <a:t>Conclusion</a:t>
            </a:r>
          </a:p>
        </p:txBody>
      </p:sp>
      <p:sp>
        <p:nvSpPr>
          <p:cNvPr id="4" name="TextBox 3"/>
          <p:cNvSpPr txBox="1"/>
          <p:nvPr/>
        </p:nvSpPr>
        <p:spPr>
          <a:xfrm>
            <a:off x="548640" y="1508760"/>
            <a:ext cx="8046720" cy="2011680"/>
          </a:xfrm>
          <a:prstGeom prst="rect">
            <a:avLst/>
          </a:prstGeom>
          <a:noFill/>
        </p:spPr>
        <p:txBody>
          <a:bodyPr wrap="square">
            <a:spAutoFit/>
          </a:bodyPr>
          <a:lstStyle/>
          <a:p>
            <a:pPr algn="l">
              <a:spcAft>
                <a:spcPts val="1000"/>
              </a:spcAft>
            </a:pPr>
            <a:r>
              <a:rPr sz="1200" b="0">
                <a:solidFill>
                  <a:srgbClr val="262A30"/>
                </a:solidFill>
                <a:latin typeface="Arial"/>
              </a:rPr>
              <a:t>• The abstract model covers the whole enterprise (F1 + F2 + F3) with structure and behaviour</a:t>
            </a:r>
          </a:p>
          <a:p>
            <a:pPr algn="l">
              <a:spcAft>
                <a:spcPts val="1000"/>
              </a:spcAft>
            </a:pPr>
            <a:r>
              <a:rPr sz="1200" b="0">
                <a:solidFill>
                  <a:srgbClr val="262A30"/>
                </a:solidFill>
                <a:latin typeface="Arial"/>
              </a:rPr>
              <a:t>• The F1 detailed model is developed across business, application and technology — communication explicitly modelled</a:t>
            </a:r>
          </a:p>
          <a:p>
            <a:pPr algn="l">
              <a:spcAft>
                <a:spcPts val="1000"/>
              </a:spcAft>
            </a:pPr>
            <a:r>
              <a:rPr sz="1200" b="0">
                <a:solidFill>
                  <a:srgbClr val="262A30"/>
                </a:solidFill>
                <a:latin typeface="Arial"/>
              </a:rPr>
              <a:t>• The vertical chain Node → Component → App Service → Business Process → Business Service → Passenger is derivable</a:t>
            </a:r>
          </a:p>
        </p:txBody>
      </p:sp>
      <p:sp>
        <p:nvSpPr>
          <p:cNvPr id="5" name="Rectangle 4"/>
          <p:cNvSpPr/>
          <p:nvPr/>
        </p:nvSpPr>
        <p:spPr>
          <a:xfrm>
            <a:off x="548640" y="3840480"/>
            <a:ext cx="8046720" cy="7315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986784"/>
            <a:ext cx="7498079" cy="457200"/>
          </a:xfrm>
          <a:prstGeom prst="rect">
            <a:avLst/>
          </a:prstGeom>
          <a:noFill/>
        </p:spPr>
        <p:txBody>
          <a:bodyPr wrap="square">
            <a:spAutoFit/>
          </a:bodyPr>
          <a:lstStyle/>
          <a:p>
            <a:pPr algn="l">
              <a:spcAft>
                <a:spcPts val="300"/>
              </a:spcAft>
            </a:pPr>
            <a:r>
              <a:rPr sz="1500" b="1">
                <a:solidFill>
                  <a:srgbClr val="FFFFFF"/>
                </a:solidFill>
                <a:latin typeface="Arial"/>
              </a:rPr>
              <a:t>Thank you — questions &amp; discussion welcome.</a:t>
            </a:r>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1058</Words>
  <Application>Microsoft Office PowerPoint</Application>
  <PresentationFormat>Bildschirmpräsentation (16:9)</PresentationFormat>
  <Paragraphs>153</Paragraphs>
  <Slides>22</Slides>
  <Notes>3</Notes>
  <HiddenSlides>0</HiddenSlides>
  <MMClips>0</MMClips>
  <ScaleCrop>false</ScaleCrop>
  <HeadingPairs>
    <vt:vector size="6" baseType="variant">
      <vt:variant>
        <vt:lpstr>Verwendete Schriftarten</vt:lpstr>
      </vt:variant>
      <vt:variant>
        <vt:i4>5</vt:i4>
      </vt:variant>
      <vt:variant>
        <vt:lpstr>Design</vt:lpstr>
      </vt:variant>
      <vt:variant>
        <vt:i4>6</vt:i4>
      </vt:variant>
      <vt:variant>
        <vt:lpstr>Folientitel</vt:lpstr>
      </vt:variant>
      <vt:variant>
        <vt:i4>22</vt:i4>
      </vt:variant>
    </vt:vector>
  </HeadingPairs>
  <TitlesOfParts>
    <vt:vector size="33" baseType="lpstr">
      <vt:lpstr>Arial</vt:lpstr>
      <vt:lpstr>Calibri</vt:lpstr>
      <vt:lpstr>Courier New</vt:lpstr>
      <vt:lpstr>Symbol</vt:lpstr>
      <vt:lpstr>Wingdings</vt:lpstr>
      <vt:lpstr>Titel 1</vt:lpstr>
      <vt:lpstr>Titel 2</vt:lpstr>
      <vt:lpstr>Titel 3</vt:lpstr>
      <vt:lpstr>Inhalt</vt:lpstr>
      <vt:lpstr>Kapiteltrenner blau</vt:lpstr>
      <vt:lpstr>Kapiteltrenner schwarz</vt:lpstr>
      <vt:lpstr>PowerPoint-Präsentation</vt:lpstr>
      <vt:lpstr>PowerPoint-Präsentation</vt:lpstr>
      <vt:lpstr>PowerPoint-Präsentation</vt:lpstr>
      <vt:lpstr>Gültigkeit der Masterfolien</vt:lpstr>
      <vt:lpstr>Grundlage der Masterfolien</vt:lpstr>
      <vt:lpstr>Hier steht eine Überschrift max. 2-zeilig</vt:lpstr>
      <vt:lpstr>Schrift</vt:lpstr>
      <vt:lpstr>Farben</vt:lpstr>
      <vt:lpstr>Texte</vt:lpstr>
      <vt:lpstr>Bilder - Allgemein</vt:lpstr>
      <vt:lpstr>Aufzählung</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TUM ZIT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Bothe, Sonja</dc:creator>
  <cp:lastModifiedBy>Bothe, Sonja</cp:lastModifiedBy>
  <cp:revision>1</cp:revision>
  <cp:lastPrinted>2015-07-30T14:04:45Z</cp:lastPrinted>
  <dcterms:created xsi:type="dcterms:W3CDTF">2021-10-05T07:45:50Z</dcterms:created>
  <dcterms:modified xsi:type="dcterms:W3CDTF">2021-10-05T07:47:12Z</dcterms:modified>
</cp:coreProperties>
</file>