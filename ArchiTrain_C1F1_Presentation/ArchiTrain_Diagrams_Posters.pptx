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724070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Access Control
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995753" y="985659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Journey &amp; Account
Mgmt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759839" y="985659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Fare Management
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50618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ArchiTrain
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59839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Bank Payment
Service (ext)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56901" y="200701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Tap Event
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08370" y="200701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Go Card
Account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59839" y="200701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Fare &amp; Zone
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09946" y="200701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Digital 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6151" y="18772240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Station
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96473" y="1615580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Journey &amp; Account
Mgmt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95890" y="18772240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Application
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6151" y="1615580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Station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98048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NFC Reader
(embedded)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5791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Platform
NFC Reader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49245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Go 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00714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Mobile Wallet /
Bank 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761161" y="11697981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Database (DBMS)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6852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Gate Firmware /
Access Ctrl 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98048" y="985659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NFC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808370" y="1353923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Data Storage
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5791" y="985659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NFC Proximity
Comm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761161" y="7240702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Store Journey
&amp; Account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6852" y="985659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NFC Handshake
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773896" y="4623178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Journey &amp; Account
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63235" y="1615580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Website
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83856" y="21388676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Private Network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330549" y="16155804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NFC Handshake
(Path)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01813" y="18772240"/>
            <a:ext cx="3130684" cy="129310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935" b="0">
                <a:solidFill>
                  <a:srgbClr val="22262B"/>
                </a:solidFill>
                <a:latin typeface="Arial"/>
              </a:rPr>
              <a:t>Gate-Backend
Link (Path)</a:t>
            </a:r>
          </a:p>
        </p:txBody>
      </p:sp>
      <p:sp>
        <p:nvSpPr>
          <p:cNvPr id="31" name="Freeform 30"/>
          <p:cNvSpPr/>
          <p:nvPr/>
        </p:nvSpPr>
        <p:spPr>
          <a:xfrm>
            <a:off x="32325181" y="11369668"/>
            <a:ext cx="0" cy="2162350"/>
          </a:xfrm>
          <a:custGeom>
            <a:avLst/>
            <a:gdLst/>
            <a:ahLst/>
            <a:cxnLst/>
            <a:rect l="l" t="t" r="r" b="b"/>
            <a:pathLst>
              <a:path w="0" h="2162350">
                <a:moveTo>
                  <a:pt x="0" y="2162350"/>
                </a:moveTo>
                <a:lnTo>
                  <a:pt x="0" y="1563164"/>
                </a:lnTo>
                <a:lnTo>
                  <a:pt x="0" y="66057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10420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33" name="Freeform 32"/>
          <p:cNvSpPr/>
          <p:nvPr/>
        </p:nvSpPr>
        <p:spPr>
          <a:xfrm>
            <a:off x="10451494" y="17669695"/>
            <a:ext cx="0" cy="1099414"/>
          </a:xfrm>
          <a:custGeom>
            <a:avLst/>
            <a:gdLst/>
            <a:ahLst/>
            <a:cxnLst/>
            <a:rect l="l" t="t" r="r" b="b"/>
            <a:pathLst>
              <a:path w="0" h="1099414">
                <a:moveTo>
                  <a:pt x="0" y="1099414"/>
                </a:moveTo>
                <a:lnTo>
                  <a:pt x="0" y="768379"/>
                </a:lnTo>
                <a:lnTo>
                  <a:pt x="0" y="35839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9555" y="1788197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5" name="Freeform 34"/>
          <p:cNvSpPr/>
          <p:nvPr/>
        </p:nvSpPr>
        <p:spPr>
          <a:xfrm>
            <a:off x="5494395" y="14992278"/>
            <a:ext cx="4105008" cy="3772067"/>
          </a:xfrm>
          <a:custGeom>
            <a:avLst/>
            <a:gdLst/>
            <a:ahLst/>
            <a:cxnLst/>
            <a:rect l="l" t="t" r="r" b="b"/>
            <a:pathLst>
              <a:path w="4105008" h="3772067">
                <a:moveTo>
                  <a:pt x="4105008" y="3772067"/>
                </a:moveTo>
                <a:lnTo>
                  <a:pt x="3621385" y="3401694"/>
                </a:lnTo>
                <a:lnTo>
                  <a:pt x="3011446" y="2917935"/>
                </a:lnTo>
                <a:lnTo>
                  <a:pt x="2494747" y="2456635"/>
                </a:lnTo>
                <a:lnTo>
                  <a:pt x="1600460" y="1657902"/>
                </a:lnTo>
                <a:lnTo>
                  <a:pt x="638795" y="67364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97203" y="1657375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7" name="Freeform 36"/>
          <p:cNvSpPr/>
          <p:nvPr/>
        </p:nvSpPr>
        <p:spPr>
          <a:xfrm>
            <a:off x="25590125" y="11326791"/>
            <a:ext cx="1351639" cy="4824113"/>
          </a:xfrm>
          <a:custGeom>
            <a:avLst/>
            <a:gdLst/>
            <a:ahLst/>
            <a:cxnLst/>
            <a:rect l="l" t="t" r="r" b="b"/>
            <a:pathLst>
              <a:path w="1351639" h="4824113">
                <a:moveTo>
                  <a:pt x="372960" y="4824113"/>
                </a:moveTo>
                <a:lnTo>
                  <a:pt x="196008" y="4162450"/>
                </a:lnTo>
                <a:lnTo>
                  <a:pt x="0" y="3098697"/>
                </a:lnTo>
                <a:lnTo>
                  <a:pt x="235482" y="2212441"/>
                </a:lnTo>
                <a:lnTo>
                  <a:pt x="453269" y="1400369"/>
                </a:lnTo>
                <a:lnTo>
                  <a:pt x="946011" y="579993"/>
                </a:lnTo>
                <a:lnTo>
                  <a:pt x="1351639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817" y="1395718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39" name="Freeform 38"/>
          <p:cNvSpPr/>
          <p:nvPr/>
        </p:nvSpPr>
        <p:spPr>
          <a:xfrm>
            <a:off x="27733964" y="11310865"/>
            <a:ext cx="7414278" cy="5323117"/>
          </a:xfrm>
          <a:custGeom>
            <a:avLst/>
            <a:gdLst/>
            <a:ahLst/>
            <a:cxnLst/>
            <a:rect l="l" t="t" r="r" b="b"/>
            <a:pathLst>
              <a:path w="7414278" h="5323117">
                <a:moveTo>
                  <a:pt x="0" y="5323117"/>
                </a:moveTo>
                <a:lnTo>
                  <a:pt x="2128865" y="5084505"/>
                </a:lnTo>
                <a:lnTo>
                  <a:pt x="5756377" y="4537315"/>
                </a:lnTo>
                <a:lnTo>
                  <a:pt x="6556743" y="3521476"/>
                </a:lnTo>
                <a:lnTo>
                  <a:pt x="7414278" y="2434720"/>
                </a:lnTo>
                <a:lnTo>
                  <a:pt x="6295399" y="914432"/>
                </a:lnTo>
                <a:lnTo>
                  <a:pt x="5426974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48179" y="1395718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41" name="Freeform 40"/>
          <p:cNvSpPr/>
          <p:nvPr/>
        </p:nvSpPr>
        <p:spPr>
          <a:xfrm>
            <a:off x="23414980" y="13203841"/>
            <a:ext cx="1467338" cy="2942843"/>
          </a:xfrm>
          <a:custGeom>
            <a:avLst/>
            <a:gdLst/>
            <a:ahLst/>
            <a:cxnLst/>
            <a:rect l="l" t="t" r="r" b="b"/>
            <a:pathLst>
              <a:path w="1467338" h="2942843">
                <a:moveTo>
                  <a:pt x="1467338" y="2942843"/>
                </a:moveTo>
                <a:lnTo>
                  <a:pt x="1250912" y="2790120"/>
                </a:lnTo>
                <a:lnTo>
                  <a:pt x="1046737" y="2610310"/>
                </a:lnTo>
                <a:lnTo>
                  <a:pt x="888842" y="2403685"/>
                </a:lnTo>
                <a:lnTo>
                  <a:pt x="353903" y="1699009"/>
                </a:lnTo>
                <a:lnTo>
                  <a:pt x="110254" y="70222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912836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43" name="Freeform 42"/>
          <p:cNvSpPr/>
          <p:nvPr/>
        </p:nvSpPr>
        <p:spPr>
          <a:xfrm>
            <a:off x="26702199" y="15002895"/>
            <a:ext cx="986846" cy="1149642"/>
          </a:xfrm>
          <a:custGeom>
            <a:avLst/>
            <a:gdLst/>
            <a:ahLst/>
            <a:cxnLst/>
            <a:rect l="l" t="t" r="r" b="b"/>
            <a:pathLst>
              <a:path w="986846" h="1149642">
                <a:moveTo>
                  <a:pt x="0" y="1149642"/>
                </a:moveTo>
                <a:lnTo>
                  <a:pt x="298096" y="803225"/>
                </a:lnTo>
                <a:lnTo>
                  <a:pt x="669694" y="369830"/>
                </a:lnTo>
                <a:lnTo>
                  <a:pt x="986846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863846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45" name="Freeform 44"/>
          <p:cNvSpPr/>
          <p:nvPr/>
        </p:nvSpPr>
        <p:spPr>
          <a:xfrm>
            <a:off x="27732603" y="5582801"/>
            <a:ext cx="9601674" cy="11162933"/>
          </a:xfrm>
          <a:custGeom>
            <a:avLst/>
            <a:gdLst/>
            <a:ahLst/>
            <a:cxnLst/>
            <a:rect l="l" t="t" r="r" b="b"/>
            <a:pathLst>
              <a:path w="9601674" h="11162933">
                <a:moveTo>
                  <a:pt x="0" y="11162933"/>
                </a:moveTo>
                <a:lnTo>
                  <a:pt x="3077599" y="11046145"/>
                </a:lnTo>
                <a:lnTo>
                  <a:pt x="9601674" y="10569056"/>
                </a:lnTo>
                <a:lnTo>
                  <a:pt x="9601674" y="8621906"/>
                </a:lnTo>
                <a:lnTo>
                  <a:pt x="9601674" y="8621906"/>
                </a:lnTo>
                <a:lnTo>
                  <a:pt x="9601674" y="8621906"/>
                </a:lnTo>
                <a:lnTo>
                  <a:pt x="9601674" y="2285400"/>
                </a:lnTo>
                <a:lnTo>
                  <a:pt x="9601674" y="1174687"/>
                </a:lnTo>
                <a:lnTo>
                  <a:pt x="6458739" y="393377"/>
                </a:lnTo>
                <a:lnTo>
                  <a:pt x="4387042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943291" y="1027454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47" name="Freeform 46"/>
          <p:cNvSpPr/>
          <p:nvPr/>
        </p:nvSpPr>
        <p:spPr>
          <a:xfrm>
            <a:off x="38231286" y="14980981"/>
            <a:ext cx="1299915" cy="3785270"/>
          </a:xfrm>
          <a:custGeom>
            <a:avLst/>
            <a:gdLst/>
            <a:ahLst/>
            <a:cxnLst/>
            <a:rect l="l" t="t" r="r" b="b"/>
            <a:pathLst>
              <a:path w="1299915" h="3785270">
                <a:moveTo>
                  <a:pt x="4084" y="3785270"/>
                </a:moveTo>
                <a:lnTo>
                  <a:pt x="0" y="3108634"/>
                </a:lnTo>
                <a:lnTo>
                  <a:pt x="65337" y="2019564"/>
                </a:lnTo>
                <a:lnTo>
                  <a:pt x="450547" y="1174823"/>
                </a:lnTo>
                <a:lnTo>
                  <a:pt x="649277" y="738433"/>
                </a:lnTo>
                <a:lnTo>
                  <a:pt x="980041" y="329538"/>
                </a:lnTo>
                <a:lnTo>
                  <a:pt x="1299915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331682" y="1657375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49" name="Freeform 48"/>
          <p:cNvSpPr/>
          <p:nvPr/>
        </p:nvSpPr>
        <p:spPr>
          <a:xfrm>
            <a:off x="38986734" y="17594422"/>
            <a:ext cx="1351640" cy="1174687"/>
          </a:xfrm>
          <a:custGeom>
            <a:avLst/>
            <a:gdLst/>
            <a:ahLst/>
            <a:cxnLst/>
            <a:rect l="l" t="t" r="r" b="b"/>
            <a:pathLst>
              <a:path w="1351640" h="1174687">
                <a:moveTo>
                  <a:pt x="0" y="1174687"/>
                </a:moveTo>
                <a:lnTo>
                  <a:pt x="408351" y="820239"/>
                </a:lnTo>
                <a:lnTo>
                  <a:pt x="920150" y="375274"/>
                </a:lnTo>
                <a:lnTo>
                  <a:pt x="135164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442394" y="1788197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51" name="Freeform 50"/>
          <p:cNvSpPr/>
          <p:nvPr/>
        </p:nvSpPr>
        <p:spPr>
          <a:xfrm>
            <a:off x="1368533" y="8750237"/>
            <a:ext cx="7511629" cy="8157612"/>
          </a:xfrm>
          <a:custGeom>
            <a:avLst/>
            <a:gdLst/>
            <a:ahLst/>
            <a:cxnLst/>
            <a:rect l="l" t="t" r="r" b="b"/>
            <a:pathLst>
              <a:path w="7511629" h="8157612">
                <a:moveTo>
                  <a:pt x="7511629" y="7467092"/>
                </a:moveTo>
                <a:lnTo>
                  <a:pt x="7442346" y="7445586"/>
                </a:lnTo>
                <a:lnTo>
                  <a:pt x="7373471" y="7425032"/>
                </a:lnTo>
                <a:lnTo>
                  <a:pt x="7305957" y="7405567"/>
                </a:lnTo>
                <a:lnTo>
                  <a:pt x="4732126" y="6664139"/>
                </a:lnTo>
                <a:lnTo>
                  <a:pt x="3119414" y="8157612"/>
                </a:lnTo>
                <a:lnTo>
                  <a:pt x="1426394" y="6082104"/>
                </a:lnTo>
                <a:lnTo>
                  <a:pt x="0" y="4333412"/>
                </a:lnTo>
                <a:lnTo>
                  <a:pt x="593306" y="1427456"/>
                </a:lnTo>
                <a:lnTo>
                  <a:pt x="1012041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2504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53" name="Freeform 52"/>
          <p:cNvSpPr/>
          <p:nvPr/>
        </p:nvSpPr>
        <p:spPr>
          <a:xfrm>
            <a:off x="10468372" y="14969275"/>
            <a:ext cx="650638" cy="1177137"/>
          </a:xfrm>
          <a:custGeom>
            <a:avLst/>
            <a:gdLst/>
            <a:ahLst/>
            <a:cxnLst/>
            <a:rect l="l" t="t" r="r" b="b"/>
            <a:pathLst>
              <a:path w="650638" h="1177137">
                <a:moveTo>
                  <a:pt x="0" y="1177137"/>
                </a:moveTo>
                <a:lnTo>
                  <a:pt x="33349" y="920421"/>
                </a:lnTo>
                <a:lnTo>
                  <a:pt x="106852" y="633215"/>
                </a:lnTo>
                <a:lnTo>
                  <a:pt x="262025" y="411344"/>
                </a:lnTo>
                <a:lnTo>
                  <a:pt x="369149" y="258213"/>
                </a:lnTo>
                <a:lnTo>
                  <a:pt x="503224" y="121280"/>
                </a:lnTo>
                <a:lnTo>
                  <a:pt x="650638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8458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55" name="Freeform 54"/>
          <p:cNvSpPr/>
          <p:nvPr/>
        </p:nvSpPr>
        <p:spPr>
          <a:xfrm>
            <a:off x="8848583" y="15044956"/>
            <a:ext cx="706991" cy="1104315"/>
          </a:xfrm>
          <a:custGeom>
            <a:avLst/>
            <a:gdLst/>
            <a:ahLst/>
            <a:cxnLst/>
            <a:rect l="l" t="t" r="r" b="b"/>
            <a:pathLst>
              <a:path w="706991" h="1104315">
                <a:moveTo>
                  <a:pt x="706991" y="1104315"/>
                </a:moveTo>
                <a:lnTo>
                  <a:pt x="530583" y="944650"/>
                </a:lnTo>
                <a:lnTo>
                  <a:pt x="361662" y="761300"/>
                </a:lnTo>
                <a:lnTo>
                  <a:pt x="236979" y="562570"/>
                </a:lnTo>
                <a:lnTo>
                  <a:pt x="130808" y="393241"/>
                </a:lnTo>
                <a:lnTo>
                  <a:pt x="54583" y="19410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93623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57" name="Freeform 56"/>
          <p:cNvSpPr/>
          <p:nvPr/>
        </p:nvSpPr>
        <p:spPr>
          <a:xfrm>
            <a:off x="12663391" y="11369668"/>
            <a:ext cx="0" cy="2162350"/>
          </a:xfrm>
          <a:custGeom>
            <a:avLst/>
            <a:gdLst/>
            <a:ahLst/>
            <a:cxnLst/>
            <a:rect l="l" t="t" r="r" b="b"/>
            <a:pathLst>
              <a:path w="0" h="2162350">
                <a:moveTo>
                  <a:pt x="0" y="2162350"/>
                </a:moveTo>
                <a:lnTo>
                  <a:pt x="0" y="1563164"/>
                </a:lnTo>
                <a:lnTo>
                  <a:pt x="0" y="66057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71452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59" name="Freeform 58"/>
          <p:cNvSpPr/>
          <p:nvPr/>
        </p:nvSpPr>
        <p:spPr>
          <a:xfrm>
            <a:off x="6541268" y="11095120"/>
            <a:ext cx="5494625" cy="2437987"/>
          </a:xfrm>
          <a:custGeom>
            <a:avLst/>
            <a:gdLst/>
            <a:ahLst/>
            <a:cxnLst/>
            <a:rect l="l" t="t" r="r" b="b"/>
            <a:pathLst>
              <a:path w="5494625" h="2437987">
                <a:moveTo>
                  <a:pt x="5494625" y="2437987"/>
                </a:moveTo>
                <a:lnTo>
                  <a:pt x="4893397" y="1868475"/>
                </a:lnTo>
                <a:lnTo>
                  <a:pt x="3933638" y="1054633"/>
                </a:lnTo>
                <a:lnTo>
                  <a:pt x="2946111" y="602861"/>
                </a:lnTo>
                <a:lnTo>
                  <a:pt x="1816342" y="85890"/>
                </a:lnTo>
                <a:lnTo>
                  <a:pt x="1408128" y="364112"/>
                </a:lnTo>
                <a:lnTo>
                  <a:pt x="204856" y="54583"/>
                </a:lnTo>
                <a:lnTo>
                  <a:pt x="137478" y="37160"/>
                </a:lnTo>
                <a:lnTo>
                  <a:pt x="69012" y="1892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16682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61" name="Freeform 60"/>
          <p:cNvSpPr/>
          <p:nvPr/>
        </p:nvSpPr>
        <p:spPr>
          <a:xfrm>
            <a:off x="4761134" y="11369668"/>
            <a:ext cx="0" cy="2162350"/>
          </a:xfrm>
          <a:custGeom>
            <a:avLst/>
            <a:gdLst/>
            <a:ahLst/>
            <a:cxnLst/>
            <a:rect l="l" t="t" r="r" b="b"/>
            <a:pathLst>
              <a:path w="0" h="2162350">
                <a:moveTo>
                  <a:pt x="0" y="2162350"/>
                </a:moveTo>
                <a:lnTo>
                  <a:pt x="0" y="1563164"/>
                </a:lnTo>
                <a:lnTo>
                  <a:pt x="0" y="66057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1200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63" name="Freeform 62"/>
          <p:cNvSpPr/>
          <p:nvPr/>
        </p:nvSpPr>
        <p:spPr>
          <a:xfrm>
            <a:off x="23326504" y="8751598"/>
            <a:ext cx="0" cy="2940666"/>
          </a:xfrm>
          <a:custGeom>
            <a:avLst/>
            <a:gdLst/>
            <a:ahLst/>
            <a:cxnLst/>
            <a:rect l="l" t="t" r="r" b="b"/>
            <a:pathLst>
              <a:path w="0" h="2940666">
                <a:moveTo>
                  <a:pt x="0" y="2940666"/>
                </a:moveTo>
                <a:lnTo>
                  <a:pt x="0" y="2167795"/>
                </a:lnTo>
                <a:lnTo>
                  <a:pt x="0" y="85780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976352" y="1027454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65" name="Freeform 64"/>
          <p:cNvSpPr/>
          <p:nvPr/>
        </p:nvSpPr>
        <p:spPr>
          <a:xfrm>
            <a:off x="8712194" y="11369668"/>
            <a:ext cx="0" cy="2162350"/>
          </a:xfrm>
          <a:custGeom>
            <a:avLst/>
            <a:gdLst/>
            <a:ahLst/>
            <a:cxnLst/>
            <a:rect l="l" t="t" r="r" b="b"/>
            <a:pathLst>
              <a:path w="0" h="2162350">
                <a:moveTo>
                  <a:pt x="0" y="2162350"/>
                </a:moveTo>
                <a:lnTo>
                  <a:pt x="0" y="1563164"/>
                </a:lnTo>
                <a:lnTo>
                  <a:pt x="0" y="66057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2860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67" name="Freeform 66"/>
          <p:cNvSpPr/>
          <p:nvPr/>
        </p:nvSpPr>
        <p:spPr>
          <a:xfrm>
            <a:off x="27747575" y="11361092"/>
            <a:ext cx="484576" cy="2170926"/>
          </a:xfrm>
          <a:custGeom>
            <a:avLst/>
            <a:gdLst/>
            <a:ahLst/>
            <a:cxnLst/>
            <a:rect l="l" t="t" r="r" b="b"/>
            <a:pathLst>
              <a:path w="484576" h="2170926">
                <a:moveTo>
                  <a:pt x="484576" y="2170926"/>
                </a:moveTo>
                <a:lnTo>
                  <a:pt x="349820" y="1569154"/>
                </a:lnTo>
                <a:lnTo>
                  <a:pt x="147006" y="66125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796246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69" name="Freeform 68"/>
          <p:cNvSpPr/>
          <p:nvPr/>
        </p:nvSpPr>
        <p:spPr>
          <a:xfrm>
            <a:off x="29062463" y="11301609"/>
            <a:ext cx="2417433" cy="2230409"/>
          </a:xfrm>
          <a:custGeom>
            <a:avLst/>
            <a:gdLst/>
            <a:ahLst/>
            <a:cxnLst/>
            <a:rect l="l" t="t" r="r" b="b"/>
            <a:pathLst>
              <a:path w="2417433" h="2230409">
                <a:moveTo>
                  <a:pt x="0" y="2230409"/>
                </a:moveTo>
                <a:lnTo>
                  <a:pt x="671056" y="1610397"/>
                </a:lnTo>
                <a:lnTo>
                  <a:pt x="1696015" y="665475"/>
                </a:lnTo>
                <a:lnTo>
                  <a:pt x="2417433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732284" y="1211593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71" name="Freeform 70"/>
          <p:cNvSpPr/>
          <p:nvPr/>
        </p:nvSpPr>
        <p:spPr>
          <a:xfrm>
            <a:off x="3312171" y="8703957"/>
            <a:ext cx="935530" cy="1149506"/>
          </a:xfrm>
          <a:custGeom>
            <a:avLst/>
            <a:gdLst/>
            <a:ahLst/>
            <a:cxnLst/>
            <a:rect l="l" t="t" r="r" b="b"/>
            <a:pathLst>
              <a:path w="935530" h="1149506">
                <a:moveTo>
                  <a:pt x="935530" y="1149506"/>
                </a:moveTo>
                <a:lnTo>
                  <a:pt x="653633" y="802953"/>
                </a:lnTo>
                <a:lnTo>
                  <a:pt x="300954" y="36969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60751" y="896633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73" name="Freeform 72"/>
          <p:cNvSpPr/>
          <p:nvPr/>
        </p:nvSpPr>
        <p:spPr>
          <a:xfrm>
            <a:off x="24900013" y="5939426"/>
            <a:ext cx="3671069" cy="1350278"/>
          </a:xfrm>
          <a:custGeom>
            <a:avLst/>
            <a:gdLst/>
            <a:ahLst/>
            <a:cxnLst/>
            <a:rect l="l" t="t" r="r" b="b"/>
            <a:pathLst>
              <a:path w="3671069" h="1350278">
                <a:moveTo>
                  <a:pt x="0" y="1350278"/>
                </a:moveTo>
                <a:lnTo>
                  <a:pt x="1088934" y="948734"/>
                </a:lnTo>
                <a:lnTo>
                  <a:pt x="2541300" y="415156"/>
                </a:lnTo>
                <a:lnTo>
                  <a:pt x="3671069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arrow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715479" y="63492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access</a:t>
            </a:r>
          </a:p>
        </p:txBody>
      </p:sp>
      <p:sp>
        <p:nvSpPr>
          <p:cNvPr id="75" name="Freeform 74"/>
          <p:cNvSpPr/>
          <p:nvPr/>
        </p:nvSpPr>
        <p:spPr>
          <a:xfrm>
            <a:off x="10282709" y="8094154"/>
            <a:ext cx="11263388" cy="1869292"/>
          </a:xfrm>
          <a:custGeom>
            <a:avLst/>
            <a:gdLst/>
            <a:ahLst/>
            <a:cxnLst/>
            <a:rect l="l" t="t" r="r" b="b"/>
            <a:pathLst>
              <a:path w="11263388" h="1869292">
                <a:moveTo>
                  <a:pt x="0" y="1869292"/>
                </a:moveTo>
                <a:lnTo>
                  <a:pt x="139384" y="1830498"/>
                </a:lnTo>
                <a:lnTo>
                  <a:pt x="279039" y="1794155"/>
                </a:lnTo>
                <a:lnTo>
                  <a:pt x="414612" y="1762440"/>
                </a:lnTo>
                <a:lnTo>
                  <a:pt x="4234728" y="868425"/>
                </a:lnTo>
                <a:lnTo>
                  <a:pt x="8803758" y="279040"/>
                </a:lnTo>
                <a:lnTo>
                  <a:pt x="11263388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026813" y="896633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flow</a:t>
            </a:r>
          </a:p>
        </p:txBody>
      </p:sp>
      <p:sp>
        <p:nvSpPr>
          <p:cNvPr id="77" name="Freeform 76"/>
          <p:cNvSpPr/>
          <p:nvPr/>
        </p:nvSpPr>
        <p:spPr>
          <a:xfrm>
            <a:off x="26078784" y="3394043"/>
            <a:ext cx="2805366" cy="1223690"/>
          </a:xfrm>
          <a:custGeom>
            <a:avLst/>
            <a:gdLst/>
            <a:ahLst/>
            <a:cxnLst/>
            <a:rect l="l" t="t" r="r" b="b"/>
            <a:pathLst>
              <a:path w="2805366" h="1223690">
                <a:moveTo>
                  <a:pt x="2805366" y="1223690"/>
                </a:moveTo>
                <a:lnTo>
                  <a:pt x="1955998" y="853452"/>
                </a:lnTo>
                <a:lnTo>
                  <a:pt x="882037" y="38521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088439" y="373305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79" name="Freeform 78"/>
          <p:cNvSpPr/>
          <p:nvPr/>
        </p:nvSpPr>
        <p:spPr>
          <a:xfrm>
            <a:off x="28986238" y="3475714"/>
            <a:ext cx="872508" cy="1144741"/>
          </a:xfrm>
          <a:custGeom>
            <a:avLst/>
            <a:gdLst/>
            <a:ahLst/>
            <a:cxnLst/>
            <a:rect l="l" t="t" r="r" b="b"/>
            <a:pathLst>
              <a:path w="872508" h="1144741">
                <a:moveTo>
                  <a:pt x="872508" y="1144741"/>
                </a:moveTo>
                <a:lnTo>
                  <a:pt x="609803" y="800366"/>
                </a:lnTo>
                <a:lnTo>
                  <a:pt x="280400" y="36887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945071" y="373305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81" name="Freeform 80"/>
          <p:cNvSpPr/>
          <p:nvPr/>
        </p:nvSpPr>
        <p:spPr>
          <a:xfrm>
            <a:off x="30825175" y="3475714"/>
            <a:ext cx="880675" cy="1144741"/>
          </a:xfrm>
          <a:custGeom>
            <a:avLst/>
            <a:gdLst/>
            <a:ahLst/>
            <a:cxnLst/>
            <a:rect l="l" t="t" r="r" b="b"/>
            <a:pathLst>
              <a:path w="880675" h="1144741">
                <a:moveTo>
                  <a:pt x="0" y="1144741"/>
                </a:moveTo>
                <a:lnTo>
                  <a:pt x="265427" y="800366"/>
                </a:lnTo>
                <a:lnTo>
                  <a:pt x="597552" y="368876"/>
                </a:lnTo>
                <a:lnTo>
                  <a:pt x="880675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921486" y="373305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83" name="Freeform 82"/>
          <p:cNvSpPr/>
          <p:nvPr/>
        </p:nvSpPr>
        <p:spPr>
          <a:xfrm>
            <a:off x="31799771" y="3394043"/>
            <a:ext cx="2814894" cy="1223690"/>
          </a:xfrm>
          <a:custGeom>
            <a:avLst/>
            <a:gdLst/>
            <a:ahLst/>
            <a:cxnLst/>
            <a:rect l="l" t="t" r="r" b="b"/>
            <a:pathLst>
              <a:path w="2814894" h="1223690">
                <a:moveTo>
                  <a:pt x="0" y="1223690"/>
                </a:moveTo>
                <a:lnTo>
                  <a:pt x="852090" y="853452"/>
                </a:lnTo>
                <a:lnTo>
                  <a:pt x="1930135" y="385211"/>
                </a:lnTo>
                <a:lnTo>
                  <a:pt x="2814894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016323" y="373305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85" name="Freeform 84"/>
          <p:cNvSpPr/>
          <p:nvPr/>
        </p:nvSpPr>
        <p:spPr>
          <a:xfrm>
            <a:off x="40680027" y="15043186"/>
            <a:ext cx="349820" cy="1109351"/>
          </a:xfrm>
          <a:custGeom>
            <a:avLst/>
            <a:gdLst/>
            <a:ahLst/>
            <a:cxnLst/>
            <a:rect l="l" t="t" r="r" b="b"/>
            <a:pathLst>
              <a:path w="349820" h="1109351">
                <a:moveTo>
                  <a:pt x="349820" y="1109351"/>
                </a:moveTo>
                <a:lnTo>
                  <a:pt x="245010" y="775321"/>
                </a:lnTo>
                <a:lnTo>
                  <a:pt x="114338" y="36070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377516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87" name="Freeform 86"/>
          <p:cNvSpPr/>
          <p:nvPr/>
        </p:nvSpPr>
        <p:spPr>
          <a:xfrm>
            <a:off x="12229178" y="19745339"/>
            <a:ext cx="11546511" cy="1998683"/>
          </a:xfrm>
          <a:custGeom>
            <a:avLst/>
            <a:gdLst/>
            <a:ahLst/>
            <a:cxnLst/>
            <a:rect l="l" t="t" r="r" b="b"/>
            <a:pathLst>
              <a:path w="11546511" h="1998683">
                <a:moveTo>
                  <a:pt x="11546511" y="1998683"/>
                </a:moveTo>
                <a:lnTo>
                  <a:pt x="8750673" y="1514707"/>
                </a:lnTo>
                <a:lnTo>
                  <a:pt x="2935766" y="50826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968618" y="2049841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89" name="Freeform 88"/>
          <p:cNvSpPr/>
          <p:nvPr/>
        </p:nvSpPr>
        <p:spPr>
          <a:xfrm>
            <a:off x="25448564" y="17665883"/>
            <a:ext cx="581218" cy="3713415"/>
          </a:xfrm>
          <a:custGeom>
            <a:avLst/>
            <a:gdLst/>
            <a:ahLst/>
            <a:cxnLst/>
            <a:rect l="l" t="t" r="r" b="b"/>
            <a:pathLst>
              <a:path w="581218" h="3713415">
                <a:moveTo>
                  <a:pt x="0" y="3713415"/>
                </a:moveTo>
                <a:lnTo>
                  <a:pt x="145645" y="2780049"/>
                </a:lnTo>
                <a:lnTo>
                  <a:pt x="417878" y="1039115"/>
                </a:lnTo>
                <a:lnTo>
                  <a:pt x="581218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471372" y="1919019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91" name="Freeform 90"/>
          <p:cNvSpPr/>
          <p:nvPr/>
        </p:nvSpPr>
        <p:spPr>
          <a:xfrm>
            <a:off x="26918624" y="19793796"/>
            <a:ext cx="9559479" cy="1908915"/>
          </a:xfrm>
          <a:custGeom>
            <a:avLst/>
            <a:gdLst/>
            <a:ahLst/>
            <a:cxnLst/>
            <a:rect l="l" t="t" r="r" b="b"/>
            <a:pathLst>
              <a:path w="9559479" h="1908915">
                <a:moveTo>
                  <a:pt x="0" y="1908915"/>
                </a:moveTo>
                <a:lnTo>
                  <a:pt x="2414711" y="1426912"/>
                </a:lnTo>
                <a:lnTo>
                  <a:pt x="7022263" y="506491"/>
                </a:lnTo>
                <a:lnTo>
                  <a:pt x="9559479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814412" y="2049841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93" name="Freeform 92"/>
          <p:cNvSpPr/>
          <p:nvPr/>
        </p:nvSpPr>
        <p:spPr>
          <a:xfrm>
            <a:off x="23695380" y="20225831"/>
            <a:ext cx="1071239" cy="1159687"/>
          </a:xfrm>
          <a:custGeom>
            <a:avLst/>
            <a:gdLst/>
            <a:ahLst/>
            <a:cxnLst/>
            <a:rect l="l" t="t" r="r" b="b"/>
            <a:pathLst>
              <a:path w="1071239" h="1159687">
                <a:moveTo>
                  <a:pt x="1071239" y="1159687"/>
                </a:moveTo>
                <a:lnTo>
                  <a:pt x="747281" y="810030"/>
                </a:lnTo>
                <a:lnTo>
                  <a:pt x="343014" y="37200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759024" y="2049841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95" name="Freeform 94"/>
          <p:cNvSpPr/>
          <p:nvPr/>
        </p:nvSpPr>
        <p:spPr>
          <a:xfrm>
            <a:off x="13626689" y="14973086"/>
            <a:ext cx="1478364" cy="1179451"/>
          </a:xfrm>
          <a:custGeom>
            <a:avLst/>
            <a:gdLst/>
            <a:ahLst/>
            <a:cxnLst/>
            <a:rect l="l" t="t" r="r" b="b"/>
            <a:pathLst>
              <a:path w="1478364" h="1179451">
                <a:moveTo>
                  <a:pt x="1478364" y="1179451"/>
                </a:moveTo>
                <a:lnTo>
                  <a:pt x="1032445" y="823642"/>
                </a:lnTo>
                <a:lnTo>
                  <a:pt x="471645" y="37622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998909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97" name="Freeform 96"/>
          <p:cNvSpPr/>
          <p:nvPr/>
        </p:nvSpPr>
        <p:spPr>
          <a:xfrm>
            <a:off x="6542357" y="14785245"/>
            <a:ext cx="7780297" cy="1436984"/>
          </a:xfrm>
          <a:custGeom>
            <a:avLst/>
            <a:gdLst/>
            <a:ahLst/>
            <a:cxnLst/>
            <a:rect l="l" t="t" r="r" b="b"/>
            <a:pathLst>
              <a:path w="7780297" h="1436984">
                <a:moveTo>
                  <a:pt x="7780297" y="1436984"/>
                </a:moveTo>
                <a:lnTo>
                  <a:pt x="6910919" y="1146511"/>
                </a:lnTo>
                <a:lnTo>
                  <a:pt x="5805788" y="808942"/>
                </a:lnTo>
                <a:lnTo>
                  <a:pt x="4797707" y="595374"/>
                </a:lnTo>
                <a:lnTo>
                  <a:pt x="2786038" y="169329"/>
                </a:lnTo>
                <a:lnTo>
                  <a:pt x="2213803" y="480900"/>
                </a:lnTo>
                <a:lnTo>
                  <a:pt x="203767" y="47096"/>
                </a:lnTo>
                <a:lnTo>
                  <a:pt x="136662" y="32668"/>
                </a:lnTo>
                <a:lnTo>
                  <a:pt x="68603" y="1687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849081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99" name="Freeform 98"/>
          <p:cNvSpPr/>
          <p:nvPr/>
        </p:nvSpPr>
        <p:spPr>
          <a:xfrm>
            <a:off x="16071482" y="15043186"/>
            <a:ext cx="308985" cy="1109351"/>
          </a:xfrm>
          <a:custGeom>
            <a:avLst/>
            <a:gdLst/>
            <a:ahLst/>
            <a:cxnLst/>
            <a:rect l="l" t="t" r="r" b="b"/>
            <a:pathLst>
              <a:path w="308985" h="1109351">
                <a:moveTo>
                  <a:pt x="0" y="1109351"/>
                </a:moveTo>
                <a:lnTo>
                  <a:pt x="93920" y="775321"/>
                </a:lnTo>
                <a:lnTo>
                  <a:pt x="209619" y="360709"/>
                </a:lnTo>
                <a:lnTo>
                  <a:pt x="308985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99643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17044716" y="14945999"/>
            <a:ext cx="2179229" cy="1203272"/>
          </a:xfrm>
          <a:custGeom>
            <a:avLst/>
            <a:gdLst/>
            <a:ahLst/>
            <a:cxnLst/>
            <a:rect l="l" t="t" r="r" b="b"/>
            <a:pathLst>
              <a:path w="2179229" h="1203272">
                <a:moveTo>
                  <a:pt x="0" y="1203272"/>
                </a:moveTo>
                <a:lnTo>
                  <a:pt x="658805" y="839295"/>
                </a:lnTo>
                <a:lnTo>
                  <a:pt x="1489117" y="380582"/>
                </a:lnTo>
                <a:lnTo>
                  <a:pt x="2179229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993119" y="1526540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23748466" y="17589522"/>
            <a:ext cx="1461893" cy="1179587"/>
          </a:xfrm>
          <a:custGeom>
            <a:avLst/>
            <a:gdLst/>
            <a:ahLst/>
            <a:cxnLst/>
            <a:rect l="l" t="t" r="r" b="b"/>
            <a:pathLst>
              <a:path w="1461893" h="1179587">
                <a:moveTo>
                  <a:pt x="0" y="1179587"/>
                </a:moveTo>
                <a:lnTo>
                  <a:pt x="441018" y="823642"/>
                </a:lnTo>
                <a:lnTo>
                  <a:pt x="995013" y="376226"/>
                </a:lnTo>
                <a:lnTo>
                  <a:pt x="1461893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281712" y="1788197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12231765" y="17187977"/>
            <a:ext cx="9161881" cy="1887940"/>
          </a:xfrm>
          <a:custGeom>
            <a:avLst/>
            <a:gdLst/>
            <a:ahLst/>
            <a:cxnLst/>
            <a:rect l="l" t="t" r="r" b="b"/>
            <a:pathLst>
              <a:path w="9161881" h="1887940">
                <a:moveTo>
                  <a:pt x="9161881" y="1887940"/>
                </a:moveTo>
                <a:lnTo>
                  <a:pt x="6826118" y="1406495"/>
                </a:lnTo>
                <a:lnTo>
                  <a:pt x="2450918" y="50499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6706816" y="1788197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9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Technology layer — full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35488" y="11110257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Go 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73438" y="11110257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Mobile Wallet /
Bank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004333" y="15598946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NFC Handshake
(Path)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12426" y="11110257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NFC Reader
(embedded)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1110257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Platform
NFC Reader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12426" y="6621828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NFC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349676" y="15598946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Station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1832" y="20087634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Station
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18700" y="11110257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Gate Firmware /
Access Ctrl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18700" y="6621828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NFC Handshake
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73438" y="6621828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NFC Proximity
Comm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37426" y="2133139"/>
            <a:ext cx="5975219" cy="2468025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693" b="0">
                <a:solidFill>
                  <a:srgbClr val="22262B"/>
                </a:solidFill>
                <a:latin typeface="Arial"/>
              </a:rPr>
              <a:t>Access Control
Management</a:t>
            </a:r>
          </a:p>
        </p:txBody>
      </p:sp>
      <p:sp>
        <p:nvSpPr>
          <p:cNvPr id="14" name="Freeform 13"/>
          <p:cNvSpPr/>
          <p:nvPr/>
        </p:nvSpPr>
        <p:spPr>
          <a:xfrm>
            <a:off x="13376615" y="13886656"/>
            <a:ext cx="1530955" cy="1703457"/>
          </a:xfrm>
          <a:custGeom>
            <a:avLst/>
            <a:gdLst/>
            <a:ahLst/>
            <a:cxnLst/>
            <a:rect l="l" t="t" r="r" b="b"/>
            <a:pathLst>
              <a:path w="1530955" h="1703457">
                <a:moveTo>
                  <a:pt x="1530955" y="1703457"/>
                </a:moveTo>
                <a:lnTo>
                  <a:pt x="1058393" y="1177637"/>
                </a:lnTo>
                <a:lnTo>
                  <a:pt x="499321" y="55569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87175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6" name="Freeform 15"/>
          <p:cNvSpPr/>
          <p:nvPr/>
        </p:nvSpPr>
        <p:spPr>
          <a:xfrm>
            <a:off x="17076575" y="13886656"/>
            <a:ext cx="1530955" cy="1703457"/>
          </a:xfrm>
          <a:custGeom>
            <a:avLst/>
            <a:gdLst/>
            <a:ahLst/>
            <a:cxnLst/>
            <a:rect l="l" t="t" r="r" b="b"/>
            <a:pathLst>
              <a:path w="1530955" h="1703457">
                <a:moveTo>
                  <a:pt x="0" y="1703457"/>
                </a:moveTo>
                <a:lnTo>
                  <a:pt x="472562" y="1177637"/>
                </a:lnTo>
                <a:lnTo>
                  <a:pt x="1031375" y="555695"/>
                </a:lnTo>
                <a:lnTo>
                  <a:pt x="1530955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956019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8" name="Freeform 17"/>
          <p:cNvSpPr/>
          <p:nvPr/>
        </p:nvSpPr>
        <p:spPr>
          <a:xfrm>
            <a:off x="18996699" y="13638294"/>
            <a:ext cx="5511230" cy="2044305"/>
          </a:xfrm>
          <a:custGeom>
            <a:avLst/>
            <a:gdLst/>
            <a:ahLst/>
            <a:cxnLst/>
            <a:rect l="l" t="t" r="r" b="b"/>
            <a:pathLst>
              <a:path w="5511230" h="2044305">
                <a:moveTo>
                  <a:pt x="0" y="2044305"/>
                </a:moveTo>
                <a:lnTo>
                  <a:pt x="1677997" y="1421843"/>
                </a:lnTo>
                <a:lnTo>
                  <a:pt x="3774520" y="644285"/>
                </a:lnTo>
                <a:lnTo>
                  <a:pt x="551123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63093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0" name="Freeform 19"/>
          <p:cNvSpPr/>
          <p:nvPr/>
        </p:nvSpPr>
        <p:spPr>
          <a:xfrm>
            <a:off x="7476216" y="13638294"/>
            <a:ext cx="5511231" cy="2044305"/>
          </a:xfrm>
          <a:custGeom>
            <a:avLst/>
            <a:gdLst/>
            <a:ahLst/>
            <a:cxnLst/>
            <a:rect l="l" t="t" r="r" b="b"/>
            <a:pathLst>
              <a:path w="5511231" h="2044305">
                <a:moveTo>
                  <a:pt x="5511231" y="2044305"/>
                </a:moveTo>
                <a:lnTo>
                  <a:pt x="3832973" y="1421843"/>
                </a:lnTo>
                <a:lnTo>
                  <a:pt x="1736710" y="64428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6040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2" name="Freeform 21"/>
          <p:cNvSpPr/>
          <p:nvPr/>
        </p:nvSpPr>
        <p:spPr>
          <a:xfrm>
            <a:off x="27900036" y="9506820"/>
            <a:ext cx="0" cy="1594604"/>
          </a:xfrm>
          <a:custGeom>
            <a:avLst/>
            <a:gdLst/>
            <a:ahLst/>
            <a:cxnLst/>
            <a:rect l="l" t="t" r="r" b="b"/>
            <a:pathLst>
              <a:path w="0" h="1594604">
                <a:moveTo>
                  <a:pt x="0" y="1594604"/>
                </a:moveTo>
                <a:lnTo>
                  <a:pt x="0" y="1102817"/>
                </a:lnTo>
                <a:lnTo>
                  <a:pt x="0" y="52711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32777" y="987158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24" name="Freeform 23"/>
          <p:cNvSpPr/>
          <p:nvPr/>
        </p:nvSpPr>
        <p:spPr>
          <a:xfrm>
            <a:off x="22495839" y="9302104"/>
            <a:ext cx="3223761" cy="1793605"/>
          </a:xfrm>
          <a:custGeom>
            <a:avLst/>
            <a:gdLst/>
            <a:ahLst/>
            <a:cxnLst/>
            <a:rect l="l" t="t" r="r" b="b"/>
            <a:pathLst>
              <a:path w="3223761" h="1793605">
                <a:moveTo>
                  <a:pt x="3223761" y="1793605"/>
                </a:moveTo>
                <a:lnTo>
                  <a:pt x="2225899" y="1238429"/>
                </a:lnTo>
                <a:lnTo>
                  <a:pt x="1037610" y="57725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52782" y="987158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26" name="Freeform 25"/>
          <p:cNvSpPr/>
          <p:nvPr/>
        </p:nvSpPr>
        <p:spPr>
          <a:xfrm>
            <a:off x="7083670" y="8781220"/>
            <a:ext cx="9483193" cy="2611951"/>
          </a:xfrm>
          <a:custGeom>
            <a:avLst/>
            <a:gdLst/>
            <a:ahLst/>
            <a:cxnLst/>
            <a:rect l="l" t="t" r="r" b="b"/>
            <a:pathLst>
              <a:path w="9483193" h="2611951">
                <a:moveTo>
                  <a:pt x="0" y="2611951"/>
                </a:moveTo>
                <a:lnTo>
                  <a:pt x="327078" y="2515048"/>
                </a:lnTo>
                <a:lnTo>
                  <a:pt x="655456" y="2419185"/>
                </a:lnTo>
                <a:lnTo>
                  <a:pt x="970324" y="2329037"/>
                </a:lnTo>
                <a:lnTo>
                  <a:pt x="3832194" y="1510692"/>
                </a:lnTo>
                <a:lnTo>
                  <a:pt x="7097002" y="632075"/>
                </a:lnTo>
                <a:lnTo>
                  <a:pt x="9483193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85996" y="987158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28" name="Freeform 27"/>
          <p:cNvSpPr/>
          <p:nvPr/>
        </p:nvSpPr>
        <p:spPr>
          <a:xfrm>
            <a:off x="29396438" y="13871328"/>
            <a:ext cx="1727618" cy="1718785"/>
          </a:xfrm>
          <a:custGeom>
            <a:avLst/>
            <a:gdLst/>
            <a:ahLst/>
            <a:cxnLst/>
            <a:rect l="l" t="t" r="r" b="b"/>
            <a:pathLst>
              <a:path w="1727618" h="1718785">
                <a:moveTo>
                  <a:pt x="1727618" y="1718785"/>
                </a:moveTo>
                <a:lnTo>
                  <a:pt x="1195044" y="1188029"/>
                </a:lnTo>
                <a:lnTo>
                  <a:pt x="563749" y="55959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83896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0" name="Freeform 29"/>
          <p:cNvSpPr/>
          <p:nvPr/>
        </p:nvSpPr>
        <p:spPr>
          <a:xfrm>
            <a:off x="34387046" y="13798326"/>
            <a:ext cx="3021382" cy="1786071"/>
          </a:xfrm>
          <a:custGeom>
            <a:avLst/>
            <a:gdLst/>
            <a:ahLst/>
            <a:cxnLst/>
            <a:rect l="l" t="t" r="r" b="b"/>
            <a:pathLst>
              <a:path w="3021382" h="1786071">
                <a:moveTo>
                  <a:pt x="0" y="1786071"/>
                </a:moveTo>
                <a:lnTo>
                  <a:pt x="935251" y="1233234"/>
                </a:lnTo>
                <a:lnTo>
                  <a:pt x="2047162" y="575440"/>
                </a:lnTo>
                <a:lnTo>
                  <a:pt x="3021382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29260" y="1436001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2" name="Freeform 31"/>
          <p:cNvSpPr/>
          <p:nvPr/>
        </p:nvSpPr>
        <p:spPr>
          <a:xfrm>
            <a:off x="30103073" y="4838615"/>
            <a:ext cx="3403277" cy="10748640"/>
          </a:xfrm>
          <a:custGeom>
            <a:avLst/>
            <a:gdLst/>
            <a:ahLst/>
            <a:cxnLst/>
            <a:rect l="l" t="t" r="r" b="b"/>
            <a:pathLst>
              <a:path w="3403277" h="10748640">
                <a:moveTo>
                  <a:pt x="2512190" y="10748640"/>
                </a:moveTo>
                <a:lnTo>
                  <a:pt x="2904476" y="8737589"/>
                </a:lnTo>
                <a:lnTo>
                  <a:pt x="3403277" y="4645603"/>
                </a:lnTo>
                <a:lnTo>
                  <a:pt x="1763989" y="1783213"/>
                </a:lnTo>
                <a:lnTo>
                  <a:pt x="1350919" y="1057613"/>
                </a:lnTo>
                <a:lnTo>
                  <a:pt x="696243" y="46736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848085" y="987158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34" name="Freeform 33"/>
          <p:cNvSpPr/>
          <p:nvPr/>
        </p:nvSpPr>
        <p:spPr>
          <a:xfrm>
            <a:off x="4443143" y="13988494"/>
            <a:ext cx="1356634" cy="6086826"/>
          </a:xfrm>
          <a:custGeom>
            <a:avLst/>
            <a:gdLst/>
            <a:ahLst/>
            <a:cxnLst/>
            <a:rect l="l" t="t" r="r" b="b"/>
            <a:pathLst>
              <a:path w="1356634" h="6086826">
                <a:moveTo>
                  <a:pt x="1356634" y="6086826"/>
                </a:moveTo>
                <a:lnTo>
                  <a:pt x="1005395" y="4510771"/>
                </a:lnTo>
                <a:lnTo>
                  <a:pt x="390207" y="175073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2427" y="1660435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6" name="Freeform 35"/>
          <p:cNvSpPr/>
          <p:nvPr/>
        </p:nvSpPr>
        <p:spPr>
          <a:xfrm>
            <a:off x="9069781" y="17440093"/>
            <a:ext cx="19872021" cy="3341005"/>
          </a:xfrm>
          <a:custGeom>
            <a:avLst/>
            <a:gdLst/>
            <a:ahLst/>
            <a:cxnLst/>
            <a:rect l="l" t="t" r="r" b="b"/>
            <a:pathLst>
              <a:path w="19872021" h="3341005">
                <a:moveTo>
                  <a:pt x="0" y="3341005"/>
                </a:moveTo>
                <a:lnTo>
                  <a:pt x="4926439" y="2512709"/>
                </a:lnTo>
                <a:lnTo>
                  <a:pt x="14697741" y="869784"/>
                </a:lnTo>
                <a:lnTo>
                  <a:pt x="19872021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824444" y="1884870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8" name="Freeform 37"/>
          <p:cNvSpPr/>
          <p:nvPr/>
        </p:nvSpPr>
        <p:spPr>
          <a:xfrm>
            <a:off x="39806310" y="9506820"/>
            <a:ext cx="0" cy="1594604"/>
          </a:xfrm>
          <a:custGeom>
            <a:avLst/>
            <a:gdLst/>
            <a:ahLst/>
            <a:cxnLst/>
            <a:rect l="l" t="t" r="r" b="b"/>
            <a:pathLst>
              <a:path w="0" h="1594604">
                <a:moveTo>
                  <a:pt x="0" y="1594604"/>
                </a:moveTo>
                <a:lnTo>
                  <a:pt x="0" y="1102817"/>
                </a:lnTo>
                <a:lnTo>
                  <a:pt x="0" y="52711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22185" y="987158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40" name="Freeform 39"/>
          <p:cNvSpPr/>
          <p:nvPr/>
        </p:nvSpPr>
        <p:spPr>
          <a:xfrm>
            <a:off x="21873117" y="4828743"/>
            <a:ext cx="2804197" cy="1778277"/>
          </a:xfrm>
          <a:custGeom>
            <a:avLst/>
            <a:gdLst/>
            <a:ahLst/>
            <a:cxnLst/>
            <a:rect l="l" t="t" r="r" b="b"/>
            <a:pathLst>
              <a:path w="2804197" h="1778277">
                <a:moveTo>
                  <a:pt x="0" y="1778277"/>
                </a:moveTo>
                <a:lnTo>
                  <a:pt x="867706" y="1228037"/>
                </a:lnTo>
                <a:lnTo>
                  <a:pt x="1899860" y="573621"/>
                </a:lnTo>
                <a:lnTo>
                  <a:pt x="2804197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34037" y="538289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72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Technology — Perspective 1: Tap &amp;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36304" y="13145396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NFC Handshake
(Path)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86129" y="9436613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Go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86258" y="9436613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Mobile Wallet /
Bank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727608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NFC Reader
(embedded)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686608" y="9436613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Platform
NFC Reader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87402" y="9436613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Station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87309" y="9436613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Journey &amp; Account
Mgmt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57015" y="13145396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Gate-Backend
Link (Path)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45864" y="16854179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Private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56665" y="13145396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Station
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92735" y="13145396"/>
            <a:ext cx="5101184" cy="210701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3153" b="0">
                <a:solidFill>
                  <a:srgbClr val="22262B"/>
                </a:solidFill>
                <a:latin typeface="Arial"/>
              </a:rPr>
              <a:t>Application
Server</a:t>
            </a:r>
          </a:p>
        </p:txBody>
      </p:sp>
      <p:sp>
        <p:nvSpPr>
          <p:cNvPr id="13" name="Freeform 12"/>
          <p:cNvSpPr/>
          <p:nvPr/>
        </p:nvSpPr>
        <p:spPr>
          <a:xfrm>
            <a:off x="8654796" y="11808442"/>
            <a:ext cx="1252673" cy="1324312"/>
          </a:xfrm>
          <a:custGeom>
            <a:avLst/>
            <a:gdLst/>
            <a:ahLst/>
            <a:cxnLst/>
            <a:rect l="l" t="t" r="r" b="b"/>
            <a:pathLst>
              <a:path w="1252673" h="1324312">
                <a:moveTo>
                  <a:pt x="1252673" y="1324312"/>
                </a:moveTo>
                <a:lnTo>
                  <a:pt x="862987" y="912225"/>
                </a:lnTo>
                <a:lnTo>
                  <a:pt x="410312" y="43382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696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866324" y="11808442"/>
            <a:ext cx="1252673" cy="1324312"/>
          </a:xfrm>
          <a:custGeom>
            <a:avLst/>
            <a:gdLst/>
            <a:ahLst/>
            <a:cxnLst/>
            <a:rect l="l" t="t" r="r" b="b"/>
            <a:pathLst>
              <a:path w="1252673" h="1324312">
                <a:moveTo>
                  <a:pt x="0" y="1324312"/>
                </a:moveTo>
                <a:lnTo>
                  <a:pt x="389686" y="912225"/>
                </a:lnTo>
                <a:lnTo>
                  <a:pt x="842139" y="433823"/>
                </a:lnTo>
                <a:lnTo>
                  <a:pt x="1252673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02649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7" name="Freeform 16"/>
          <p:cNvSpPr/>
          <p:nvPr/>
        </p:nvSpPr>
        <p:spPr>
          <a:xfrm>
            <a:off x="2437405" y="8177064"/>
            <a:ext cx="5886701" cy="5866363"/>
          </a:xfrm>
          <a:custGeom>
            <a:avLst/>
            <a:gdLst/>
            <a:ahLst/>
            <a:cxnLst/>
            <a:rect l="l" t="t" r="r" b="b"/>
            <a:pathLst>
              <a:path w="5886701" h="5866363">
                <a:moveTo>
                  <a:pt x="5886701" y="5866363"/>
                </a:moveTo>
                <a:lnTo>
                  <a:pt x="4112376" y="5630156"/>
                </a:lnTo>
                <a:lnTo>
                  <a:pt x="1866745" y="5000714"/>
                </a:lnTo>
                <a:lnTo>
                  <a:pt x="694493" y="3366560"/>
                </a:lnTo>
                <a:lnTo>
                  <a:pt x="0" y="2398222"/>
                </a:lnTo>
                <a:lnTo>
                  <a:pt x="251599" y="1019572"/>
                </a:lnTo>
                <a:lnTo>
                  <a:pt x="603825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9297" y="1026151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9" name="Freeform 18"/>
          <p:cNvSpPr/>
          <p:nvPr/>
        </p:nvSpPr>
        <p:spPr>
          <a:xfrm>
            <a:off x="13445251" y="11541850"/>
            <a:ext cx="4894033" cy="1724644"/>
          </a:xfrm>
          <a:custGeom>
            <a:avLst/>
            <a:gdLst/>
            <a:ahLst/>
            <a:cxnLst/>
            <a:rect l="l" t="t" r="r" b="b"/>
            <a:pathLst>
              <a:path w="4894033" h="1724644">
                <a:moveTo>
                  <a:pt x="0" y="1724644"/>
                </a:moveTo>
                <a:lnTo>
                  <a:pt x="1483558" y="1201884"/>
                </a:lnTo>
                <a:lnTo>
                  <a:pt x="3356358" y="541835"/>
                </a:lnTo>
                <a:lnTo>
                  <a:pt x="4894033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59755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1" name="Freeform 20"/>
          <p:cNvSpPr/>
          <p:nvPr/>
        </p:nvSpPr>
        <p:spPr>
          <a:xfrm>
            <a:off x="6560427" y="7023309"/>
            <a:ext cx="19018103" cy="2626667"/>
          </a:xfrm>
          <a:custGeom>
            <a:avLst/>
            <a:gdLst/>
            <a:ahLst/>
            <a:cxnLst/>
            <a:rect l="l" t="t" r="r" b="b"/>
            <a:pathLst>
              <a:path w="19018103" h="2626667">
                <a:moveTo>
                  <a:pt x="19018103" y="2626667"/>
                </a:moveTo>
                <a:lnTo>
                  <a:pt x="18718686" y="2547266"/>
                </a:lnTo>
                <a:lnTo>
                  <a:pt x="18417051" y="2473853"/>
                </a:lnTo>
                <a:lnTo>
                  <a:pt x="18126505" y="2413304"/>
                </a:lnTo>
                <a:lnTo>
                  <a:pt x="11728732" y="1075241"/>
                </a:lnTo>
                <a:lnTo>
                  <a:pt x="4083609" y="33069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43807" y="840690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23" name="Freeform 22"/>
          <p:cNvSpPr/>
          <p:nvPr/>
        </p:nvSpPr>
        <p:spPr>
          <a:xfrm>
            <a:off x="28426322" y="11894054"/>
            <a:ext cx="261713" cy="1238700"/>
          </a:xfrm>
          <a:custGeom>
            <a:avLst/>
            <a:gdLst/>
            <a:ahLst/>
            <a:cxnLst/>
            <a:rect l="l" t="t" r="r" b="b"/>
            <a:pathLst>
              <a:path w="261713" h="1238700">
                <a:moveTo>
                  <a:pt x="261713" y="1238700"/>
                </a:moveTo>
                <a:lnTo>
                  <a:pt x="181868" y="853672"/>
                </a:lnTo>
                <a:lnTo>
                  <a:pt x="86498" y="41053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31847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5" name="Freeform 24"/>
          <p:cNvSpPr/>
          <p:nvPr/>
        </p:nvSpPr>
        <p:spPr>
          <a:xfrm>
            <a:off x="30648664" y="11735695"/>
            <a:ext cx="2346545" cy="1397059"/>
          </a:xfrm>
          <a:custGeom>
            <a:avLst/>
            <a:gdLst/>
            <a:ahLst/>
            <a:cxnLst/>
            <a:rect l="l" t="t" r="r" b="b"/>
            <a:pathLst>
              <a:path w="2346545" h="1397059">
                <a:moveTo>
                  <a:pt x="0" y="1397059"/>
                </a:moveTo>
                <a:lnTo>
                  <a:pt x="729691" y="961906"/>
                </a:lnTo>
                <a:lnTo>
                  <a:pt x="1585803" y="452675"/>
                </a:lnTo>
                <a:lnTo>
                  <a:pt x="2346545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42599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7" name="Freeform 26"/>
          <p:cNvSpPr/>
          <p:nvPr/>
        </p:nvSpPr>
        <p:spPr>
          <a:xfrm>
            <a:off x="33713811" y="11894719"/>
            <a:ext cx="1035762" cy="4951587"/>
          </a:xfrm>
          <a:custGeom>
            <a:avLst/>
            <a:gdLst/>
            <a:ahLst/>
            <a:cxnLst/>
            <a:rect l="l" t="t" r="r" b="b"/>
            <a:pathLst>
              <a:path w="1035762" h="4951587">
                <a:moveTo>
                  <a:pt x="0" y="4951587"/>
                </a:moveTo>
                <a:lnTo>
                  <a:pt x="270584" y="3658437"/>
                </a:lnTo>
                <a:lnTo>
                  <a:pt x="734127" y="1436538"/>
                </a:lnTo>
                <a:lnTo>
                  <a:pt x="1035762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58093" y="1397030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29" name="Freeform 28"/>
          <p:cNvSpPr/>
          <p:nvPr/>
        </p:nvSpPr>
        <p:spPr>
          <a:xfrm>
            <a:off x="30482321" y="15480852"/>
            <a:ext cx="1712224" cy="1360641"/>
          </a:xfrm>
          <a:custGeom>
            <a:avLst/>
            <a:gdLst/>
            <a:ahLst/>
            <a:cxnLst/>
            <a:rect l="l" t="t" r="r" b="b"/>
            <a:pathLst>
              <a:path w="1712224" h="1360641">
                <a:moveTo>
                  <a:pt x="1712224" y="1360641"/>
                </a:moveTo>
                <a:lnTo>
                  <a:pt x="1179926" y="937065"/>
                </a:lnTo>
                <a:lnTo>
                  <a:pt x="556695" y="44335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77809" y="1582469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31" name="Freeform 30"/>
          <p:cNvSpPr/>
          <p:nvPr/>
        </p:nvSpPr>
        <p:spPr>
          <a:xfrm>
            <a:off x="24893197" y="15145504"/>
            <a:ext cx="6039359" cy="1917403"/>
          </a:xfrm>
          <a:custGeom>
            <a:avLst/>
            <a:gdLst/>
            <a:ahLst/>
            <a:cxnLst/>
            <a:rect l="l" t="t" r="r" b="b"/>
            <a:pathLst>
              <a:path w="6039359" h="1917403">
                <a:moveTo>
                  <a:pt x="6039359" y="1917403"/>
                </a:moveTo>
                <a:lnTo>
                  <a:pt x="4249509" y="1348931"/>
                </a:lnTo>
                <a:lnTo>
                  <a:pt x="1856388" y="58952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3830" y="1582469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33" name="Freeform 32"/>
          <p:cNvSpPr/>
          <p:nvPr/>
        </p:nvSpPr>
        <p:spPr>
          <a:xfrm>
            <a:off x="35412727" y="15432501"/>
            <a:ext cx="2606040" cy="1408992"/>
          </a:xfrm>
          <a:custGeom>
            <a:avLst/>
            <a:gdLst/>
            <a:ahLst/>
            <a:cxnLst/>
            <a:rect l="l" t="t" r="r" b="b"/>
            <a:pathLst>
              <a:path w="2606040" h="1408992">
                <a:moveTo>
                  <a:pt x="0" y="1408992"/>
                </a:moveTo>
                <a:lnTo>
                  <a:pt x="811754" y="970113"/>
                </a:lnTo>
                <a:lnTo>
                  <a:pt x="1763236" y="455780"/>
                </a:lnTo>
                <a:lnTo>
                  <a:pt x="260604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9697" y="1582469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35" name="Freeform 34"/>
          <p:cNvSpPr/>
          <p:nvPr/>
        </p:nvSpPr>
        <p:spPr>
          <a:xfrm>
            <a:off x="21527081" y="11894054"/>
            <a:ext cx="261491" cy="1238700"/>
          </a:xfrm>
          <a:custGeom>
            <a:avLst/>
            <a:gdLst/>
            <a:ahLst/>
            <a:cxnLst/>
            <a:rect l="l" t="t" r="r" b="b"/>
            <a:pathLst>
              <a:path w="261491" h="1238700">
                <a:moveTo>
                  <a:pt x="261491" y="1238700"/>
                </a:moveTo>
                <a:lnTo>
                  <a:pt x="180315" y="853672"/>
                </a:lnTo>
                <a:lnTo>
                  <a:pt x="86720" y="41053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09539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7" name="Freeform 36"/>
          <p:cNvSpPr/>
          <p:nvPr/>
        </p:nvSpPr>
        <p:spPr>
          <a:xfrm>
            <a:off x="23746539" y="11735695"/>
            <a:ext cx="2348763" cy="1397059"/>
          </a:xfrm>
          <a:custGeom>
            <a:avLst/>
            <a:gdLst/>
            <a:ahLst/>
            <a:cxnLst/>
            <a:rect l="l" t="t" r="r" b="b"/>
            <a:pathLst>
              <a:path w="2348763" h="1397059">
                <a:moveTo>
                  <a:pt x="0" y="1397059"/>
                </a:moveTo>
                <a:lnTo>
                  <a:pt x="731910" y="961906"/>
                </a:lnTo>
                <a:lnTo>
                  <a:pt x="1588021" y="452675"/>
                </a:lnTo>
                <a:lnTo>
                  <a:pt x="2348763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20513" y="1211591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40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Technology — Perspective 2: Communication (P01)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947397" y="20873130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Journey &amp; Account
Mgmt Backend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85055" y="15929096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Database (DBMS)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85055" y="10985062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Store Journey
&amp; Account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83462" y="6041314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Journey &amp; Account
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622902" y="15929096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Data Storage
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12817" y="10985062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Journey &amp; Account
Mgmt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41313" y="10985062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Fare Management
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8523" y="1097280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Tap Event
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12007" y="1097280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Go Card
Account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655204" y="1097280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Fare &amp; Zone
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99546" y="1097280"/>
            <a:ext cx="6581362" cy="2718389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4068" b="0">
                <a:solidFill>
                  <a:srgbClr val="22262B"/>
                </a:solidFill>
                <a:latin typeface="Arial"/>
              </a:rPr>
              <a:t>Digital Ticket</a:t>
            </a:r>
          </a:p>
        </p:txBody>
      </p:sp>
      <p:sp>
        <p:nvSpPr>
          <p:cNvPr id="13" name="Freeform 12"/>
          <p:cNvSpPr/>
          <p:nvPr/>
        </p:nvSpPr>
        <p:spPr>
          <a:xfrm>
            <a:off x="16308805" y="18915318"/>
            <a:ext cx="6637734" cy="2648369"/>
          </a:xfrm>
          <a:custGeom>
            <a:avLst/>
            <a:gdLst/>
            <a:ahLst/>
            <a:cxnLst/>
            <a:rect l="l" t="t" r="r" b="b"/>
            <a:pathLst>
              <a:path w="6637734" h="2648369">
                <a:moveTo>
                  <a:pt x="6637734" y="2648369"/>
                </a:moveTo>
                <a:lnTo>
                  <a:pt x="5136611" y="2295351"/>
                </a:lnTo>
                <a:lnTo>
                  <a:pt x="3361360" y="1782691"/>
                </a:lnTo>
                <a:lnTo>
                  <a:pt x="1851652" y="1083350"/>
                </a:lnTo>
                <a:lnTo>
                  <a:pt x="1218125" y="790050"/>
                </a:lnTo>
                <a:lnTo>
                  <a:pt x="575440" y="39545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42022" y="195317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15" name="Freeform 14"/>
          <p:cNvSpPr/>
          <p:nvPr/>
        </p:nvSpPr>
        <p:spPr>
          <a:xfrm>
            <a:off x="18580234" y="9153440"/>
            <a:ext cx="6873804" cy="11703952"/>
          </a:xfrm>
          <a:custGeom>
            <a:avLst/>
            <a:gdLst/>
            <a:ahLst/>
            <a:cxnLst/>
            <a:rect l="l" t="t" r="r" b="b"/>
            <a:pathLst>
              <a:path w="6873804" h="11703952">
                <a:moveTo>
                  <a:pt x="6873804" y="11703952"/>
                </a:moveTo>
                <a:lnTo>
                  <a:pt x="5297139" y="9019329"/>
                </a:lnTo>
                <a:lnTo>
                  <a:pt x="1745206" y="297134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887541" y="1458767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17" name="Freeform 16"/>
          <p:cNvSpPr/>
          <p:nvPr/>
        </p:nvSpPr>
        <p:spPr>
          <a:xfrm>
            <a:off x="28062547" y="18927050"/>
            <a:ext cx="2656295" cy="1936294"/>
          </a:xfrm>
          <a:custGeom>
            <a:avLst/>
            <a:gdLst/>
            <a:ahLst/>
            <a:cxnLst/>
            <a:rect l="l" t="t" r="r" b="b"/>
            <a:pathLst>
              <a:path w="2656295" h="1936294">
                <a:moveTo>
                  <a:pt x="0" y="1936294"/>
                </a:moveTo>
                <a:lnTo>
                  <a:pt x="820954" y="1338306"/>
                </a:lnTo>
                <a:lnTo>
                  <a:pt x="1797857" y="627233"/>
                </a:lnTo>
                <a:lnTo>
                  <a:pt x="2656295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95024" y="195317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19" name="Freeform 18"/>
          <p:cNvSpPr/>
          <p:nvPr/>
        </p:nvSpPr>
        <p:spPr>
          <a:xfrm>
            <a:off x="26408908" y="14135246"/>
            <a:ext cx="1452478" cy="6725523"/>
          </a:xfrm>
          <a:custGeom>
            <a:avLst/>
            <a:gdLst/>
            <a:ahLst/>
            <a:cxnLst/>
            <a:rect l="l" t="t" r="r" b="b"/>
            <a:pathLst>
              <a:path w="1452478" h="6725523">
                <a:moveTo>
                  <a:pt x="0" y="6725523"/>
                </a:moveTo>
                <a:lnTo>
                  <a:pt x="177697" y="5449082"/>
                </a:lnTo>
                <a:lnTo>
                  <a:pt x="489310" y="3474101"/>
                </a:lnTo>
                <a:lnTo>
                  <a:pt x="912234" y="1793850"/>
                </a:lnTo>
                <a:lnTo>
                  <a:pt x="1061030" y="1202386"/>
                </a:lnTo>
                <a:lnTo>
                  <a:pt x="1260188" y="567141"/>
                </a:lnTo>
                <a:lnTo>
                  <a:pt x="1452478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91984" y="170596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21" name="Freeform 20"/>
          <p:cNvSpPr/>
          <p:nvPr/>
        </p:nvSpPr>
        <p:spPr>
          <a:xfrm>
            <a:off x="29542495" y="14170442"/>
            <a:ext cx="9712089" cy="7746464"/>
          </a:xfrm>
          <a:custGeom>
            <a:avLst/>
            <a:gdLst/>
            <a:ahLst/>
            <a:cxnLst/>
            <a:rect l="l" t="t" r="r" b="b"/>
            <a:pathLst>
              <a:path w="9712089" h="7746464">
                <a:moveTo>
                  <a:pt x="0" y="7746464"/>
                </a:moveTo>
                <a:lnTo>
                  <a:pt x="2435391" y="7375876"/>
                </a:lnTo>
                <a:lnTo>
                  <a:pt x="5671704" y="6508109"/>
                </a:lnTo>
                <a:lnTo>
                  <a:pt x="7743403" y="4477043"/>
                </a:lnTo>
                <a:lnTo>
                  <a:pt x="8953801" y="3291253"/>
                </a:lnTo>
                <a:lnTo>
                  <a:pt x="9480311" y="1395535"/>
                </a:lnTo>
                <a:lnTo>
                  <a:pt x="9712089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7607" y="170596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23" name="Freeform 22"/>
          <p:cNvSpPr/>
          <p:nvPr/>
        </p:nvSpPr>
        <p:spPr>
          <a:xfrm>
            <a:off x="14275736" y="14163002"/>
            <a:ext cx="0" cy="1756365"/>
          </a:xfrm>
          <a:custGeom>
            <a:avLst/>
            <a:gdLst/>
            <a:ahLst/>
            <a:cxnLst/>
            <a:rect l="l" t="t" r="r" b="b"/>
            <a:pathLst>
              <a:path w="0" h="1756365">
                <a:moveTo>
                  <a:pt x="0" y="1756365"/>
                </a:moveTo>
                <a:lnTo>
                  <a:pt x="0" y="1214690"/>
                </a:lnTo>
                <a:lnTo>
                  <a:pt x="0" y="58059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46579" y="1458767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25" name="Freeform 24"/>
          <p:cNvSpPr/>
          <p:nvPr/>
        </p:nvSpPr>
        <p:spPr>
          <a:xfrm>
            <a:off x="15177097" y="9133410"/>
            <a:ext cx="1249028" cy="1841923"/>
          </a:xfrm>
          <a:custGeom>
            <a:avLst/>
            <a:gdLst/>
            <a:ahLst/>
            <a:cxnLst/>
            <a:rect l="l" t="t" r="r" b="b"/>
            <a:pathLst>
              <a:path w="1249028" h="1841923">
                <a:moveTo>
                  <a:pt x="0" y="1841923"/>
                </a:moveTo>
                <a:lnTo>
                  <a:pt x="385439" y="1273637"/>
                </a:lnTo>
                <a:lnTo>
                  <a:pt x="839839" y="603196"/>
                </a:lnTo>
                <a:lnTo>
                  <a:pt x="1249028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arrow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39571" y="964392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access</a:t>
            </a:r>
          </a:p>
        </p:txBody>
      </p:sp>
      <p:sp>
        <p:nvSpPr>
          <p:cNvPr id="27" name="Freeform 26"/>
          <p:cNvSpPr/>
          <p:nvPr/>
        </p:nvSpPr>
        <p:spPr>
          <a:xfrm>
            <a:off x="8194557" y="3881768"/>
            <a:ext cx="6070306" cy="2251399"/>
          </a:xfrm>
          <a:custGeom>
            <a:avLst/>
            <a:gdLst/>
            <a:ahLst/>
            <a:cxnLst/>
            <a:rect l="l" t="t" r="r" b="b"/>
            <a:pathLst>
              <a:path w="6070306" h="2251399">
                <a:moveTo>
                  <a:pt x="6070306" y="2251399"/>
                </a:moveTo>
                <a:lnTo>
                  <a:pt x="4221801" y="1565792"/>
                </a:lnTo>
                <a:lnTo>
                  <a:pt x="1912887" y="70935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27585" y="46998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29" name="Freeform 28"/>
          <p:cNvSpPr/>
          <p:nvPr/>
        </p:nvSpPr>
        <p:spPr>
          <a:xfrm>
            <a:off x="14693510" y="4155324"/>
            <a:ext cx="1686259" cy="1875975"/>
          </a:xfrm>
          <a:custGeom>
            <a:avLst/>
            <a:gdLst/>
            <a:ahLst/>
            <a:cxnLst/>
            <a:rect l="l" t="t" r="r" b="b"/>
            <a:pathLst>
              <a:path w="1686259" h="1875975">
                <a:moveTo>
                  <a:pt x="1686259" y="1875975"/>
                </a:moveTo>
                <a:lnTo>
                  <a:pt x="1165760" y="1297101"/>
                </a:lnTo>
                <a:lnTo>
                  <a:pt x="549973" y="61206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37217" y="46998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31" name="Freeform 30"/>
          <p:cNvSpPr/>
          <p:nvPr/>
        </p:nvSpPr>
        <p:spPr>
          <a:xfrm>
            <a:off x="18768804" y="4155324"/>
            <a:ext cx="1686260" cy="1875975"/>
          </a:xfrm>
          <a:custGeom>
            <a:avLst/>
            <a:gdLst/>
            <a:ahLst/>
            <a:cxnLst/>
            <a:rect l="l" t="t" r="r" b="b"/>
            <a:pathLst>
              <a:path w="1686260" h="1875975">
                <a:moveTo>
                  <a:pt x="0" y="1875975"/>
                </a:moveTo>
                <a:lnTo>
                  <a:pt x="520500" y="1297101"/>
                </a:lnTo>
                <a:lnTo>
                  <a:pt x="1136001" y="612067"/>
                </a:lnTo>
                <a:lnTo>
                  <a:pt x="168626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08672" y="46998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33" name="Freeform 32"/>
          <p:cNvSpPr/>
          <p:nvPr/>
        </p:nvSpPr>
        <p:spPr>
          <a:xfrm>
            <a:off x="20883711" y="3881768"/>
            <a:ext cx="6070306" cy="2251399"/>
          </a:xfrm>
          <a:custGeom>
            <a:avLst/>
            <a:gdLst/>
            <a:ahLst/>
            <a:cxnLst/>
            <a:rect l="l" t="t" r="r" b="b"/>
            <a:pathLst>
              <a:path w="6070306" h="2251399">
                <a:moveTo>
                  <a:pt x="0" y="2251399"/>
                </a:moveTo>
                <a:lnTo>
                  <a:pt x="1848218" y="1565792"/>
                </a:lnTo>
                <a:lnTo>
                  <a:pt x="4157418" y="709357"/>
                </a:lnTo>
                <a:lnTo>
                  <a:pt x="6070306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42524" y="46998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35" name="Freeform 34"/>
          <p:cNvSpPr/>
          <p:nvPr/>
        </p:nvSpPr>
        <p:spPr>
          <a:xfrm>
            <a:off x="30009200" y="14043106"/>
            <a:ext cx="1699708" cy="1876261"/>
          </a:xfrm>
          <a:custGeom>
            <a:avLst/>
            <a:gdLst/>
            <a:ahLst/>
            <a:cxnLst/>
            <a:rect l="l" t="t" r="r" b="b"/>
            <a:pathLst>
              <a:path w="1699708" h="1876261">
                <a:moveTo>
                  <a:pt x="1699708" y="1876261"/>
                </a:moveTo>
                <a:lnTo>
                  <a:pt x="1176061" y="1297101"/>
                </a:lnTo>
                <a:lnTo>
                  <a:pt x="555123" y="61206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885695" y="1458767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37" name="Freeform 36"/>
          <p:cNvSpPr/>
          <p:nvPr/>
        </p:nvSpPr>
        <p:spPr>
          <a:xfrm>
            <a:off x="34696275" y="13991600"/>
            <a:ext cx="2583900" cy="1927767"/>
          </a:xfrm>
          <a:custGeom>
            <a:avLst/>
            <a:gdLst/>
            <a:ahLst/>
            <a:cxnLst/>
            <a:rect l="l" t="t" r="r" b="b"/>
            <a:pathLst>
              <a:path w="2583900" h="1927767">
                <a:moveTo>
                  <a:pt x="0" y="1927767"/>
                </a:moveTo>
                <a:lnTo>
                  <a:pt x="798348" y="1332297"/>
                </a:lnTo>
                <a:lnTo>
                  <a:pt x="1745492" y="624944"/>
                </a:lnTo>
                <a:lnTo>
                  <a:pt x="258390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414040" y="1458767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503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Technology — Perspective 3: Backend storage &amp;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63933" y="13770530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Application
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79794" y="7433721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Website
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18771" y="1097280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ArchiTrain
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0" y="20107338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Private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70526" y="13770530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Journey &amp; Account
Mgmt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6753" y="13770530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Bank Payment
Service (ext)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54665" y="7433721"/>
            <a:ext cx="8435385" cy="3484181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5214" b="0">
                <a:solidFill>
                  <a:srgbClr val="22262B"/>
                </a:solidFill>
                <a:latin typeface="Arial"/>
              </a:rPr>
              <a:t>Fare Management
System</a:t>
            </a:r>
          </a:p>
        </p:txBody>
      </p:sp>
      <p:sp>
        <p:nvSpPr>
          <p:cNvPr id="9" name="Freeform 8"/>
          <p:cNvSpPr/>
          <p:nvPr/>
        </p:nvSpPr>
        <p:spPr>
          <a:xfrm>
            <a:off x="9530912" y="11309964"/>
            <a:ext cx="2860329" cy="2448096"/>
          </a:xfrm>
          <a:custGeom>
            <a:avLst/>
            <a:gdLst/>
            <a:ahLst/>
            <a:cxnLst/>
            <a:rect l="l" t="t" r="r" b="b"/>
            <a:pathLst>
              <a:path w="2860329" h="2448096">
                <a:moveTo>
                  <a:pt x="2860329" y="2448096"/>
                </a:moveTo>
                <a:lnTo>
                  <a:pt x="1977181" y="1692212"/>
                </a:lnTo>
                <a:lnTo>
                  <a:pt x="929360" y="79512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86475" y="1211561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comp</a:t>
            </a:r>
          </a:p>
        </p:txBody>
      </p:sp>
      <p:sp>
        <p:nvSpPr>
          <p:cNvPr id="11" name="Freeform 10"/>
          <p:cNvSpPr/>
          <p:nvPr/>
        </p:nvSpPr>
        <p:spPr>
          <a:xfrm>
            <a:off x="12378038" y="5160201"/>
            <a:ext cx="1671307" cy="8593091"/>
          </a:xfrm>
          <a:custGeom>
            <a:avLst/>
            <a:gdLst/>
            <a:ahLst/>
            <a:cxnLst/>
            <a:rect l="l" t="t" r="r" b="b"/>
            <a:pathLst>
              <a:path w="1671307" h="8593091">
                <a:moveTo>
                  <a:pt x="1671307" y="8593091"/>
                </a:moveTo>
                <a:lnTo>
                  <a:pt x="1238535" y="6367983"/>
                </a:lnTo>
                <a:lnTo>
                  <a:pt x="480817" y="247156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24917" y="894721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13" name="Freeform 12"/>
          <p:cNvSpPr/>
          <p:nvPr/>
        </p:nvSpPr>
        <p:spPr>
          <a:xfrm>
            <a:off x="8419642" y="5038438"/>
            <a:ext cx="1849550" cy="2382814"/>
          </a:xfrm>
          <a:custGeom>
            <a:avLst/>
            <a:gdLst/>
            <a:ahLst/>
            <a:cxnLst/>
            <a:rect l="l" t="t" r="r" b="b"/>
            <a:pathLst>
              <a:path w="1849550" h="2382814">
                <a:moveTo>
                  <a:pt x="0" y="2382814"/>
                </a:moveTo>
                <a:lnTo>
                  <a:pt x="571039" y="1647468"/>
                </a:lnTo>
                <a:lnTo>
                  <a:pt x="1245136" y="778990"/>
                </a:lnTo>
                <a:lnTo>
                  <a:pt x="184955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80576" y="577917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15" name="Freeform 14"/>
          <p:cNvSpPr/>
          <p:nvPr/>
        </p:nvSpPr>
        <p:spPr>
          <a:xfrm>
            <a:off x="16275186" y="17690050"/>
            <a:ext cx="2141488" cy="2404745"/>
          </a:xfrm>
          <a:custGeom>
            <a:avLst/>
            <a:gdLst/>
            <a:ahLst/>
            <a:cxnLst/>
            <a:rect l="l" t="t" r="r" b="b"/>
            <a:pathLst>
              <a:path w="2141488" h="2404745">
                <a:moveTo>
                  <a:pt x="2141488" y="2404745"/>
                </a:moveTo>
                <a:lnTo>
                  <a:pt x="1480594" y="1662505"/>
                </a:lnTo>
                <a:lnTo>
                  <a:pt x="698670" y="78449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91134" y="1845242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7" name="Freeform 16"/>
          <p:cNvSpPr/>
          <p:nvPr/>
        </p:nvSpPr>
        <p:spPr>
          <a:xfrm>
            <a:off x="21479086" y="17690050"/>
            <a:ext cx="2180731" cy="2404745"/>
          </a:xfrm>
          <a:custGeom>
            <a:avLst/>
            <a:gdLst/>
            <a:ahLst/>
            <a:cxnLst/>
            <a:rect l="l" t="t" r="r" b="b"/>
            <a:pathLst>
              <a:path w="2180731" h="2404745">
                <a:moveTo>
                  <a:pt x="0" y="2404745"/>
                </a:moveTo>
                <a:lnTo>
                  <a:pt x="672997" y="1662505"/>
                </a:lnTo>
                <a:lnTo>
                  <a:pt x="1469224" y="784491"/>
                </a:lnTo>
                <a:lnTo>
                  <a:pt x="2180731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97364" y="18452425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9" name="Freeform 18"/>
          <p:cNvSpPr/>
          <p:nvPr/>
        </p:nvSpPr>
        <p:spPr>
          <a:xfrm>
            <a:off x="27578603" y="11309964"/>
            <a:ext cx="2860330" cy="2448096"/>
          </a:xfrm>
          <a:custGeom>
            <a:avLst/>
            <a:gdLst/>
            <a:ahLst/>
            <a:cxnLst/>
            <a:rect l="l" t="t" r="r" b="b"/>
            <a:pathLst>
              <a:path w="2860330" h="2448096">
                <a:moveTo>
                  <a:pt x="0" y="2448096"/>
                </a:moveTo>
                <a:lnTo>
                  <a:pt x="883149" y="1692212"/>
                </a:lnTo>
                <a:lnTo>
                  <a:pt x="1930970" y="795127"/>
                </a:lnTo>
                <a:lnTo>
                  <a:pt x="286033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91636" y="1211561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21" name="Freeform 20"/>
          <p:cNvSpPr/>
          <p:nvPr/>
        </p:nvSpPr>
        <p:spPr>
          <a:xfrm>
            <a:off x="34251360" y="11418891"/>
            <a:ext cx="1471425" cy="2339169"/>
          </a:xfrm>
          <a:custGeom>
            <a:avLst/>
            <a:gdLst/>
            <a:ahLst/>
            <a:cxnLst/>
            <a:rect l="l" t="t" r="r" b="b"/>
            <a:pathLst>
              <a:path w="1471425" h="2339169">
                <a:moveTo>
                  <a:pt x="1471425" y="2339169"/>
                </a:moveTo>
                <a:lnTo>
                  <a:pt x="1017381" y="1617394"/>
                </a:lnTo>
                <a:lnTo>
                  <a:pt x="482651" y="76762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89431" y="1211561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208">
                <a:solidFill>
                  <a:srgbClr val="6A727C"/>
                </a:solidFill>
                <a:latin typeface="Arial"/>
              </a:rPr>
              <a:t>serving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Technology — Perspective 4: Self-service &amp; settlement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368217" y="5491960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Customer
Support Staff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330020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Operations
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73348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Train
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18679" y="15973496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Malfunction
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78828" y="1097280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Ticketing &amp;
Fare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2173" y="85359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Train Operation &amp;
Tracking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46995" y="85359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Passenger
Information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2695" y="3295160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Handle Journeys
&amp; Fares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77901" y="107327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Localize &amp;
Monitor Trains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18679" y="107327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Handle Delays
&amp; Disruptions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9813" y="5491960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Tap-off Event
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21533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FDF3C4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Delay exceeds
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06216" y="107327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ArchiTrain
Website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23083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Journey &amp; Account
Mgmt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2096" y="10732728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Fare Management
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39841" y="15973496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Access Control
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772572" y="15973496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Operational
Control Center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206216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Passenger
Information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14704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Train Management
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5216" y="18170621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Disruption
Handling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358241" y="18170621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LCCU Control
Software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2096" y="7013404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Fare Calculation
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89242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Train Tracking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480755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Delay Notification
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4354" y="122541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Gate Control
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1462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D7ECF7"/>
          </a:solidFill>
          <a:ln w="15875">
            <a:solidFill>
              <a:srgbClr val="4E9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Bank Payment
Service (ext)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5483" y="18170621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Station
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6790" y="15973496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Journey &amp; Account
Mgmt Backend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297729" y="13776372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Application
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47530" y="20367853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LCCU
(On-board)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266728" y="18170621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Central Railway
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66790" y="20367853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Private 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971261" y="22564977"/>
            <a:ext cx="2485312" cy="1026542"/>
          </a:xfrm>
          <a:prstGeom prst="roundRect">
            <a:avLst>
              <a:gd name="adj" fmla="val 8000"/>
            </a:avLst>
          </a:prstGeom>
          <a:solidFill>
            <a:srgbClr val="C9E7B8"/>
          </a:solidFill>
          <a:ln w="15875">
            <a:solidFill>
              <a:srgbClr val="7FA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>
              <a:lnSpc>
                <a:spcPct val="95000"/>
              </a:lnSpc>
            </a:pPr>
            <a:r>
              <a:rPr sz="1536" b="0">
                <a:solidFill>
                  <a:srgbClr val="22262B"/>
                </a:solidFill>
                <a:latin typeface="Arial"/>
              </a:rPr>
              <a:t>Railway Radio</a:t>
            </a:r>
          </a:p>
        </p:txBody>
      </p:sp>
      <p:sp>
        <p:nvSpPr>
          <p:cNvPr id="35" name="Freeform 34"/>
          <p:cNvSpPr/>
          <p:nvPr/>
        </p:nvSpPr>
        <p:spPr>
          <a:xfrm>
            <a:off x="11824326" y="4476224"/>
            <a:ext cx="525482" cy="1011414"/>
          </a:xfrm>
          <a:custGeom>
            <a:avLst/>
            <a:gdLst/>
            <a:ahLst/>
            <a:cxnLst/>
            <a:rect l="l" t="t" r="r" b="b"/>
            <a:pathLst>
              <a:path w="525482" h="1011414">
                <a:moveTo>
                  <a:pt x="525482" y="1011414"/>
                </a:moveTo>
                <a:lnTo>
                  <a:pt x="369123" y="709935"/>
                </a:lnTo>
                <a:lnTo>
                  <a:pt x="168569" y="32417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72556" y="46776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37" name="Freeform 36"/>
          <p:cNvSpPr/>
          <p:nvPr/>
        </p:nvSpPr>
        <p:spPr>
          <a:xfrm>
            <a:off x="33750834" y="11898664"/>
            <a:ext cx="1434998" cy="1871549"/>
          </a:xfrm>
          <a:custGeom>
            <a:avLst/>
            <a:gdLst/>
            <a:ahLst/>
            <a:cxnLst/>
            <a:rect l="l" t="t" r="r" b="b"/>
            <a:pathLst>
              <a:path w="1434998" h="1871549">
                <a:moveTo>
                  <a:pt x="1434998" y="1871549"/>
                </a:moveTo>
                <a:lnTo>
                  <a:pt x="1040590" y="1357197"/>
                </a:lnTo>
                <a:lnTo>
                  <a:pt x="427906" y="55757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350169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39" name="Freeform 38"/>
          <p:cNvSpPr/>
          <p:nvPr/>
        </p:nvSpPr>
        <p:spPr>
          <a:xfrm>
            <a:off x="33798379" y="14922209"/>
            <a:ext cx="1116230" cy="1046965"/>
          </a:xfrm>
          <a:custGeom>
            <a:avLst/>
            <a:gdLst/>
            <a:ahLst/>
            <a:cxnLst/>
            <a:rect l="l" t="t" r="r" b="b"/>
            <a:pathLst>
              <a:path w="1116230" h="1046965">
                <a:moveTo>
                  <a:pt x="0" y="1046965"/>
                </a:moveTo>
                <a:lnTo>
                  <a:pt x="332816" y="734896"/>
                </a:lnTo>
                <a:lnTo>
                  <a:pt x="762883" y="331519"/>
                </a:lnTo>
                <a:lnTo>
                  <a:pt x="111623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09789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aggr</a:t>
            </a:r>
          </a:p>
        </p:txBody>
      </p:sp>
      <p:sp>
        <p:nvSpPr>
          <p:cNvPr id="41" name="Freeform 40"/>
          <p:cNvSpPr/>
          <p:nvPr/>
        </p:nvSpPr>
        <p:spPr>
          <a:xfrm>
            <a:off x="31512972" y="14922209"/>
            <a:ext cx="1181064" cy="1046965"/>
          </a:xfrm>
          <a:custGeom>
            <a:avLst/>
            <a:gdLst/>
            <a:ahLst/>
            <a:cxnLst/>
            <a:rect l="l" t="t" r="r" b="b"/>
            <a:pathLst>
              <a:path w="1181064" h="1046965">
                <a:moveTo>
                  <a:pt x="1181064" y="1046965"/>
                </a:moveTo>
                <a:lnTo>
                  <a:pt x="828798" y="734896"/>
                </a:lnTo>
                <a:lnTo>
                  <a:pt x="373878" y="33151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634695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aggr</a:t>
            </a:r>
          </a:p>
        </p:txBody>
      </p:sp>
      <p:sp>
        <p:nvSpPr>
          <p:cNvPr id="43" name="Freeform 42"/>
          <p:cNvSpPr/>
          <p:nvPr/>
        </p:nvSpPr>
        <p:spPr>
          <a:xfrm>
            <a:off x="33261336" y="11933242"/>
            <a:ext cx="0" cy="4034203"/>
          </a:xfrm>
          <a:custGeom>
            <a:avLst/>
            <a:gdLst/>
            <a:ahLst/>
            <a:cxnLst/>
            <a:rect l="l" t="t" r="r" b="b"/>
            <a:pathLst>
              <a:path w="0" h="4034203">
                <a:moveTo>
                  <a:pt x="0" y="4034203"/>
                </a:moveTo>
                <a:lnTo>
                  <a:pt x="0" y="3090541"/>
                </a:lnTo>
                <a:lnTo>
                  <a:pt x="0" y="105841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852498" y="140610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45" name="Freeform 44"/>
          <p:cNvSpPr/>
          <p:nvPr/>
        </p:nvSpPr>
        <p:spPr>
          <a:xfrm>
            <a:off x="12003917" y="2248087"/>
            <a:ext cx="1075816" cy="1042751"/>
          </a:xfrm>
          <a:custGeom>
            <a:avLst/>
            <a:gdLst/>
            <a:ahLst/>
            <a:cxnLst/>
            <a:rect l="l" t="t" r="r" b="b"/>
            <a:pathLst>
              <a:path w="1075816" h="1042751">
                <a:moveTo>
                  <a:pt x="0" y="1042751"/>
                </a:moveTo>
                <a:lnTo>
                  <a:pt x="320605" y="731547"/>
                </a:lnTo>
                <a:lnTo>
                  <a:pt x="734572" y="330655"/>
                </a:lnTo>
                <a:lnTo>
                  <a:pt x="1075816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65404" y="24808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47" name="Freeform 46"/>
          <p:cNvSpPr/>
          <p:nvPr/>
        </p:nvSpPr>
        <p:spPr>
          <a:xfrm>
            <a:off x="21189200" y="9702944"/>
            <a:ext cx="759641" cy="1025462"/>
          </a:xfrm>
          <a:custGeom>
            <a:avLst/>
            <a:gdLst/>
            <a:ahLst/>
            <a:cxnLst/>
            <a:rect l="l" t="t" r="r" b="b"/>
            <a:pathLst>
              <a:path w="759641" h="1025462">
                <a:moveTo>
                  <a:pt x="759641" y="1025462"/>
                </a:moveTo>
                <a:lnTo>
                  <a:pt x="532721" y="719661"/>
                </a:lnTo>
                <a:lnTo>
                  <a:pt x="242048" y="327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61311" y="991845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49" name="Freeform 48"/>
          <p:cNvSpPr/>
          <p:nvPr/>
        </p:nvSpPr>
        <p:spPr>
          <a:xfrm>
            <a:off x="30436724" y="9649996"/>
            <a:ext cx="1922335" cy="1075168"/>
          </a:xfrm>
          <a:custGeom>
            <a:avLst/>
            <a:gdLst/>
            <a:ahLst/>
            <a:cxnLst/>
            <a:rect l="l" t="t" r="r" b="b"/>
            <a:pathLst>
              <a:path w="1922335" h="1075168">
                <a:moveTo>
                  <a:pt x="1922335" y="1075168"/>
                </a:moveTo>
                <a:lnTo>
                  <a:pt x="1347472" y="754239"/>
                </a:lnTo>
                <a:lnTo>
                  <a:pt x="600797" y="336058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36646" y="991845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51" name="Freeform 50"/>
          <p:cNvSpPr/>
          <p:nvPr/>
        </p:nvSpPr>
        <p:spPr>
          <a:xfrm>
            <a:off x="6663088" y="4037512"/>
            <a:ext cx="3407688" cy="1446884"/>
          </a:xfrm>
          <a:custGeom>
            <a:avLst/>
            <a:gdLst/>
            <a:ahLst/>
            <a:cxnLst/>
            <a:rect l="l" t="t" r="r" b="b"/>
            <a:pathLst>
              <a:path w="3407688" h="1446884">
                <a:moveTo>
                  <a:pt x="0" y="1446884"/>
                </a:moveTo>
                <a:lnTo>
                  <a:pt x="265713" y="1213481"/>
                </a:lnTo>
                <a:lnTo>
                  <a:pt x="605228" y="950903"/>
                </a:lnTo>
                <a:lnTo>
                  <a:pt x="950146" y="779092"/>
                </a:lnTo>
                <a:lnTo>
                  <a:pt x="1719620" y="395489"/>
                </a:lnTo>
                <a:lnTo>
                  <a:pt x="2651180" y="150200"/>
                </a:lnTo>
                <a:lnTo>
                  <a:pt x="3407688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5750" y="467769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trig</a:t>
            </a:r>
          </a:p>
        </p:txBody>
      </p:sp>
      <p:sp>
        <p:nvSpPr>
          <p:cNvPr id="53" name="Freeform 52"/>
          <p:cNvSpPr/>
          <p:nvPr/>
        </p:nvSpPr>
        <p:spPr>
          <a:xfrm>
            <a:off x="34554779" y="11840313"/>
            <a:ext cx="3347608" cy="1931845"/>
          </a:xfrm>
          <a:custGeom>
            <a:avLst/>
            <a:gdLst/>
            <a:ahLst/>
            <a:cxnLst/>
            <a:rect l="l" t="t" r="r" b="b"/>
            <a:pathLst>
              <a:path w="3347608" h="1931845">
                <a:moveTo>
                  <a:pt x="3347608" y="1931845"/>
                </a:moveTo>
                <a:lnTo>
                  <a:pt x="2690621" y="1507072"/>
                </a:lnTo>
                <a:lnTo>
                  <a:pt x="1710543" y="892552"/>
                </a:lnTo>
                <a:lnTo>
                  <a:pt x="823395" y="413859"/>
                </a:lnTo>
                <a:lnTo>
                  <a:pt x="560816" y="272304"/>
                </a:lnTo>
                <a:lnTo>
                  <a:pt x="274465" y="13074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5064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trig</a:t>
            </a:r>
          </a:p>
        </p:txBody>
      </p:sp>
      <p:sp>
        <p:nvSpPr>
          <p:cNvPr id="55" name="Freeform 54"/>
          <p:cNvSpPr/>
          <p:nvPr/>
        </p:nvSpPr>
        <p:spPr>
          <a:xfrm>
            <a:off x="13300710" y="11838152"/>
            <a:ext cx="3963857" cy="1932061"/>
          </a:xfrm>
          <a:custGeom>
            <a:avLst/>
            <a:gdLst/>
            <a:ahLst/>
            <a:cxnLst/>
            <a:rect l="l" t="t" r="r" b="b"/>
            <a:pathLst>
              <a:path w="3963857" h="1932061">
                <a:moveTo>
                  <a:pt x="0" y="1932061"/>
                </a:moveTo>
                <a:lnTo>
                  <a:pt x="1093970" y="1398799"/>
                </a:lnTo>
                <a:lnTo>
                  <a:pt x="2816291" y="558655"/>
                </a:lnTo>
                <a:lnTo>
                  <a:pt x="3963857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784884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57" name="Freeform 56"/>
          <p:cNvSpPr/>
          <p:nvPr/>
        </p:nvSpPr>
        <p:spPr>
          <a:xfrm>
            <a:off x="10849867" y="11905148"/>
            <a:ext cx="1114393" cy="1865065"/>
          </a:xfrm>
          <a:custGeom>
            <a:avLst/>
            <a:gdLst/>
            <a:ahLst/>
            <a:cxnLst/>
            <a:rect l="l" t="t" r="r" b="b"/>
            <a:pathLst>
              <a:path w="1114393" h="1865065">
                <a:moveTo>
                  <a:pt x="1114393" y="1865065"/>
                </a:moveTo>
                <a:lnTo>
                  <a:pt x="808375" y="1352874"/>
                </a:lnTo>
                <a:lnTo>
                  <a:pt x="333248" y="55757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43617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59" name="Freeform 58"/>
          <p:cNvSpPr/>
          <p:nvPr/>
        </p:nvSpPr>
        <p:spPr>
          <a:xfrm>
            <a:off x="10464752" y="8217160"/>
            <a:ext cx="0" cy="2509085"/>
          </a:xfrm>
          <a:custGeom>
            <a:avLst/>
            <a:gdLst/>
            <a:ahLst/>
            <a:cxnLst/>
            <a:rect l="l" t="t" r="r" b="b"/>
            <a:pathLst>
              <a:path w="0" h="2509085">
                <a:moveTo>
                  <a:pt x="0" y="2509085"/>
                </a:moveTo>
                <a:lnTo>
                  <a:pt x="0" y="1857501"/>
                </a:lnTo>
                <a:lnTo>
                  <a:pt x="0" y="72398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59743" y="991845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61" name="Freeform 60"/>
          <p:cNvSpPr/>
          <p:nvPr/>
        </p:nvSpPr>
        <p:spPr>
          <a:xfrm>
            <a:off x="5382504" y="13453497"/>
            <a:ext cx="582752" cy="2513084"/>
          </a:xfrm>
          <a:custGeom>
            <a:avLst/>
            <a:gdLst/>
            <a:ahLst/>
            <a:cxnLst/>
            <a:rect l="l" t="t" r="r" b="b"/>
            <a:pathLst>
              <a:path w="582752" h="2513084">
                <a:moveTo>
                  <a:pt x="582752" y="2513084"/>
                </a:moveTo>
                <a:lnTo>
                  <a:pt x="431580" y="1860851"/>
                </a:lnTo>
                <a:lnTo>
                  <a:pt x="167921" y="72409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4734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63" name="Freeform 62"/>
          <p:cNvSpPr/>
          <p:nvPr/>
        </p:nvSpPr>
        <p:spPr>
          <a:xfrm>
            <a:off x="19175016" y="14917887"/>
            <a:ext cx="1244818" cy="1051287"/>
          </a:xfrm>
          <a:custGeom>
            <a:avLst/>
            <a:gdLst/>
            <a:ahLst/>
            <a:cxnLst/>
            <a:rect l="l" t="t" r="r" b="b"/>
            <a:pathLst>
              <a:path w="1244818" h="1051287">
                <a:moveTo>
                  <a:pt x="1244818" y="1051287"/>
                </a:moveTo>
                <a:lnTo>
                  <a:pt x="874182" y="737813"/>
                </a:lnTo>
                <a:lnTo>
                  <a:pt x="393328" y="33227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315108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flow</a:t>
            </a:r>
          </a:p>
        </p:txBody>
      </p:sp>
      <p:sp>
        <p:nvSpPr>
          <p:cNvPr id="65" name="Freeform 64"/>
          <p:cNvSpPr/>
          <p:nvPr/>
        </p:nvSpPr>
        <p:spPr>
          <a:xfrm>
            <a:off x="16759941" y="14841814"/>
            <a:ext cx="3007228" cy="1151673"/>
          </a:xfrm>
          <a:custGeom>
            <a:avLst/>
            <a:gdLst/>
            <a:ahLst/>
            <a:cxnLst/>
            <a:rect l="l" t="t" r="r" b="b"/>
            <a:pathLst>
              <a:path w="3007228" h="1151673">
                <a:moveTo>
                  <a:pt x="3007228" y="1151673"/>
                </a:moveTo>
                <a:lnTo>
                  <a:pt x="2117918" y="811185"/>
                </a:lnTo>
                <a:lnTo>
                  <a:pt x="921727" y="35313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861741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flow</a:t>
            </a:r>
          </a:p>
        </p:txBody>
      </p:sp>
      <p:sp>
        <p:nvSpPr>
          <p:cNvPr id="67" name="Freeform 66"/>
          <p:cNvSpPr/>
          <p:nvPr/>
        </p:nvSpPr>
        <p:spPr>
          <a:xfrm>
            <a:off x="21859154" y="14894870"/>
            <a:ext cx="1788344" cy="1071494"/>
          </a:xfrm>
          <a:custGeom>
            <a:avLst/>
            <a:gdLst/>
            <a:ahLst/>
            <a:cxnLst/>
            <a:rect l="l" t="t" r="r" b="b"/>
            <a:pathLst>
              <a:path w="1788344" h="1071494">
                <a:moveTo>
                  <a:pt x="0" y="1071494"/>
                </a:moveTo>
                <a:lnTo>
                  <a:pt x="533802" y="751213"/>
                </a:lnTo>
                <a:lnTo>
                  <a:pt x="1227528" y="335518"/>
                </a:lnTo>
                <a:lnTo>
                  <a:pt x="1788344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27152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69" name="Freeform 68"/>
          <p:cNvSpPr/>
          <p:nvPr/>
        </p:nvSpPr>
        <p:spPr>
          <a:xfrm>
            <a:off x="22265448" y="14759259"/>
            <a:ext cx="4051060" cy="1308679"/>
          </a:xfrm>
          <a:custGeom>
            <a:avLst/>
            <a:gdLst/>
            <a:ahLst/>
            <a:cxnLst/>
            <a:rect l="l" t="t" r="r" b="b"/>
            <a:pathLst>
              <a:path w="4051060" h="1308679">
                <a:moveTo>
                  <a:pt x="0" y="1308679"/>
                </a:moveTo>
                <a:lnTo>
                  <a:pt x="1149728" y="937179"/>
                </a:lnTo>
                <a:lnTo>
                  <a:pt x="2853788" y="386844"/>
                </a:lnTo>
                <a:lnTo>
                  <a:pt x="405106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065297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real</a:t>
            </a:r>
          </a:p>
        </p:txBody>
      </p:sp>
      <p:sp>
        <p:nvSpPr>
          <p:cNvPr id="71" name="Freeform 70"/>
          <p:cNvSpPr/>
          <p:nvPr/>
        </p:nvSpPr>
        <p:spPr>
          <a:xfrm>
            <a:off x="18448873" y="11934323"/>
            <a:ext cx="0" cy="1835890"/>
          </a:xfrm>
          <a:custGeom>
            <a:avLst/>
            <a:gdLst/>
            <a:ahLst/>
            <a:cxnLst/>
            <a:rect l="l" t="t" r="r" b="b"/>
            <a:pathLst>
              <a:path w="0" h="1835890">
                <a:moveTo>
                  <a:pt x="0" y="1835890"/>
                </a:moveTo>
                <a:lnTo>
                  <a:pt x="0" y="1332344"/>
                </a:lnTo>
                <a:lnTo>
                  <a:pt x="0" y="555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955750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flow</a:t>
            </a:r>
          </a:p>
        </p:txBody>
      </p:sp>
      <p:sp>
        <p:nvSpPr>
          <p:cNvPr id="73" name="Freeform 72"/>
          <p:cNvSpPr/>
          <p:nvPr/>
        </p:nvSpPr>
        <p:spPr>
          <a:xfrm>
            <a:off x="16667012" y="17045963"/>
            <a:ext cx="2942394" cy="1139353"/>
          </a:xfrm>
          <a:custGeom>
            <a:avLst/>
            <a:gdLst/>
            <a:ahLst/>
            <a:cxnLst/>
            <a:rect l="l" t="t" r="r" b="b"/>
            <a:pathLst>
              <a:path w="2942394" h="1139353">
                <a:moveTo>
                  <a:pt x="0" y="1139353"/>
                </a:moveTo>
                <a:lnTo>
                  <a:pt x="872020" y="801567"/>
                </a:lnTo>
                <a:lnTo>
                  <a:pt x="2037956" y="350213"/>
                </a:lnTo>
                <a:lnTo>
                  <a:pt x="2942394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907125" y="1735678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aggr</a:t>
            </a:r>
          </a:p>
        </p:txBody>
      </p:sp>
      <p:sp>
        <p:nvSpPr>
          <p:cNvPr id="75" name="Freeform 74"/>
          <p:cNvSpPr/>
          <p:nvPr/>
        </p:nvSpPr>
        <p:spPr>
          <a:xfrm>
            <a:off x="15767977" y="14944361"/>
            <a:ext cx="2236781" cy="3219668"/>
          </a:xfrm>
          <a:custGeom>
            <a:avLst/>
            <a:gdLst/>
            <a:ahLst/>
            <a:cxnLst/>
            <a:rect l="l" t="t" r="r" b="b"/>
            <a:pathLst>
              <a:path w="2236781" h="3219668">
                <a:moveTo>
                  <a:pt x="0" y="3219668"/>
                </a:moveTo>
                <a:lnTo>
                  <a:pt x="554333" y="2422639"/>
                </a:lnTo>
                <a:lnTo>
                  <a:pt x="1629500" y="873749"/>
                </a:lnTo>
                <a:lnTo>
                  <a:pt x="2236781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807104" y="1625816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aggr</a:t>
            </a:r>
          </a:p>
        </p:txBody>
      </p:sp>
      <p:sp>
        <p:nvSpPr>
          <p:cNvPr id="77" name="Freeform 76"/>
          <p:cNvSpPr/>
          <p:nvPr/>
        </p:nvSpPr>
        <p:spPr>
          <a:xfrm>
            <a:off x="14146148" y="14945333"/>
            <a:ext cx="808159" cy="3218048"/>
          </a:xfrm>
          <a:custGeom>
            <a:avLst/>
            <a:gdLst/>
            <a:ahLst/>
            <a:cxnLst/>
            <a:rect l="l" t="t" r="r" b="b"/>
            <a:pathLst>
              <a:path w="808159" h="3218048">
                <a:moveTo>
                  <a:pt x="808159" y="3218048"/>
                </a:moveTo>
                <a:lnTo>
                  <a:pt x="555198" y="2907276"/>
                </a:lnTo>
                <a:lnTo>
                  <a:pt x="267658" y="2486934"/>
                </a:lnTo>
                <a:lnTo>
                  <a:pt x="134423" y="2054705"/>
                </a:lnTo>
                <a:lnTo>
                  <a:pt x="0" y="1618695"/>
                </a:lnTo>
                <a:lnTo>
                  <a:pt x="5511" y="1465794"/>
                </a:lnTo>
                <a:lnTo>
                  <a:pt x="134423" y="1028163"/>
                </a:lnTo>
                <a:lnTo>
                  <a:pt x="243237" y="658608"/>
                </a:lnTo>
                <a:lnTo>
                  <a:pt x="462160" y="293807"/>
                </a:lnTo>
                <a:lnTo>
                  <a:pt x="674168" y="0"/>
                </a:lnTo>
              </a:path>
            </a:pathLst>
          </a:custGeom>
          <a:noFill/>
          <a:ln w="19050">
            <a:solidFill>
              <a:srgbClr val="707A85"/>
            </a:solidFill>
            <a:tailEnd type="diamond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803658" y="1625816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aggr</a:t>
            </a:r>
          </a:p>
        </p:txBody>
      </p:sp>
      <p:sp>
        <p:nvSpPr>
          <p:cNvPr id="79" name="Freeform 78"/>
          <p:cNvSpPr/>
          <p:nvPr/>
        </p:nvSpPr>
        <p:spPr>
          <a:xfrm>
            <a:off x="21196764" y="17172065"/>
            <a:ext cx="267982" cy="994233"/>
          </a:xfrm>
          <a:custGeom>
            <a:avLst/>
            <a:gdLst/>
            <a:ahLst/>
            <a:cxnLst/>
            <a:rect l="l" t="t" r="r" b="b"/>
            <a:pathLst>
              <a:path w="267982" h="994233">
                <a:moveTo>
                  <a:pt x="267982" y="994233"/>
                </a:moveTo>
                <a:lnTo>
                  <a:pt x="188019" y="698481"/>
                </a:lnTo>
                <a:lnTo>
                  <a:pt x="86446" y="32082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832230" y="1735678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flow</a:t>
            </a:r>
          </a:p>
        </p:txBody>
      </p:sp>
      <p:sp>
        <p:nvSpPr>
          <p:cNvPr id="81" name="Freeform 80"/>
          <p:cNvSpPr/>
          <p:nvPr/>
        </p:nvSpPr>
        <p:spPr>
          <a:xfrm>
            <a:off x="10501383" y="4477305"/>
            <a:ext cx="652233" cy="2532857"/>
          </a:xfrm>
          <a:custGeom>
            <a:avLst/>
            <a:gdLst/>
            <a:ahLst/>
            <a:cxnLst/>
            <a:rect l="l" t="t" r="r" b="b"/>
            <a:pathLst>
              <a:path w="652233" h="2532857">
                <a:moveTo>
                  <a:pt x="0" y="2532857"/>
                </a:moveTo>
                <a:lnTo>
                  <a:pt x="38901" y="2120079"/>
                </a:lnTo>
                <a:lnTo>
                  <a:pt x="115621" y="1520363"/>
                </a:lnTo>
                <a:lnTo>
                  <a:pt x="259770" y="1014655"/>
                </a:lnTo>
                <a:lnTo>
                  <a:pt x="358102" y="669953"/>
                </a:lnTo>
                <a:lnTo>
                  <a:pt x="511759" y="302559"/>
                </a:lnTo>
                <a:lnTo>
                  <a:pt x="652233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73109" y="577663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83" name="Freeform 82"/>
          <p:cNvSpPr/>
          <p:nvPr/>
        </p:nvSpPr>
        <p:spPr>
          <a:xfrm>
            <a:off x="22810056" y="11898664"/>
            <a:ext cx="1434998" cy="1871549"/>
          </a:xfrm>
          <a:custGeom>
            <a:avLst/>
            <a:gdLst/>
            <a:ahLst/>
            <a:cxnLst/>
            <a:rect l="l" t="t" r="r" b="b"/>
            <a:pathLst>
              <a:path w="1434998" h="1871549">
                <a:moveTo>
                  <a:pt x="1434998" y="1871549"/>
                </a:moveTo>
                <a:lnTo>
                  <a:pt x="1040590" y="1357197"/>
                </a:lnTo>
                <a:lnTo>
                  <a:pt x="427906" y="55757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330509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85" name="Freeform 84"/>
          <p:cNvSpPr/>
          <p:nvPr/>
        </p:nvSpPr>
        <p:spPr>
          <a:xfrm>
            <a:off x="28650541" y="11844636"/>
            <a:ext cx="3537788" cy="1925577"/>
          </a:xfrm>
          <a:custGeom>
            <a:avLst/>
            <a:gdLst/>
            <a:ahLst/>
            <a:cxnLst/>
            <a:rect l="l" t="t" r="r" b="b"/>
            <a:pathLst>
              <a:path w="3537788" h="1925577">
                <a:moveTo>
                  <a:pt x="0" y="1925577"/>
                </a:moveTo>
                <a:lnTo>
                  <a:pt x="975755" y="1394584"/>
                </a:lnTo>
                <a:lnTo>
                  <a:pt x="2510165" y="559735"/>
                </a:lnTo>
                <a:lnTo>
                  <a:pt x="3537788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824267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87" name="Freeform 86"/>
          <p:cNvSpPr/>
          <p:nvPr/>
        </p:nvSpPr>
        <p:spPr>
          <a:xfrm>
            <a:off x="6473988" y="4193115"/>
            <a:ext cx="3605000" cy="8085910"/>
          </a:xfrm>
          <a:custGeom>
            <a:avLst/>
            <a:gdLst/>
            <a:ahLst/>
            <a:cxnLst/>
            <a:rect l="l" t="t" r="r" b="b"/>
            <a:pathLst>
              <a:path w="3605000" h="8085910">
                <a:moveTo>
                  <a:pt x="0" y="8085910"/>
                </a:moveTo>
                <a:lnTo>
                  <a:pt x="852787" y="7670971"/>
                </a:lnTo>
                <a:lnTo>
                  <a:pt x="1829623" y="6976164"/>
                </a:lnTo>
                <a:lnTo>
                  <a:pt x="1829623" y="5969072"/>
                </a:lnTo>
                <a:lnTo>
                  <a:pt x="1829623" y="5969072"/>
                </a:lnTo>
                <a:lnTo>
                  <a:pt x="1829623" y="5969072"/>
                </a:lnTo>
                <a:lnTo>
                  <a:pt x="1829623" y="1796989"/>
                </a:lnTo>
                <a:lnTo>
                  <a:pt x="1829623" y="875262"/>
                </a:lnTo>
                <a:lnTo>
                  <a:pt x="2753078" y="317687"/>
                </a:lnTo>
                <a:lnTo>
                  <a:pt x="360500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15459" y="8820599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89" name="Freeform 88"/>
          <p:cNvSpPr/>
          <p:nvPr/>
        </p:nvSpPr>
        <p:spPr>
          <a:xfrm>
            <a:off x="9390125" y="11919195"/>
            <a:ext cx="792490" cy="1851018"/>
          </a:xfrm>
          <a:custGeom>
            <a:avLst/>
            <a:gdLst/>
            <a:ahLst/>
            <a:cxnLst/>
            <a:rect l="l" t="t" r="r" b="b"/>
            <a:pathLst>
              <a:path w="792490" h="1851018">
                <a:moveTo>
                  <a:pt x="0" y="1851018"/>
                </a:moveTo>
                <a:lnTo>
                  <a:pt x="217518" y="1343149"/>
                </a:lnTo>
                <a:lnTo>
                  <a:pt x="554116" y="557574"/>
                </a:lnTo>
                <a:lnTo>
                  <a:pt x="79249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stealth" w="med" len="med"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22328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serv</a:t>
            </a:r>
          </a:p>
        </p:txBody>
      </p:sp>
      <p:sp>
        <p:nvSpPr>
          <p:cNvPr id="91" name="Freeform 90"/>
          <p:cNvSpPr/>
          <p:nvPr/>
        </p:nvSpPr>
        <p:spPr>
          <a:xfrm>
            <a:off x="6448595" y="17154452"/>
            <a:ext cx="567516" cy="1011846"/>
          </a:xfrm>
          <a:custGeom>
            <a:avLst/>
            <a:gdLst/>
            <a:ahLst/>
            <a:cxnLst/>
            <a:rect l="l" t="t" r="r" b="b"/>
            <a:pathLst>
              <a:path w="567516" h="1011846">
                <a:moveTo>
                  <a:pt x="567516" y="1011846"/>
                </a:moveTo>
                <a:lnTo>
                  <a:pt x="398623" y="710691"/>
                </a:lnTo>
                <a:lnTo>
                  <a:pt x="181968" y="32449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17356" y="1735678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93" name="Freeform 92"/>
          <p:cNvSpPr/>
          <p:nvPr/>
        </p:nvSpPr>
        <p:spPr>
          <a:xfrm>
            <a:off x="10455999" y="14922209"/>
            <a:ext cx="1138166" cy="1046965"/>
          </a:xfrm>
          <a:custGeom>
            <a:avLst/>
            <a:gdLst/>
            <a:ahLst/>
            <a:cxnLst/>
            <a:rect l="l" t="t" r="r" b="b"/>
            <a:pathLst>
              <a:path w="1138166" h="1046965">
                <a:moveTo>
                  <a:pt x="0" y="1046965"/>
                </a:moveTo>
                <a:lnTo>
                  <a:pt x="339300" y="734896"/>
                </a:lnTo>
                <a:lnTo>
                  <a:pt x="777795" y="331519"/>
                </a:lnTo>
                <a:lnTo>
                  <a:pt x="1138166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748884" y="15159551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95" name="Freeform 94"/>
          <p:cNvSpPr/>
          <p:nvPr/>
        </p:nvSpPr>
        <p:spPr>
          <a:xfrm>
            <a:off x="6943280" y="11846797"/>
            <a:ext cx="2269307" cy="4196072"/>
          </a:xfrm>
          <a:custGeom>
            <a:avLst/>
            <a:gdLst/>
            <a:ahLst/>
            <a:cxnLst/>
            <a:rect l="l" t="t" r="r" b="b"/>
            <a:pathLst>
              <a:path w="2269307" h="4196072">
                <a:moveTo>
                  <a:pt x="1722538" y="4196072"/>
                </a:moveTo>
                <a:lnTo>
                  <a:pt x="1158804" y="3932196"/>
                </a:lnTo>
                <a:lnTo>
                  <a:pt x="547093" y="3531845"/>
                </a:lnTo>
                <a:lnTo>
                  <a:pt x="223462" y="2956117"/>
                </a:lnTo>
                <a:lnTo>
                  <a:pt x="0" y="2558359"/>
                </a:lnTo>
                <a:lnTo>
                  <a:pt x="21071" y="2338463"/>
                </a:lnTo>
                <a:lnTo>
                  <a:pt x="223462" y="1929575"/>
                </a:lnTo>
                <a:lnTo>
                  <a:pt x="649531" y="1068900"/>
                </a:lnTo>
                <a:lnTo>
                  <a:pt x="1526631" y="422503"/>
                </a:lnTo>
                <a:lnTo>
                  <a:pt x="2269307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57472" y="140610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97" name="Freeform 96"/>
          <p:cNvSpPr/>
          <p:nvPr/>
        </p:nvSpPr>
        <p:spPr>
          <a:xfrm>
            <a:off x="19081007" y="11877053"/>
            <a:ext cx="1941785" cy="1893160"/>
          </a:xfrm>
          <a:custGeom>
            <a:avLst/>
            <a:gdLst/>
            <a:ahLst/>
            <a:cxnLst/>
            <a:rect l="l" t="t" r="r" b="b"/>
            <a:pathLst>
              <a:path w="1941785" h="1893160">
                <a:moveTo>
                  <a:pt x="1941785" y="1893160"/>
                </a:moveTo>
                <a:lnTo>
                  <a:pt x="1407983" y="1372216"/>
                </a:lnTo>
                <a:lnTo>
                  <a:pt x="573783" y="55865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043413" y="1253884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99" name="Freeform 98"/>
          <p:cNvSpPr/>
          <p:nvPr/>
        </p:nvSpPr>
        <p:spPr>
          <a:xfrm>
            <a:off x="21438812" y="19373728"/>
            <a:ext cx="96171" cy="989695"/>
          </a:xfrm>
          <a:custGeom>
            <a:avLst/>
            <a:gdLst/>
            <a:ahLst/>
            <a:cxnLst/>
            <a:rect l="l" t="t" r="r" b="b"/>
            <a:pathLst>
              <a:path w="96171" h="989695">
                <a:moveTo>
                  <a:pt x="0" y="989695"/>
                </a:moveTo>
                <a:lnTo>
                  <a:pt x="29175" y="695347"/>
                </a:lnTo>
                <a:lnTo>
                  <a:pt x="65915" y="319849"/>
                </a:lnTo>
                <a:lnTo>
                  <a:pt x="96171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092647" y="195539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19090732" y="17115119"/>
            <a:ext cx="1215642" cy="1051179"/>
          </a:xfrm>
          <a:custGeom>
            <a:avLst/>
            <a:gdLst/>
            <a:ahLst/>
            <a:cxnLst/>
            <a:rect l="l" t="t" r="r" b="b"/>
            <a:pathLst>
              <a:path w="1215642" h="1051179">
                <a:moveTo>
                  <a:pt x="0" y="1051179"/>
                </a:moveTo>
                <a:lnTo>
                  <a:pt x="361991" y="737706"/>
                </a:lnTo>
                <a:lnTo>
                  <a:pt x="830959" y="332276"/>
                </a:lnTo>
                <a:lnTo>
                  <a:pt x="1215642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427488" y="17356783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18458598" y="14977102"/>
            <a:ext cx="43223" cy="3186927"/>
          </a:xfrm>
          <a:custGeom>
            <a:avLst/>
            <a:gdLst/>
            <a:ahLst/>
            <a:cxnLst/>
            <a:rect l="l" t="t" r="r" b="b"/>
            <a:pathLst>
              <a:path w="43223" h="3186927">
                <a:moveTo>
                  <a:pt x="43223" y="3186927"/>
                </a:moveTo>
                <a:lnTo>
                  <a:pt x="32417" y="2399731"/>
                </a:lnTo>
                <a:lnTo>
                  <a:pt x="11886" y="87926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8076774" y="1625816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15342232" y="14978615"/>
            <a:ext cx="2725199" cy="3185090"/>
          </a:xfrm>
          <a:custGeom>
            <a:avLst/>
            <a:gdLst/>
            <a:ahLst/>
            <a:cxnLst/>
            <a:rect l="l" t="t" r="r" b="b"/>
            <a:pathLst>
              <a:path w="2725199" h="3185090">
                <a:moveTo>
                  <a:pt x="2725199" y="3185090"/>
                </a:moveTo>
                <a:lnTo>
                  <a:pt x="2505843" y="2957414"/>
                </a:lnTo>
                <a:lnTo>
                  <a:pt x="2225976" y="2699373"/>
                </a:lnTo>
                <a:lnTo>
                  <a:pt x="1936383" y="2516649"/>
                </a:lnTo>
                <a:lnTo>
                  <a:pt x="1412306" y="2186426"/>
                </a:lnTo>
                <a:lnTo>
                  <a:pt x="1040590" y="2488230"/>
                </a:lnTo>
                <a:lnTo>
                  <a:pt x="634295" y="2021423"/>
                </a:lnTo>
                <a:lnTo>
                  <a:pt x="148038" y="1462876"/>
                </a:lnTo>
                <a:lnTo>
                  <a:pt x="22692" y="59863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566609" y="16258167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assign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8037142" y="19312243"/>
            <a:ext cx="1266645" cy="1051180"/>
          </a:xfrm>
          <a:custGeom>
            <a:avLst/>
            <a:gdLst/>
            <a:ahLst/>
            <a:cxnLst/>
            <a:rect l="l" t="t" r="r" b="b"/>
            <a:pathLst>
              <a:path w="1266645" h="1051180">
                <a:moveTo>
                  <a:pt x="1266645" y="1051180"/>
                </a:moveTo>
                <a:lnTo>
                  <a:pt x="888985" y="737814"/>
                </a:lnTo>
                <a:lnTo>
                  <a:pt x="400351" y="33227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50281" y="195539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09" name="Freeform 108"/>
          <p:cNvSpPr/>
          <p:nvPr/>
        </p:nvSpPr>
        <p:spPr>
          <a:xfrm>
            <a:off x="9909447" y="17174334"/>
            <a:ext cx="0" cy="3186819"/>
          </a:xfrm>
          <a:custGeom>
            <a:avLst/>
            <a:gdLst/>
            <a:ahLst/>
            <a:cxnLst/>
            <a:rect l="l" t="t" r="r" b="b"/>
            <a:pathLst>
              <a:path w="0" h="3186819">
                <a:moveTo>
                  <a:pt x="0" y="3186819"/>
                </a:moveTo>
                <a:lnTo>
                  <a:pt x="0" y="2399624"/>
                </a:lnTo>
                <a:lnTo>
                  <a:pt x="0" y="87915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77593" y="1845529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11159451" y="19158910"/>
            <a:ext cx="5938708" cy="1442887"/>
          </a:xfrm>
          <a:custGeom>
            <a:avLst/>
            <a:gdLst/>
            <a:ahLst/>
            <a:cxnLst/>
            <a:rect l="l" t="t" r="r" b="b"/>
            <a:pathLst>
              <a:path w="5938708" h="1442887">
                <a:moveTo>
                  <a:pt x="0" y="1442887"/>
                </a:moveTo>
                <a:lnTo>
                  <a:pt x="1415980" y="1136329"/>
                </a:lnTo>
                <a:lnTo>
                  <a:pt x="3788373" y="600474"/>
                </a:lnTo>
                <a:lnTo>
                  <a:pt x="5803637" y="38253"/>
                </a:lnTo>
                <a:lnTo>
                  <a:pt x="5847940" y="25934"/>
                </a:lnTo>
                <a:lnTo>
                  <a:pt x="5893324" y="13075"/>
                </a:lnTo>
                <a:lnTo>
                  <a:pt x="5938708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4605981" y="195539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19719624" y="21518120"/>
            <a:ext cx="1045992" cy="1042492"/>
          </a:xfrm>
          <a:custGeom>
            <a:avLst/>
            <a:gdLst/>
            <a:ahLst/>
            <a:cxnLst/>
            <a:rect l="l" t="t" r="r" b="b"/>
            <a:pathLst>
              <a:path w="1045992" h="1042492">
                <a:moveTo>
                  <a:pt x="0" y="1042492"/>
                </a:moveTo>
                <a:lnTo>
                  <a:pt x="311204" y="731763"/>
                </a:lnTo>
                <a:lnTo>
                  <a:pt x="714257" y="330655"/>
                </a:lnTo>
                <a:lnTo>
                  <a:pt x="1045992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935356" y="2175103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18616361" y="19365948"/>
            <a:ext cx="516513" cy="3192384"/>
          </a:xfrm>
          <a:custGeom>
            <a:avLst/>
            <a:gdLst/>
            <a:ahLst/>
            <a:cxnLst/>
            <a:rect l="l" t="t" r="r" b="b"/>
            <a:pathLst>
              <a:path w="516513" h="3192384">
                <a:moveTo>
                  <a:pt x="516513" y="3192384"/>
                </a:moveTo>
                <a:lnTo>
                  <a:pt x="389006" y="2403513"/>
                </a:lnTo>
                <a:lnTo>
                  <a:pt x="142636" y="87839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511164" y="2065252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45">
                <a:solidFill>
                  <a:srgbClr val="6A727C"/>
                </a:solidFill>
                <a:latin typeface="Arial"/>
              </a:rPr>
              <a:t>assoc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365760"/>
            <a:ext cx="1828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B0B8C2"/>
                </a:solidFill>
                <a:latin typeface="Arial"/>
              </a:rPr>
              <a:t>Abstract model — whole 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